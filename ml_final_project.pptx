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39891B-DBC0-4DAB-9BA9-325B1C9457D1}">
  <a:tblStyle styleId="{0139891B-DBC0-4DAB-9BA9-325B1C9457D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5df6356a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5df6356a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5df6356a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5df6356a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5df6356a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5df6356a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5df6356a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5df6356a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5df6356a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5df6356a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5df6356a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5df6356a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5df6356a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5df6356a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zh-TW" sz="1900">
                <a:solidFill>
                  <a:schemeClr val="dk1"/>
                </a:solidFill>
              </a:rPr>
              <a:t>Combine features in all of the tables</a:t>
            </a:r>
            <a:endParaRPr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sz="1900">
                <a:solidFill>
                  <a:schemeClr val="dk1"/>
                </a:solidFill>
              </a:rPr>
              <a:t>Adding magic features</a:t>
            </a:r>
            <a:endParaRPr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sz="1900">
                <a:solidFill>
                  <a:schemeClr val="dk1"/>
                </a:solidFill>
              </a:rPr>
              <a:t>Stratified K-Fold</a:t>
            </a:r>
            <a:endParaRPr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sz="1900">
                <a:solidFill>
                  <a:schemeClr val="dk1"/>
                </a:solidFill>
              </a:rPr>
              <a:t>Dimension Reduction (Top 99% cumulated importance)</a:t>
            </a:r>
            <a:endParaRPr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sz="1900">
                <a:solidFill>
                  <a:schemeClr val="dk1"/>
                </a:solidFill>
              </a:rPr>
              <a:t>Second round: 3 models (LightGBM, xgboost, catboost)</a:t>
            </a:r>
            <a:endParaRPr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sz="1900">
                <a:solidFill>
                  <a:schemeClr val="dk1"/>
                </a:solidFill>
              </a:rPr>
              <a:t>Blending models (Optuna)</a:t>
            </a:r>
            <a:endParaRPr sz="19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zh-TW" sz="1900">
                <a:solidFill>
                  <a:schemeClr val="dk1"/>
                </a:solidFill>
              </a:rPr>
              <a:t>Evaluation: ROC curve (AUC),same as Home Credit Default Risk competition. In addition, performing PR curve since the labels in original dataset are extremely imbalanced.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5df6356af_5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5df6356af_5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5df6356af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5df6356af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zh-TW" sz="1400">
                <a:solidFill>
                  <a:srgbClr val="595959"/>
                </a:solidFill>
              </a:rPr>
              <a:t>核心數據：這是最主要的檔案。每一行代表一個貸款申請案。</a:t>
            </a:r>
            <a:br>
              <a:rPr lang="zh-TW" sz="1400">
                <a:solidFill>
                  <a:srgbClr val="595959"/>
                </a:solidFill>
              </a:rPr>
            </a:br>
            <a:r>
              <a:rPr lang="zh-TW" sz="1400">
                <a:solidFill>
                  <a:srgbClr val="595959"/>
                </a:solidFill>
              </a:rPr>
              <a:t>目標變數 (TARGET)：1 代表違約（有還款困難），0 代表正常按時還款。</a:t>
            </a:r>
            <a:br>
              <a:rPr lang="zh-TW" sz="1400">
                <a:solidFill>
                  <a:srgbClr val="595959"/>
                </a:solidFill>
              </a:rPr>
            </a:br>
            <a:r>
              <a:rPr lang="zh-TW" sz="1400">
                <a:solidFill>
                  <a:srgbClr val="595959"/>
                </a:solidFill>
              </a:rPr>
              <a:t>內容：申請人的基本資料（年齡、性別、職業、收入）、貸款行為（貸款金額、年金）以及外部評分。</a:t>
            </a:r>
            <a:endParaRPr sz="1400">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rPr lang="zh-TW" sz="1400">
                <a:solidFill>
                  <a:schemeClr val="dk1"/>
                </a:solidFill>
              </a:rPr>
              <a:t>包含申請人在其他金融機構過往的信用紀錄（來自信用局 Credit Bureau）</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zh-TW" sz="1400">
                <a:solidFill>
                  <a:schemeClr val="dk1"/>
                </a:solidFill>
              </a:rPr>
              <a:t>申請人過去在 Home Credit 的所有貸款申請歷史（不論最後是核准還是拒絕）。</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zh-TW" sz="1400">
                <a:solidFill>
                  <a:schemeClr val="dk1"/>
                </a:solidFill>
              </a:rPr>
              <a:t>過去貸款的每月通話費或銷售點（POS）現金餘額快照。</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zh-TW" sz="1400">
                <a:solidFill>
                  <a:schemeClr val="dk1"/>
                </a:solidFill>
              </a:rPr>
              <a:t>申請人過去在 Home Credit 持有的信用卡月度明細。</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zh-TW" sz="1400">
                <a:solidFill>
                  <a:schemeClr val="dk1"/>
                </a:solidFill>
              </a:rPr>
              <a:t>過去貸款的實際還款紀錄（可以看出有沒有遲到、少給錢）。</a:t>
            </a:r>
            <a:endParaRPr sz="14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5df6356af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5df6356a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5df6356a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5df6356a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5df6356af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e5df6356af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5df6356af_5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5df6356af_5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5df6356af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e5df6356af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5df6356af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e5df6356af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zh-TW" sz="1300">
                <a:solidFill>
                  <a:schemeClr val="dk1"/>
                </a:solidFill>
              </a:rPr>
              <a:t>金融邏輯：還款速率（相當於借款期數的倒數）。當這個比值越高，代表還款期數越短，每一期的還款壓力就越大。</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5df6356af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e5df6356af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zh-TW" sz="1300">
                <a:solidFill>
                  <a:schemeClr val="dk1"/>
                </a:solidFill>
              </a:rPr>
              <a:t>衡量頭期款比例（Down Payment Ratio）。如果核貸金額大於商品價格（差額為正，比率 $&gt;1$），代表這筆貸款包含了其他消費性支出（信用套現）；若核貸金額低於商品價格，代表申請人自己出了一部分頭期款。願意出頭期款的客戶，違約意願通常顯著較低</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5df6356af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e5df6356af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zh-TW" sz="1300">
                <a:solidFill>
                  <a:schemeClr val="dk1"/>
                </a:solidFill>
              </a:rPr>
              <a:t>在銀行眼裡，一個本來好好的客戶，如果近半年突然連續把信用卡額度用到極限，往往是失業、經商失敗、或財務即將崩潰的前兆（即將破產）。樹狀模型非常喜歡這個特徵，因為刷爆卡的瞬間，往往就是違約風險飆高的起點。</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df6356af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5df6356af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zh-TW" sz="1300">
                <a:solidFill>
                  <a:schemeClr val="dk1"/>
                </a:solidFill>
              </a:rPr>
              <a:t>如果這個平均值很大（例如高達 20 幾期）：代表這客戶在過去半年內，身上背滿了剛借不久、而且需要還很久的中長期債務。他的財務黏滯性極高，未來兩三年內每個月都必須雷打不動地掏出錢來還債，只要未來稍微遇到一點景氣風吹草動，違約機率就會大幅大增</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5df6356af_3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5df6356af_3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5df6356a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5df6356a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model, score, score_reduction</a:t>
            </a:r>
            <a:endParaRPr/>
          </a:p>
          <a:p>
            <a:pPr indent="0" lvl="0" marL="0" rtl="0" algn="l">
              <a:spcBef>
                <a:spcPts val="0"/>
              </a:spcBef>
              <a:spcAft>
                <a:spcPts val="0"/>
              </a:spcAft>
              <a:buNone/>
            </a:pPr>
            <a:r>
              <a:rPr lang="zh-TW"/>
              <a:t>baseline, 0.75943,</a:t>
            </a:r>
            <a:endParaRPr/>
          </a:p>
          <a:p>
            <a:pPr indent="0" lvl="0" marL="0" rtl="0" algn="l">
              <a:spcBef>
                <a:spcPts val="0"/>
              </a:spcBef>
              <a:spcAft>
                <a:spcPts val="0"/>
              </a:spcAft>
              <a:buNone/>
            </a:pPr>
            <a:r>
              <a:rPr lang="zh-TW"/>
              <a:t>bureau, 0.76602, 0.76844</a:t>
            </a:r>
            <a:endParaRPr/>
          </a:p>
          <a:p>
            <a:pPr indent="0" lvl="0" marL="0" rtl="0" algn="l">
              <a:spcBef>
                <a:spcPts val="0"/>
              </a:spcBef>
              <a:spcAft>
                <a:spcPts val="0"/>
              </a:spcAft>
              <a:buNone/>
            </a:pPr>
            <a:r>
              <a:rPr lang="zh-TW"/>
              <a:t>bu+prev, 0.77540, 0.7764</a:t>
            </a:r>
            <a:endParaRPr/>
          </a:p>
          <a:p>
            <a:pPr indent="0" lvl="0" marL="0" rtl="0" algn="l">
              <a:spcBef>
                <a:spcPts val="0"/>
              </a:spcBef>
              <a:spcAft>
                <a:spcPts val="0"/>
              </a:spcAft>
              <a:buNone/>
            </a:pPr>
            <a:r>
              <a:rPr lang="zh-TW"/>
              <a:t>bu+prev_magic, 0.78415, 0.78439</a:t>
            </a:r>
            <a:endParaRPr/>
          </a:p>
          <a:p>
            <a:pPr indent="0" lvl="0" marL="0" rtl="0" algn="l">
              <a:spcBef>
                <a:spcPts val="0"/>
              </a:spcBef>
              <a:spcAft>
                <a:spcPts val="0"/>
              </a:spcAft>
              <a:buNone/>
            </a:pPr>
            <a:r>
              <a:rPr lang="zh-TW"/>
              <a:t>bu+prev+install+credit, 0.78581, 0.78580</a:t>
            </a:r>
            <a:endParaRPr/>
          </a:p>
          <a:p>
            <a:pPr indent="0" lvl="0" marL="0" rtl="0" algn="l">
              <a:spcBef>
                <a:spcPts val="0"/>
              </a:spcBef>
              <a:spcAft>
                <a:spcPts val="0"/>
              </a:spcAft>
              <a:buNone/>
            </a:pPr>
            <a:r>
              <a:rPr lang="zh-TW"/>
              <a:t>bu+prev+install+credit+3model, 0.78480, 0.79010</a:t>
            </a:r>
            <a:endParaRPr/>
          </a:p>
          <a:p>
            <a:pPr indent="0" lvl="0" marL="0" rtl="0" algn="l">
              <a:spcBef>
                <a:spcPts val="0"/>
              </a:spcBef>
              <a:spcAft>
                <a:spcPts val="0"/>
              </a:spcAft>
              <a:buNone/>
            </a:pPr>
            <a:r>
              <a:rPr lang="zh-TW"/>
              <a:t>bu+prev+install+credit+3model+timewindow, 0.78590, 0.79171</a:t>
            </a:r>
            <a:endParaRPr/>
          </a:p>
          <a:p>
            <a:pPr indent="0" lvl="0" marL="0" rtl="0" algn="l">
              <a:spcBef>
                <a:spcPts val="0"/>
              </a:spcBef>
              <a:spcAft>
                <a:spcPts val="0"/>
              </a:spcAft>
              <a:buNone/>
            </a:pPr>
            <a:r>
              <a:rPr lang="zh-TW"/>
              <a:t>bu+prev+install+credit+3model+timewindow+stacking, 0.78590, 0.79147</a:t>
            </a:r>
            <a:endParaRPr/>
          </a:p>
          <a:p>
            <a:pPr indent="457200" lvl="0" marL="0" rtl="0" algn="l">
              <a:spcBef>
                <a:spcPts val="0"/>
              </a:spcBef>
              <a:spcAft>
                <a:spcPts val="0"/>
              </a:spcAft>
              <a:buNone/>
            </a:pPr>
            <a:r>
              <a:rPr lang="zh-TW"/>
              <a:t>(skip) bu+prev+install+credit+3model+timewindow+off, 0.78537, 0.79158</a:t>
            </a:r>
            <a:endParaRPr/>
          </a:p>
          <a:p>
            <a:pPr indent="0" lvl="0" marL="0" rtl="0" algn="l">
              <a:spcBef>
                <a:spcPts val="0"/>
              </a:spcBef>
              <a:spcAft>
                <a:spcPts val="0"/>
              </a:spcAft>
              <a:buNone/>
            </a:pPr>
            <a:r>
              <a:rPr lang="zh-TW"/>
              <a:t>bu+prev+install+credit+3model+timewindow+pos+bubalance, 0.78747, 0.79313</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df6356a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e5df6356a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5df6356a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e5df6356a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5df6356a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e5df6356a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zh-TW" sz="4400"/>
              <a:t>Early Warning System for Defaults</a:t>
            </a:r>
            <a:r>
              <a:rPr lang="zh-TW" sz="1100"/>
              <a:t>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lnSpc>
                <a:spcPct val="115000"/>
              </a:lnSpc>
              <a:spcBef>
                <a:spcPts val="800"/>
              </a:spcBef>
              <a:spcAft>
                <a:spcPts val="0"/>
              </a:spcAft>
              <a:buClr>
                <a:schemeClr val="dk1"/>
              </a:buClr>
              <a:buSzPts val="1100"/>
              <a:buFont typeface="Arial"/>
              <a:buNone/>
            </a:pPr>
            <a:r>
              <a:rPr lang="zh-TW" sz="2000">
                <a:solidFill>
                  <a:schemeClr val="dk1"/>
                </a:solidFill>
              </a:rPr>
              <a:t>Group H</a:t>
            </a:r>
            <a:endParaRPr sz="2000">
              <a:solidFill>
                <a:schemeClr val="dk1"/>
              </a:solidFill>
            </a:endParaRPr>
          </a:p>
          <a:p>
            <a:pPr indent="0" lvl="0" marL="0" rtl="0" algn="ctr">
              <a:lnSpc>
                <a:spcPct val="115000"/>
              </a:lnSpc>
              <a:spcBef>
                <a:spcPts val="800"/>
              </a:spcBef>
              <a:spcAft>
                <a:spcPts val="0"/>
              </a:spcAft>
              <a:buClr>
                <a:schemeClr val="dk1"/>
              </a:buClr>
              <a:buSzPts val="1100"/>
              <a:buFont typeface="Arial"/>
              <a:buNone/>
            </a:pPr>
            <a:r>
              <a:rPr lang="zh-TW" sz="2000">
                <a:solidFill>
                  <a:srgbClr val="898989"/>
                </a:solidFill>
              </a:rPr>
              <a:t>呂辰祐412410075</a:t>
            </a:r>
            <a:endParaRPr sz="2000">
              <a:solidFill>
                <a:srgbClr val="898989"/>
              </a:solidFill>
            </a:endParaRPr>
          </a:p>
          <a:p>
            <a:pPr indent="0" lvl="0" marL="0" rtl="0" algn="ctr">
              <a:lnSpc>
                <a:spcPct val="115000"/>
              </a:lnSpc>
              <a:spcBef>
                <a:spcPts val="800"/>
              </a:spcBef>
              <a:spcAft>
                <a:spcPts val="0"/>
              </a:spcAft>
              <a:buClr>
                <a:schemeClr val="dk1"/>
              </a:buClr>
              <a:buSzPts val="1100"/>
              <a:buFont typeface="Arial"/>
              <a:buNone/>
            </a:pPr>
            <a:r>
              <a:rPr lang="zh-TW" sz="2000">
                <a:solidFill>
                  <a:srgbClr val="898989"/>
                </a:solidFill>
              </a:rPr>
              <a:t>易威丞410410090</a:t>
            </a:r>
            <a:endParaRPr sz="2000">
              <a:solidFill>
                <a:srgbClr val="898989"/>
              </a:solidFill>
            </a:endParaRPr>
          </a:p>
          <a:p>
            <a:pPr indent="0" lvl="0" marL="0" rtl="0" algn="ctr">
              <a:spcBef>
                <a:spcPts val="0"/>
              </a:spcBef>
              <a:spcAft>
                <a:spcPts val="0"/>
              </a:spcAft>
              <a:buNone/>
            </a:pPr>
            <a:r>
              <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sz="4400"/>
              <a:t>Dataset</a:t>
            </a:r>
            <a:r>
              <a:rPr lang="zh-TW" sz="1100"/>
              <a:t>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7500" lnSpcReduction="10000"/>
          </a:bodyPr>
          <a:lstStyle/>
          <a:p>
            <a:pPr indent="0" lvl="0" marL="0" rtl="0" algn="l">
              <a:spcBef>
                <a:spcPts val="700"/>
              </a:spcBef>
              <a:spcAft>
                <a:spcPts val="0"/>
              </a:spcAft>
              <a:buClr>
                <a:schemeClr val="dk1"/>
              </a:buClr>
              <a:buSzPct val="36667"/>
              <a:buFont typeface="Arial"/>
              <a:buNone/>
            </a:pPr>
            <a:r>
              <a:rPr lang="zh-TW" sz="3000">
                <a:solidFill>
                  <a:schemeClr val="dk1"/>
                </a:solidFill>
              </a:rPr>
              <a:t>•</a:t>
            </a:r>
            <a:r>
              <a:rPr b="1" lang="zh-TW" sz="3000">
                <a:solidFill>
                  <a:schemeClr val="dk1"/>
                </a:solidFill>
              </a:rPr>
              <a:t>Dataset: Home Credit Default Risk (Kaggle)</a:t>
            </a:r>
            <a:endParaRPr b="1" sz="3000">
              <a:solidFill>
                <a:schemeClr val="dk1"/>
              </a:solidFill>
            </a:endParaRPr>
          </a:p>
          <a:p>
            <a:pPr indent="0" lvl="0" marL="0" rtl="0" algn="l">
              <a:spcBef>
                <a:spcPts val="700"/>
              </a:spcBef>
              <a:spcAft>
                <a:spcPts val="0"/>
              </a:spcAft>
              <a:buClr>
                <a:schemeClr val="dk1"/>
              </a:buClr>
              <a:buSzPct val="36667"/>
              <a:buFont typeface="Arial"/>
              <a:buNone/>
            </a:pPr>
            <a:r>
              <a:rPr lang="zh-TW" sz="3000">
                <a:solidFill>
                  <a:schemeClr val="dk1"/>
                </a:solidFill>
              </a:rPr>
              <a:t>•</a:t>
            </a:r>
            <a:r>
              <a:rPr b="1" lang="zh-TW" sz="3000">
                <a:solidFill>
                  <a:schemeClr val="dk1"/>
                </a:solidFill>
              </a:rPr>
              <a:t>Multi-table structure (7 tables)</a:t>
            </a:r>
            <a:endParaRPr b="1" sz="3000">
              <a:solidFill>
                <a:schemeClr val="dk1"/>
              </a:solidFill>
            </a:endParaRPr>
          </a:p>
          <a:p>
            <a:pPr indent="0" lvl="0" marL="12700" rtl="0" algn="l">
              <a:spcBef>
                <a:spcPts val="600"/>
              </a:spcBef>
              <a:spcAft>
                <a:spcPts val="0"/>
              </a:spcAft>
              <a:buClr>
                <a:schemeClr val="dk1"/>
              </a:buClr>
              <a:buSzPct val="42308"/>
              <a:buFont typeface="Arial"/>
              <a:buNone/>
            </a:pPr>
            <a:r>
              <a:rPr lang="zh-TW" sz="2600">
                <a:solidFill>
                  <a:schemeClr val="dk1"/>
                </a:solidFill>
              </a:rPr>
              <a:t>–application, bureau, credit_card_balance, etc.</a:t>
            </a:r>
            <a:endParaRPr sz="2600">
              <a:solidFill>
                <a:schemeClr val="dk1"/>
              </a:solidFill>
            </a:endParaRPr>
          </a:p>
          <a:p>
            <a:pPr indent="0" lvl="0" marL="0" rtl="0" algn="l">
              <a:spcBef>
                <a:spcPts val="700"/>
              </a:spcBef>
              <a:spcAft>
                <a:spcPts val="0"/>
              </a:spcAft>
              <a:buClr>
                <a:schemeClr val="dk1"/>
              </a:buClr>
              <a:buSzPct val="36667"/>
              <a:buFont typeface="Arial"/>
              <a:buNone/>
            </a:pPr>
            <a:r>
              <a:rPr lang="zh-TW" sz="3000">
                <a:solidFill>
                  <a:schemeClr val="dk1"/>
                </a:solidFill>
              </a:rPr>
              <a:t>•</a:t>
            </a:r>
            <a:r>
              <a:rPr b="1" lang="zh-TW" sz="3000">
                <a:solidFill>
                  <a:schemeClr val="dk1"/>
                </a:solidFill>
              </a:rPr>
              <a:t>Preprocessing</a:t>
            </a:r>
            <a:endParaRPr b="1" sz="3000">
              <a:solidFill>
                <a:schemeClr val="dk1"/>
              </a:solidFill>
            </a:endParaRPr>
          </a:p>
          <a:p>
            <a:pPr indent="0" lvl="0" marL="12700" rtl="0" algn="l">
              <a:spcBef>
                <a:spcPts val="600"/>
              </a:spcBef>
              <a:spcAft>
                <a:spcPts val="0"/>
              </a:spcAft>
              <a:buClr>
                <a:schemeClr val="dk1"/>
              </a:buClr>
              <a:buSzPct val="42308"/>
              <a:buFont typeface="Arial"/>
              <a:buNone/>
            </a:pPr>
            <a:r>
              <a:rPr lang="zh-TW" sz="2600">
                <a:solidFill>
                  <a:schemeClr val="dk1"/>
                </a:solidFill>
              </a:rPr>
              <a:t>–Multi-table join via </a:t>
            </a:r>
            <a:r>
              <a:rPr b="1" lang="zh-TW" sz="2600">
                <a:solidFill>
                  <a:schemeClr val="dk1"/>
                </a:solidFill>
              </a:rPr>
              <a:t>SK_ID_CURR</a:t>
            </a:r>
            <a:endParaRPr b="1" sz="2600">
              <a:solidFill>
                <a:schemeClr val="dk1"/>
              </a:solidFill>
            </a:endParaRPr>
          </a:p>
          <a:p>
            <a:pPr indent="0" lvl="0" marL="12700" rtl="0" algn="l">
              <a:spcBef>
                <a:spcPts val="600"/>
              </a:spcBef>
              <a:spcAft>
                <a:spcPts val="0"/>
              </a:spcAft>
              <a:buClr>
                <a:schemeClr val="dk1"/>
              </a:buClr>
              <a:buSzPct val="42308"/>
              <a:buFont typeface="Arial"/>
              <a:buNone/>
            </a:pPr>
            <a:r>
              <a:rPr lang="zh-TW" sz="2600">
                <a:solidFill>
                  <a:schemeClr val="dk1"/>
                </a:solidFill>
              </a:rPr>
              <a:t>–Feature construction:</a:t>
            </a:r>
            <a:endParaRPr sz="2600">
              <a:solidFill>
                <a:schemeClr val="dk1"/>
              </a:solidFill>
            </a:endParaRPr>
          </a:p>
          <a:p>
            <a:pPr indent="0" lvl="0" marL="12700" rtl="0" algn="l">
              <a:spcBef>
                <a:spcPts val="500"/>
              </a:spcBef>
              <a:spcAft>
                <a:spcPts val="0"/>
              </a:spcAft>
              <a:buClr>
                <a:schemeClr val="dk1"/>
              </a:buClr>
              <a:buSzPct val="50000"/>
              <a:buFont typeface="Arial"/>
              <a:buNone/>
            </a:pPr>
            <a:r>
              <a:rPr lang="zh-TW" sz="2200">
                <a:solidFill>
                  <a:schemeClr val="dk1"/>
                </a:solidFill>
              </a:rPr>
              <a:t>•Late payment rate (last 6 months)</a:t>
            </a:r>
            <a:endParaRPr sz="2200">
              <a:solidFill>
                <a:schemeClr val="dk1"/>
              </a:solidFill>
            </a:endParaRPr>
          </a:p>
          <a:p>
            <a:pPr indent="0" lvl="0" marL="12700" rtl="0" algn="l">
              <a:spcBef>
                <a:spcPts val="500"/>
              </a:spcBef>
              <a:spcAft>
                <a:spcPts val="0"/>
              </a:spcAft>
              <a:buClr>
                <a:schemeClr val="dk1"/>
              </a:buClr>
              <a:buSzPct val="50000"/>
              <a:buFont typeface="Arial"/>
              <a:buNone/>
            </a:pPr>
            <a:r>
              <a:rPr lang="zh-TW" sz="2200">
                <a:solidFill>
                  <a:schemeClr val="dk1"/>
                </a:solidFill>
              </a:rPr>
              <a:t>•Credit usage trend (slope)</a:t>
            </a:r>
            <a:endParaRPr sz="2200">
              <a:solidFill>
                <a:schemeClr val="dk1"/>
              </a:solidFill>
            </a:endParaRPr>
          </a:p>
          <a:p>
            <a:pPr indent="0" lvl="0" marL="0" rtl="0" algn="l">
              <a:spcBef>
                <a:spcPts val="700"/>
              </a:spcBef>
              <a:spcAft>
                <a:spcPts val="0"/>
              </a:spcAft>
              <a:buClr>
                <a:schemeClr val="dk1"/>
              </a:buClr>
              <a:buSzPct val="36667"/>
              <a:buFont typeface="Arial"/>
              <a:buNone/>
            </a:pPr>
            <a:r>
              <a:rPr lang="zh-TW" sz="3000">
                <a:solidFill>
                  <a:schemeClr val="dk1"/>
                </a:solidFill>
              </a:rPr>
              <a:t>•</a:t>
            </a:r>
            <a:r>
              <a:rPr b="1" lang="zh-TW" sz="3000">
                <a:solidFill>
                  <a:schemeClr val="dk1"/>
                </a:solidFill>
              </a:rPr>
              <a:t>Data cleaning</a:t>
            </a:r>
            <a:endParaRPr b="1" sz="3000">
              <a:solidFill>
                <a:schemeClr val="dk1"/>
              </a:solidFill>
            </a:endParaRPr>
          </a:p>
          <a:p>
            <a:pPr indent="0" lvl="0" marL="12700" rtl="0" algn="l">
              <a:spcBef>
                <a:spcPts val="600"/>
              </a:spcBef>
              <a:spcAft>
                <a:spcPts val="0"/>
              </a:spcAft>
              <a:buClr>
                <a:schemeClr val="dk1"/>
              </a:buClr>
              <a:buSzPct val="42308"/>
              <a:buFont typeface="Arial"/>
              <a:buNone/>
            </a:pPr>
            <a:r>
              <a:rPr lang="zh-TW" sz="2600">
                <a:solidFill>
                  <a:schemeClr val="dk1"/>
                </a:solidFill>
              </a:rPr>
              <a:t>–Handle anomalies (e.g., DAYS_EMPLOYED = 365243)</a:t>
            </a:r>
            <a:endParaRPr sz="2600">
              <a:solidFill>
                <a:schemeClr val="dk1"/>
              </a:solidFill>
            </a:endParaRPr>
          </a:p>
          <a:p>
            <a:pPr indent="0" lvl="0" marL="12700" rtl="0" algn="l">
              <a:spcBef>
                <a:spcPts val="600"/>
              </a:spcBef>
              <a:spcAft>
                <a:spcPts val="0"/>
              </a:spcAft>
              <a:buClr>
                <a:schemeClr val="dk1"/>
              </a:buClr>
              <a:buSzPct val="42308"/>
              <a:buFont typeface="Arial"/>
              <a:buNone/>
            </a:pPr>
            <a:r>
              <a:rPr lang="zh-TW" sz="2600">
                <a:solidFill>
                  <a:schemeClr val="dk1"/>
                </a:solidFill>
              </a:rPr>
              <a:t>–Missing value imputation</a:t>
            </a:r>
            <a:endParaRPr sz="26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sz="4400"/>
              <a:t>Techniques &amp; methods</a:t>
            </a:r>
            <a:r>
              <a:rPr lang="zh-TW" sz="1100"/>
              <a:t>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19100" lvl="0" marL="457200" rtl="0" algn="l">
              <a:spcBef>
                <a:spcPts val="800"/>
              </a:spcBef>
              <a:spcAft>
                <a:spcPts val="0"/>
              </a:spcAft>
              <a:buClr>
                <a:schemeClr val="dk1"/>
              </a:buClr>
              <a:buSzPts val="3000"/>
              <a:buChar char="●"/>
            </a:pPr>
            <a:r>
              <a:rPr lang="zh-TW" sz="3000">
                <a:solidFill>
                  <a:schemeClr val="dk1"/>
                </a:solidFill>
              </a:rPr>
              <a:t>LightGBM</a:t>
            </a:r>
            <a:endParaRPr sz="3000">
              <a:solidFill>
                <a:schemeClr val="dk1"/>
              </a:solidFill>
            </a:endParaRPr>
          </a:p>
          <a:p>
            <a:pPr indent="-419100" lvl="0" marL="457200" rtl="0" algn="l">
              <a:spcBef>
                <a:spcPts val="0"/>
              </a:spcBef>
              <a:spcAft>
                <a:spcPts val="0"/>
              </a:spcAft>
              <a:buClr>
                <a:schemeClr val="dk1"/>
              </a:buClr>
              <a:buSzPts val="3000"/>
              <a:buChar char="●"/>
            </a:pPr>
            <a:r>
              <a:rPr lang="zh-TW" sz="3000">
                <a:solidFill>
                  <a:schemeClr val="dk1"/>
                </a:solidFill>
              </a:rPr>
              <a:t>XGBoost</a:t>
            </a:r>
            <a:endParaRPr sz="3000">
              <a:solidFill>
                <a:schemeClr val="dk1"/>
              </a:solidFill>
            </a:endParaRPr>
          </a:p>
          <a:p>
            <a:pPr indent="-419100" lvl="0" marL="457200" rtl="0" algn="l">
              <a:spcBef>
                <a:spcPts val="0"/>
              </a:spcBef>
              <a:spcAft>
                <a:spcPts val="0"/>
              </a:spcAft>
              <a:buClr>
                <a:schemeClr val="dk1"/>
              </a:buClr>
              <a:buSzPts val="3000"/>
              <a:buChar char="●"/>
            </a:pPr>
            <a:r>
              <a:rPr lang="zh-TW" sz="3000">
                <a:solidFill>
                  <a:schemeClr val="dk1"/>
                </a:solidFill>
              </a:rPr>
              <a:t>CatBoost</a:t>
            </a:r>
            <a:endParaRPr sz="30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sz="4400"/>
              <a:t>Expect experimental results</a:t>
            </a:r>
            <a:r>
              <a:rPr lang="zh-TW" sz="1100"/>
              <a:t>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800"/>
              </a:spcBef>
              <a:spcAft>
                <a:spcPts val="0"/>
              </a:spcAft>
              <a:buClr>
                <a:schemeClr val="dk1"/>
              </a:buClr>
              <a:buSzPts val="1100"/>
              <a:buFont typeface="Arial"/>
              <a:buNone/>
            </a:pPr>
            <a:r>
              <a:rPr lang="zh-TW" sz="3200">
                <a:solidFill>
                  <a:schemeClr val="dk1"/>
                </a:solidFill>
              </a:rPr>
              <a:t>•</a:t>
            </a:r>
            <a:r>
              <a:rPr b="1" lang="zh-TW" sz="3200">
                <a:solidFill>
                  <a:schemeClr val="dk1"/>
                </a:solidFill>
              </a:rPr>
              <a:t>Evaluation Metrics</a:t>
            </a:r>
            <a:endParaRPr b="1" sz="3200">
              <a:solidFill>
                <a:schemeClr val="dk1"/>
              </a:solidFill>
            </a:endParaRPr>
          </a:p>
          <a:p>
            <a:pPr indent="0" lvl="0" marL="0" rtl="0" algn="l">
              <a:spcBef>
                <a:spcPts val="800"/>
              </a:spcBef>
              <a:spcAft>
                <a:spcPts val="0"/>
              </a:spcAft>
              <a:buClr>
                <a:schemeClr val="dk1"/>
              </a:buClr>
              <a:buSzPts val="1100"/>
              <a:buFont typeface="Arial"/>
              <a:buNone/>
            </a:pPr>
            <a:r>
              <a:rPr lang="zh-TW" sz="3200">
                <a:solidFill>
                  <a:schemeClr val="dk1"/>
                </a:solidFill>
              </a:rPr>
              <a:t>•Confusion Matrix</a:t>
            </a:r>
            <a:endParaRPr sz="3200">
              <a:solidFill>
                <a:schemeClr val="dk1"/>
              </a:solidFill>
            </a:endParaRPr>
          </a:p>
          <a:p>
            <a:pPr indent="0" lvl="0" marL="0" rtl="0" algn="l">
              <a:spcBef>
                <a:spcPts val="800"/>
              </a:spcBef>
              <a:spcAft>
                <a:spcPts val="0"/>
              </a:spcAft>
              <a:buClr>
                <a:schemeClr val="dk1"/>
              </a:buClr>
              <a:buSzPts val="1100"/>
              <a:buFont typeface="Arial"/>
              <a:buNone/>
            </a:pPr>
            <a:r>
              <a:rPr lang="zh-TW" sz="3200">
                <a:solidFill>
                  <a:schemeClr val="dk1"/>
                </a:solidFill>
              </a:rPr>
              <a:t>•ROC Curve (AUC)</a:t>
            </a:r>
            <a:endParaRPr sz="3200">
              <a:solidFill>
                <a:schemeClr val="dk1"/>
              </a:solidFill>
            </a:endParaRPr>
          </a:p>
          <a:p>
            <a:pPr indent="0" lvl="0" marL="0" rtl="0" algn="l">
              <a:spcBef>
                <a:spcPts val="800"/>
              </a:spcBef>
              <a:spcAft>
                <a:spcPts val="0"/>
              </a:spcAft>
              <a:buClr>
                <a:schemeClr val="dk1"/>
              </a:buClr>
              <a:buSzPts val="1100"/>
              <a:buFont typeface="Arial"/>
              <a:buNone/>
            </a:pPr>
            <a:r>
              <a:rPr lang="zh-TW" sz="3200">
                <a:solidFill>
                  <a:schemeClr val="dk1"/>
                </a:solidFill>
              </a:rPr>
              <a:t>•Precision-Recall Curve (focus on Recall)</a:t>
            </a:r>
            <a:endParaRPr sz="32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zh-TW" sz="1800">
                <a:solidFill>
                  <a:schemeClr val="dk2"/>
                </a:solidFill>
              </a:rPr>
              <a:t>Final Project 25%</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zh-TW"/>
              <a:t>• Motivation (10%) • Original and Innovation • Practical Application</a:t>
            </a:r>
            <a:endParaRPr/>
          </a:p>
          <a:p>
            <a:pPr indent="0" lvl="0" marL="0" rtl="0" algn="l">
              <a:spcBef>
                <a:spcPts val="1200"/>
              </a:spcBef>
              <a:spcAft>
                <a:spcPts val="0"/>
              </a:spcAft>
              <a:buNone/>
            </a:pPr>
            <a:r>
              <a:rPr lang="zh-TW"/>
              <a:t>• </a:t>
            </a:r>
            <a:r>
              <a:rPr lang="zh-TW"/>
              <a:t>Method (20%) • Suitability of the Method for the Data • Completeness of the Approach</a:t>
            </a:r>
            <a:endParaRPr/>
          </a:p>
          <a:p>
            <a:pPr indent="0" lvl="0" marL="0" rtl="0" algn="l">
              <a:spcBef>
                <a:spcPts val="1200"/>
              </a:spcBef>
              <a:spcAft>
                <a:spcPts val="0"/>
              </a:spcAft>
              <a:buNone/>
            </a:pPr>
            <a:r>
              <a:rPr lang="zh-TW"/>
              <a:t>• </a:t>
            </a:r>
            <a:r>
              <a:rPr lang="zh-TW"/>
              <a:t>Experiments (20%) • Completeness of Experimental Data • Visualization of Experimental Results </a:t>
            </a:r>
            <a:endParaRPr/>
          </a:p>
          <a:p>
            <a:pPr indent="0" lvl="0" marL="0" rtl="0" algn="l">
              <a:spcBef>
                <a:spcPts val="1200"/>
              </a:spcBef>
              <a:spcAft>
                <a:spcPts val="0"/>
              </a:spcAft>
              <a:buNone/>
            </a:pPr>
            <a:r>
              <a:rPr lang="zh-TW"/>
              <a:t>• </a:t>
            </a:r>
            <a:r>
              <a:rPr lang="zh-TW"/>
              <a:t>Conclusion and Analysis (20%) • Reasonable discussion • How to overcome difficulties</a:t>
            </a:r>
            <a:endParaRPr/>
          </a:p>
          <a:p>
            <a:pPr indent="0" lvl="0" marL="0" rtl="0" algn="l">
              <a:spcBef>
                <a:spcPts val="1200"/>
              </a:spcBef>
              <a:spcAft>
                <a:spcPts val="0"/>
              </a:spcAft>
              <a:buNone/>
            </a:pPr>
            <a:r>
              <a:rPr lang="zh-TW"/>
              <a:t>• </a:t>
            </a:r>
            <a:r>
              <a:rPr lang="zh-TW"/>
              <a:t>Presentation (20%) • Completeness of Report Content • Clarity of Presentation </a:t>
            </a:r>
            <a:endParaRPr/>
          </a:p>
          <a:p>
            <a:pPr indent="0" lvl="0" marL="0" rtl="0" algn="l">
              <a:spcBef>
                <a:spcPts val="1200"/>
              </a:spcBef>
              <a:spcAft>
                <a:spcPts val="0"/>
              </a:spcAft>
              <a:buNone/>
            </a:pPr>
            <a:r>
              <a:rPr lang="zh-TW"/>
              <a:t>• </a:t>
            </a:r>
            <a:r>
              <a:rPr lang="zh-TW"/>
              <a:t>Others (10%) • Alignment with the Proposal • Answer question clearly</a:t>
            </a:r>
            <a:endParaRPr/>
          </a:p>
          <a:p>
            <a:pPr indent="0" lvl="0" marL="0" rtl="0" algn="l">
              <a:spcBef>
                <a:spcPts val="1200"/>
              </a:spcBef>
              <a:spcAft>
                <a:spcPts val="0"/>
              </a:spcAft>
              <a:buNone/>
            </a:pPr>
            <a:r>
              <a:rPr lang="zh-TW"/>
              <a:t>• </a:t>
            </a:r>
            <a:r>
              <a:rPr lang="zh-TW"/>
              <a:t>Dataset (20%) • Dataset Complexity • Data Preprocessing </a:t>
            </a:r>
            <a:endParaRPr/>
          </a:p>
          <a:p>
            <a:pPr indent="0" lvl="0" marL="0" rtl="0" algn="l">
              <a:spcBef>
                <a:spcPts val="1200"/>
              </a:spcBef>
              <a:spcAft>
                <a:spcPts val="1200"/>
              </a:spcAft>
              <a:buNone/>
            </a:pPr>
            <a:r>
              <a:rPr lang="zh-TW"/>
              <a:t>Total 120%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zh-TW" sz="3600"/>
              <a:t>Motivation</a:t>
            </a:r>
            <a:endParaRPr sz="3600"/>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700"/>
              </a:spcBef>
              <a:spcAft>
                <a:spcPts val="0"/>
              </a:spcAft>
              <a:buNone/>
            </a:pPr>
            <a:r>
              <a:rPr lang="zh-TW" sz="2400">
                <a:solidFill>
                  <a:schemeClr val="dk1"/>
                </a:solidFill>
              </a:rPr>
              <a:t>Credit default risk prediction is an important problem in financial decision-making. </a:t>
            </a:r>
            <a:endParaRPr sz="2400">
              <a:solidFill>
                <a:schemeClr val="dk1"/>
              </a:solidFill>
            </a:endParaRPr>
          </a:p>
          <a:p>
            <a:pPr indent="0" lvl="0" marL="0" rtl="0" algn="l">
              <a:spcBef>
                <a:spcPts val="700"/>
              </a:spcBef>
              <a:spcAft>
                <a:spcPts val="0"/>
              </a:spcAft>
              <a:buNone/>
            </a:pPr>
            <a:r>
              <a:t/>
            </a:r>
            <a:endParaRPr sz="2400">
              <a:solidFill>
                <a:schemeClr val="dk1"/>
              </a:solidFill>
            </a:endParaRPr>
          </a:p>
          <a:p>
            <a:pPr indent="0" lvl="0" marL="0" rtl="0" algn="l">
              <a:spcBef>
                <a:spcPts val="700"/>
              </a:spcBef>
              <a:spcAft>
                <a:spcPts val="0"/>
              </a:spcAft>
              <a:buNone/>
            </a:pPr>
            <a:r>
              <a:rPr lang="zh-TW" sz="2400">
                <a:solidFill>
                  <a:schemeClr val="dk1"/>
                </a:solidFill>
              </a:rPr>
              <a:t>Home Credit Default Risk: This dataset is complex(7 tables), realistic, and suitable for a complete ML pipeline. </a:t>
            </a:r>
            <a:endParaRPr sz="2400">
              <a:solidFill>
                <a:schemeClr val="dk1"/>
              </a:solidFill>
            </a:endParaRPr>
          </a:p>
          <a:p>
            <a:pPr indent="0" lvl="0" marL="0" rtl="0" algn="l">
              <a:spcBef>
                <a:spcPts val="700"/>
              </a:spcBef>
              <a:spcAft>
                <a:spcPts val="0"/>
              </a:spcAft>
              <a:buClr>
                <a:schemeClr val="dk1"/>
              </a:buClr>
              <a:buSzPts val="1100"/>
              <a:buFont typeface="Arial"/>
              <a:buNone/>
            </a:pPr>
            <a:r>
              <a:t/>
            </a:r>
            <a:endParaRPr sz="24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zh-TW" sz="3600"/>
              <a:t>Method</a:t>
            </a:r>
            <a:endParaRPr sz="3600"/>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800"/>
              </a:spcBef>
              <a:spcAft>
                <a:spcPts val="0"/>
              </a:spcAft>
              <a:buNone/>
            </a:pPr>
            <a:r>
              <a:rPr lang="zh-TW" sz="2400">
                <a:solidFill>
                  <a:schemeClr val="dk1"/>
                </a:solidFill>
              </a:rPr>
              <a:t>model :</a:t>
            </a:r>
            <a:endParaRPr sz="2400">
              <a:solidFill>
                <a:schemeClr val="dk1"/>
              </a:solidFill>
            </a:endParaRPr>
          </a:p>
          <a:p>
            <a:pPr indent="0" lvl="0" marL="0" rtl="0" algn="l">
              <a:spcBef>
                <a:spcPts val="800"/>
              </a:spcBef>
              <a:spcAft>
                <a:spcPts val="0"/>
              </a:spcAft>
              <a:buNone/>
            </a:pPr>
            <a:r>
              <a:rPr lang="zh-TW" sz="2400">
                <a:solidFill>
                  <a:schemeClr val="dk1"/>
                </a:solidFill>
              </a:rPr>
              <a:t>LightGBM</a:t>
            </a:r>
            <a:endParaRPr sz="2400">
              <a:solidFill>
                <a:schemeClr val="dk1"/>
              </a:solidFill>
            </a:endParaRPr>
          </a:p>
          <a:p>
            <a:pPr indent="0" lvl="0" marL="0" rtl="0" algn="l">
              <a:spcBef>
                <a:spcPts val="800"/>
              </a:spcBef>
              <a:spcAft>
                <a:spcPts val="0"/>
              </a:spcAft>
              <a:buNone/>
            </a:pPr>
            <a:r>
              <a:rPr lang="zh-TW" sz="2400">
                <a:solidFill>
                  <a:schemeClr val="dk1"/>
                </a:solidFill>
              </a:rPr>
              <a:t>XGBoost</a:t>
            </a:r>
            <a:endParaRPr sz="2400">
              <a:solidFill>
                <a:schemeClr val="dk1"/>
              </a:solidFill>
            </a:endParaRPr>
          </a:p>
          <a:p>
            <a:pPr indent="0" lvl="0" marL="0" rtl="0" algn="l">
              <a:spcBef>
                <a:spcPts val="800"/>
              </a:spcBef>
              <a:spcAft>
                <a:spcPts val="0"/>
              </a:spcAft>
              <a:buNone/>
            </a:pPr>
            <a:r>
              <a:rPr lang="zh-TW" sz="2400">
                <a:solidFill>
                  <a:schemeClr val="dk1"/>
                </a:solidFill>
              </a:rPr>
              <a:t>CatBoost</a:t>
            </a:r>
            <a:endParaRPr sz="2400">
              <a:solidFill>
                <a:schemeClr val="dk1"/>
              </a:solidFill>
            </a:endParaRPr>
          </a:p>
          <a:p>
            <a:pPr indent="0" lvl="0" marL="0" rtl="0" algn="l">
              <a:spcBef>
                <a:spcPts val="800"/>
              </a:spcBef>
              <a:spcAft>
                <a:spcPts val="0"/>
              </a:spcAft>
              <a:buNone/>
            </a:pPr>
            <a:r>
              <a:t/>
            </a:r>
            <a:endParaRPr sz="2400">
              <a:solidFill>
                <a:schemeClr val="dk1"/>
              </a:solidFill>
            </a:endParaRPr>
          </a:p>
          <a:p>
            <a:pPr indent="0" lvl="0" marL="0" rtl="0" algn="l">
              <a:spcBef>
                <a:spcPts val="0"/>
              </a:spcBef>
              <a:spcAft>
                <a:spcPts val="0"/>
              </a:spcAft>
              <a:buNone/>
            </a:pPr>
            <a:r>
              <a:rPr lang="zh-TW" sz="2400">
                <a:solidFill>
                  <a:schemeClr val="dk1"/>
                </a:solidFill>
              </a:rPr>
              <a:t>baseline: only main table (application_train)</a:t>
            </a:r>
            <a:endParaRPr sz="2400">
              <a:solidFill>
                <a:schemeClr val="dk1"/>
              </a:solidFill>
            </a:endParaRPr>
          </a:p>
          <a:p>
            <a:pPr indent="0" lvl="0" marL="0" rtl="0" algn="l">
              <a:spcBef>
                <a:spcPts val="1200"/>
              </a:spcBef>
              <a:spcAft>
                <a:spcPts val="1200"/>
              </a:spcAft>
              <a:buNone/>
            </a:pPr>
            <a:r>
              <a:rPr lang="zh-TW" sz="2400">
                <a:solidFill>
                  <a:schemeClr val="dk1"/>
                </a:solidFill>
              </a:rPr>
              <a:t>adding more feature step by step, and check the AUC-ROC score</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zh-TW" sz="3600"/>
              <a:t>Method</a:t>
            </a:r>
            <a:endParaRPr sz="3600"/>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zh-TW" sz="1900">
                <a:solidFill>
                  <a:schemeClr val="dk1"/>
                </a:solidFill>
              </a:rPr>
              <a:t>Combine</a:t>
            </a:r>
            <a:r>
              <a:rPr lang="zh-TW" sz="1900">
                <a:solidFill>
                  <a:schemeClr val="dk1"/>
                </a:solidFill>
              </a:rPr>
              <a:t> features in all of the tables</a:t>
            </a:r>
            <a:endParaRPr sz="1900">
              <a:solidFill>
                <a:schemeClr val="dk1"/>
              </a:solidFill>
            </a:endParaRPr>
          </a:p>
          <a:p>
            <a:pPr indent="0" lvl="0" marL="0" rtl="0" algn="l">
              <a:spcBef>
                <a:spcPts val="1200"/>
              </a:spcBef>
              <a:spcAft>
                <a:spcPts val="0"/>
              </a:spcAft>
              <a:buNone/>
            </a:pPr>
            <a:r>
              <a:rPr lang="zh-TW" sz="1900">
                <a:solidFill>
                  <a:schemeClr val="dk1"/>
                </a:solidFill>
              </a:rPr>
              <a:t>Adding magic features</a:t>
            </a:r>
            <a:endParaRPr sz="1900">
              <a:solidFill>
                <a:schemeClr val="dk1"/>
              </a:solidFill>
            </a:endParaRPr>
          </a:p>
          <a:p>
            <a:pPr indent="0" lvl="0" marL="0" rtl="0" algn="l">
              <a:spcBef>
                <a:spcPts val="1200"/>
              </a:spcBef>
              <a:spcAft>
                <a:spcPts val="0"/>
              </a:spcAft>
              <a:buNone/>
            </a:pPr>
            <a:r>
              <a:rPr lang="zh-TW" sz="1900">
                <a:solidFill>
                  <a:schemeClr val="dk1"/>
                </a:solidFill>
              </a:rPr>
              <a:t>Stratified K-Fold</a:t>
            </a:r>
            <a:endParaRPr sz="1900">
              <a:solidFill>
                <a:schemeClr val="dk1"/>
              </a:solidFill>
            </a:endParaRPr>
          </a:p>
          <a:p>
            <a:pPr indent="0" lvl="0" marL="0" rtl="0" algn="l">
              <a:spcBef>
                <a:spcPts val="1200"/>
              </a:spcBef>
              <a:spcAft>
                <a:spcPts val="0"/>
              </a:spcAft>
              <a:buNone/>
            </a:pPr>
            <a:r>
              <a:rPr lang="zh-TW" sz="1900">
                <a:solidFill>
                  <a:schemeClr val="dk1"/>
                </a:solidFill>
              </a:rPr>
              <a:t>Dimension Reduction (Top 99% cumulated importance)</a:t>
            </a:r>
            <a:endParaRPr sz="1900">
              <a:solidFill>
                <a:schemeClr val="dk1"/>
              </a:solidFill>
            </a:endParaRPr>
          </a:p>
          <a:p>
            <a:pPr indent="0" lvl="0" marL="0" rtl="0" algn="l">
              <a:spcBef>
                <a:spcPts val="1200"/>
              </a:spcBef>
              <a:spcAft>
                <a:spcPts val="0"/>
              </a:spcAft>
              <a:buNone/>
            </a:pPr>
            <a:r>
              <a:rPr lang="zh-TW" sz="1900">
                <a:solidFill>
                  <a:schemeClr val="dk1"/>
                </a:solidFill>
              </a:rPr>
              <a:t>Second round: </a:t>
            </a:r>
            <a:r>
              <a:rPr lang="zh-TW" sz="1900">
                <a:solidFill>
                  <a:schemeClr val="dk1"/>
                </a:solidFill>
              </a:rPr>
              <a:t>3 models (LightGBM, xgboost, catboost)</a:t>
            </a:r>
            <a:endParaRPr sz="1900">
              <a:solidFill>
                <a:schemeClr val="dk1"/>
              </a:solidFill>
            </a:endParaRPr>
          </a:p>
          <a:p>
            <a:pPr indent="0" lvl="0" marL="0" rtl="0" algn="l">
              <a:spcBef>
                <a:spcPts val="1200"/>
              </a:spcBef>
              <a:spcAft>
                <a:spcPts val="0"/>
              </a:spcAft>
              <a:buNone/>
            </a:pPr>
            <a:r>
              <a:rPr lang="zh-TW" sz="1900">
                <a:solidFill>
                  <a:schemeClr val="dk1"/>
                </a:solidFill>
              </a:rPr>
              <a:t>Blending </a:t>
            </a:r>
            <a:r>
              <a:rPr lang="zh-TW" sz="1900">
                <a:solidFill>
                  <a:schemeClr val="dk1"/>
                </a:solidFill>
              </a:rPr>
              <a:t>models</a:t>
            </a:r>
            <a:r>
              <a:rPr lang="zh-TW" sz="1900">
                <a:solidFill>
                  <a:schemeClr val="dk1"/>
                </a:solidFill>
              </a:rPr>
              <a:t> (Optuna)</a:t>
            </a:r>
            <a:endParaRPr sz="1900">
              <a:solidFill>
                <a:schemeClr val="dk1"/>
              </a:solidFill>
            </a:endParaRPr>
          </a:p>
          <a:p>
            <a:pPr indent="0" lvl="0" marL="0" rtl="0" algn="l">
              <a:spcBef>
                <a:spcPts val="1200"/>
              </a:spcBef>
              <a:spcAft>
                <a:spcPts val="1200"/>
              </a:spcAft>
              <a:buNone/>
            </a:pPr>
            <a:r>
              <a:rPr lang="zh-TW" sz="1900">
                <a:solidFill>
                  <a:schemeClr val="dk1"/>
                </a:solidFill>
              </a:rPr>
              <a:t>Evaluation: </a:t>
            </a:r>
            <a:r>
              <a:rPr lang="zh-TW" sz="1900">
                <a:solidFill>
                  <a:schemeClr val="dk1"/>
                </a:solidFill>
              </a:rPr>
              <a:t>ROC curve (AUC),</a:t>
            </a:r>
            <a:r>
              <a:rPr lang="zh-TW" sz="1900">
                <a:solidFill>
                  <a:schemeClr val="dk1"/>
                </a:solidFill>
              </a:rPr>
              <a:t>same as Home Credit Default Risk competition. In addition, performing PR curve since the labels in original dataset are extremely imbalanced.</a:t>
            </a:r>
            <a:endParaRPr/>
          </a:p>
        </p:txBody>
      </p:sp>
      <p:pic>
        <p:nvPicPr>
          <p:cNvPr id="98" name="Google Shape;98;p20" title="Gemini_Generated_Image_5ui5fe5ui5fe5ui5.png"/>
          <p:cNvPicPr preferRelativeResize="0"/>
          <p:nvPr/>
        </p:nvPicPr>
        <p:blipFill>
          <a:blip r:embed="rId3">
            <a:alphaModFix/>
          </a:blip>
          <a:stretch>
            <a:fillRect/>
          </a:stretch>
        </p:blipFill>
        <p:spPr>
          <a:xfrm>
            <a:off x="365325" y="536875"/>
            <a:ext cx="8520600" cy="46475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zh-TW" sz="3600"/>
              <a:t>Method</a:t>
            </a:r>
            <a:endParaRPr sz="3600"/>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zh-TW" sz="1900">
                <a:solidFill>
                  <a:schemeClr val="dk1"/>
                </a:solidFill>
              </a:rPr>
              <a:t>Combine features in all of the tables</a:t>
            </a:r>
            <a:endParaRPr sz="1900">
              <a:solidFill>
                <a:schemeClr val="dk1"/>
              </a:solidFill>
            </a:endParaRPr>
          </a:p>
          <a:p>
            <a:pPr indent="0" lvl="0" marL="0" rtl="0" algn="l">
              <a:spcBef>
                <a:spcPts val="1200"/>
              </a:spcBef>
              <a:spcAft>
                <a:spcPts val="0"/>
              </a:spcAft>
              <a:buNone/>
            </a:pPr>
            <a:r>
              <a:rPr lang="zh-TW" sz="1900">
                <a:solidFill>
                  <a:schemeClr val="dk1"/>
                </a:solidFill>
              </a:rPr>
              <a:t>Adding magic features</a:t>
            </a:r>
            <a:endParaRPr sz="1900">
              <a:solidFill>
                <a:schemeClr val="dk1"/>
              </a:solidFill>
            </a:endParaRPr>
          </a:p>
          <a:p>
            <a:pPr indent="0" lvl="0" marL="0" rtl="0" algn="l">
              <a:spcBef>
                <a:spcPts val="1200"/>
              </a:spcBef>
              <a:spcAft>
                <a:spcPts val="0"/>
              </a:spcAft>
              <a:buNone/>
            </a:pPr>
            <a:r>
              <a:rPr lang="zh-TW" sz="1900">
                <a:solidFill>
                  <a:schemeClr val="dk1"/>
                </a:solidFill>
              </a:rPr>
              <a:t>Stratified K-Fold</a:t>
            </a:r>
            <a:endParaRPr sz="1900">
              <a:solidFill>
                <a:schemeClr val="dk1"/>
              </a:solidFill>
            </a:endParaRPr>
          </a:p>
          <a:p>
            <a:pPr indent="0" lvl="0" marL="0" rtl="0" algn="l">
              <a:spcBef>
                <a:spcPts val="1200"/>
              </a:spcBef>
              <a:spcAft>
                <a:spcPts val="0"/>
              </a:spcAft>
              <a:buNone/>
            </a:pPr>
            <a:r>
              <a:rPr lang="zh-TW" sz="1900">
                <a:solidFill>
                  <a:schemeClr val="dk1"/>
                </a:solidFill>
              </a:rPr>
              <a:t>Dimension Reduction (Top 99% cumulated importance)</a:t>
            </a:r>
            <a:endParaRPr sz="1900">
              <a:solidFill>
                <a:schemeClr val="dk1"/>
              </a:solidFill>
            </a:endParaRPr>
          </a:p>
          <a:p>
            <a:pPr indent="0" lvl="0" marL="0" rtl="0" algn="l">
              <a:spcBef>
                <a:spcPts val="1200"/>
              </a:spcBef>
              <a:spcAft>
                <a:spcPts val="0"/>
              </a:spcAft>
              <a:buNone/>
            </a:pPr>
            <a:r>
              <a:rPr lang="zh-TW" sz="1900">
                <a:solidFill>
                  <a:schemeClr val="dk1"/>
                </a:solidFill>
              </a:rPr>
              <a:t>Second round: 3 models (LightGBM, xgboost, catboost)</a:t>
            </a:r>
            <a:endParaRPr sz="1900">
              <a:solidFill>
                <a:schemeClr val="dk1"/>
              </a:solidFill>
            </a:endParaRPr>
          </a:p>
          <a:p>
            <a:pPr indent="0" lvl="0" marL="0" rtl="0" algn="l">
              <a:spcBef>
                <a:spcPts val="1200"/>
              </a:spcBef>
              <a:spcAft>
                <a:spcPts val="0"/>
              </a:spcAft>
              <a:buNone/>
            </a:pPr>
            <a:r>
              <a:rPr lang="zh-TW" sz="1900">
                <a:solidFill>
                  <a:schemeClr val="dk1"/>
                </a:solidFill>
              </a:rPr>
              <a:t>Blending models (Optuna)</a:t>
            </a:r>
            <a:endParaRPr sz="1900">
              <a:solidFill>
                <a:schemeClr val="dk1"/>
              </a:solidFill>
            </a:endParaRPr>
          </a:p>
          <a:p>
            <a:pPr indent="0" lvl="0" marL="0" rtl="0" algn="l">
              <a:spcBef>
                <a:spcPts val="1200"/>
              </a:spcBef>
              <a:spcAft>
                <a:spcPts val="1200"/>
              </a:spcAft>
              <a:buNone/>
            </a:pPr>
            <a:r>
              <a:rPr lang="zh-TW" sz="1900">
                <a:solidFill>
                  <a:schemeClr val="dk1"/>
                </a:solidFill>
              </a:rPr>
              <a:t>Evaluation: ROC curve (AUC),same as Home Credit Default Risk competition. In addition, performing PR curve since the labels in original dataset are extremely imbalanced.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graphicFrame>
        <p:nvGraphicFramePr>
          <p:cNvPr id="109" name="Google Shape;109;p22"/>
          <p:cNvGraphicFramePr/>
          <p:nvPr/>
        </p:nvGraphicFramePr>
        <p:xfrm>
          <a:off x="188375" y="117950"/>
          <a:ext cx="3000000" cy="3000000"/>
        </p:xfrm>
        <a:graphic>
          <a:graphicData uri="http://schemas.openxmlformats.org/drawingml/2006/table">
            <a:tbl>
              <a:tblPr>
                <a:noFill/>
                <a:tableStyleId>{0139891B-DBC0-4DAB-9BA9-325B1C9457D1}</a:tableStyleId>
              </a:tblPr>
              <a:tblGrid>
                <a:gridCol w="1973525"/>
                <a:gridCol w="6793725"/>
              </a:tblGrid>
              <a:tr h="150675">
                <a:tc>
                  <a:txBody>
                    <a:bodyPr/>
                    <a:lstStyle/>
                    <a:p>
                      <a:pPr indent="0" lvl="0" marL="0" rtl="0" algn="l">
                        <a:lnSpc>
                          <a:spcPct val="115000"/>
                        </a:lnSpc>
                        <a:spcBef>
                          <a:spcPts val="0"/>
                        </a:spcBef>
                        <a:spcAft>
                          <a:spcPts val="1200"/>
                        </a:spcAft>
                        <a:buNone/>
                      </a:pPr>
                      <a:r>
                        <a:rPr lang="zh-TW" sz="1300">
                          <a:solidFill>
                            <a:schemeClr val="dk2"/>
                          </a:solidFill>
                        </a:rPr>
                        <a:t>Chart name</a:t>
                      </a:r>
                      <a:endParaRPr sz="1300">
                        <a:solidFill>
                          <a:schemeClr val="dk2"/>
                        </a:solidFill>
                      </a:endParaRPr>
                    </a:p>
                  </a:txBody>
                  <a:tcPr marT="91425" marB="91425" marR="91425" marL="91425">
                    <a:solidFill>
                      <a:schemeClr val="lt2"/>
                    </a:solidFill>
                  </a:tcPr>
                </a:tc>
                <a:tc>
                  <a:txBody>
                    <a:bodyPr/>
                    <a:lstStyle/>
                    <a:p>
                      <a:pPr indent="0" lvl="0" marL="0" rtl="0" algn="l">
                        <a:lnSpc>
                          <a:spcPct val="115000"/>
                        </a:lnSpc>
                        <a:spcBef>
                          <a:spcPts val="0"/>
                        </a:spcBef>
                        <a:spcAft>
                          <a:spcPts val="1200"/>
                        </a:spcAft>
                        <a:buNone/>
                      </a:pPr>
                      <a:r>
                        <a:rPr lang="zh-TW" sz="1300">
                          <a:solidFill>
                            <a:schemeClr val="dk2"/>
                          </a:solidFill>
                        </a:rPr>
                        <a:t>Description</a:t>
                      </a:r>
                      <a:endParaRPr sz="1300">
                        <a:solidFill>
                          <a:schemeClr val="dk2"/>
                        </a:solidFill>
                      </a:endParaRPr>
                    </a:p>
                  </a:txBody>
                  <a:tcPr marT="91425" marB="91425" marR="91425" marL="91425">
                    <a:solidFill>
                      <a:schemeClr val="lt2"/>
                    </a:solidFill>
                  </a:tcPr>
                </a:tc>
              </a:tr>
              <a:tr h="694600">
                <a:tc>
                  <a:txBody>
                    <a:bodyPr/>
                    <a:lstStyle/>
                    <a:p>
                      <a:pPr indent="0" lvl="0" marL="0" rtl="0" algn="l">
                        <a:lnSpc>
                          <a:spcPct val="115000"/>
                        </a:lnSpc>
                        <a:spcBef>
                          <a:spcPts val="0"/>
                        </a:spcBef>
                        <a:spcAft>
                          <a:spcPts val="0"/>
                        </a:spcAft>
                        <a:buClr>
                          <a:schemeClr val="dk1"/>
                        </a:buClr>
                        <a:buSzPts val="1100"/>
                        <a:buFont typeface="Arial"/>
                        <a:buNone/>
                      </a:pPr>
                      <a:r>
                        <a:rPr lang="zh-TW" sz="1300">
                          <a:solidFill>
                            <a:schemeClr val="dk2"/>
                          </a:solidFill>
                        </a:rPr>
                        <a:t>application_{train|test}</a:t>
                      </a:r>
                      <a:endParaRPr sz="1300">
                        <a:solidFill>
                          <a:schemeClr val="dk2"/>
                        </a:solidFill>
                      </a:endParaRPr>
                    </a:p>
                    <a:p>
                      <a:pPr indent="0" lvl="0" marL="0" rtl="0" algn="l">
                        <a:lnSpc>
                          <a:spcPct val="115000"/>
                        </a:lnSpc>
                        <a:spcBef>
                          <a:spcPts val="1200"/>
                        </a:spcBef>
                        <a:spcAft>
                          <a:spcPts val="1200"/>
                        </a:spcAft>
                        <a:buClr>
                          <a:schemeClr val="dk1"/>
                        </a:buClr>
                        <a:buSzPts val="1100"/>
                        <a:buFont typeface="Arial"/>
                        <a:buNone/>
                      </a:pPr>
                      <a:r>
                        <a:rPr lang="zh-TW" sz="1300">
                          <a:solidFill>
                            <a:schemeClr val="dk2"/>
                          </a:solidFill>
                        </a:rPr>
                        <a:t>(main chart)</a:t>
                      </a:r>
                      <a:endParaRPr sz="1300">
                        <a:solidFill>
                          <a:schemeClr val="dk2"/>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zh-TW" sz="1300"/>
                        <a:t>This is the primary data file, where each row represents a loan application.</a:t>
                      </a:r>
                      <a:endParaRPr sz="1300"/>
                    </a:p>
                    <a:p>
                      <a:pPr indent="0" lvl="0" marL="0" rtl="0" algn="l">
                        <a:lnSpc>
                          <a:spcPct val="115000"/>
                        </a:lnSpc>
                        <a:spcBef>
                          <a:spcPts val="1200"/>
                        </a:spcBef>
                        <a:spcAft>
                          <a:spcPts val="0"/>
                        </a:spcAft>
                        <a:buClr>
                          <a:schemeClr val="dk1"/>
                        </a:buClr>
                        <a:buSzPts val="1100"/>
                        <a:buFont typeface="Arial"/>
                        <a:buNone/>
                      </a:pPr>
                      <a:r>
                        <a:rPr b="1" lang="zh-TW" sz="1300"/>
                        <a:t>Target Variable (TARGET):</a:t>
                      </a:r>
                      <a:br>
                        <a:rPr lang="zh-TW" sz="1300"/>
                      </a:br>
                      <a:r>
                        <a:rPr lang="zh-TW" sz="1300"/>
                        <a:t>A value of 1 indicates default, while 0 indicates that the borrower repaid on time without issues.</a:t>
                      </a:r>
                      <a:endParaRPr sz="1300"/>
                    </a:p>
                    <a:p>
                      <a:pPr indent="0" lvl="0" marL="0" rtl="0" algn="l">
                        <a:lnSpc>
                          <a:spcPct val="115000"/>
                        </a:lnSpc>
                        <a:spcBef>
                          <a:spcPts val="1200"/>
                        </a:spcBef>
                        <a:spcAft>
                          <a:spcPts val="1200"/>
                        </a:spcAft>
                        <a:buClr>
                          <a:schemeClr val="dk1"/>
                        </a:buClr>
                        <a:buSzPts val="1100"/>
                        <a:buFont typeface="Arial"/>
                        <a:buNone/>
                      </a:pPr>
                      <a:r>
                        <a:rPr b="1" lang="zh-TW" sz="1300"/>
                        <a:t>Contents:</a:t>
                      </a:r>
                      <a:br>
                        <a:rPr lang="zh-TW" sz="1300"/>
                      </a:br>
                      <a:r>
                        <a:rPr lang="zh-TW" sz="1300"/>
                        <a:t>The dataset includes the applicant’s demographic and financial information, loan-related characteristics, and external credit assessment scores.</a:t>
                      </a:r>
                      <a:endParaRPr sz="1300"/>
                    </a:p>
                  </a:txBody>
                  <a:tcPr marT="91425" marB="91425" marR="91425" marL="91425"/>
                </a:tc>
              </a:tr>
              <a:tr h="438575">
                <a:tc>
                  <a:txBody>
                    <a:bodyPr/>
                    <a:lstStyle/>
                    <a:p>
                      <a:pPr indent="0" lvl="0" marL="0" rtl="0" algn="l">
                        <a:spcBef>
                          <a:spcPts val="0"/>
                        </a:spcBef>
                        <a:spcAft>
                          <a:spcPts val="0"/>
                        </a:spcAft>
                        <a:buNone/>
                      </a:pPr>
                      <a:r>
                        <a:rPr lang="zh-TW" sz="1300"/>
                        <a:t>bureau &amp;</a:t>
                      </a:r>
                      <a:br>
                        <a:rPr lang="zh-TW" sz="1300"/>
                      </a:br>
                      <a:r>
                        <a:rPr lang="zh-TW" sz="1300"/>
                        <a:t>bureau_balance</a:t>
                      </a:r>
                      <a:endParaRPr sz="1300"/>
                    </a:p>
                  </a:txBody>
                  <a:tcPr marT="91425" marB="91425" marR="91425" marL="91425"/>
                </a:tc>
                <a:tc>
                  <a:txBody>
                    <a:bodyPr/>
                    <a:lstStyle/>
                    <a:p>
                      <a:pPr indent="0" lvl="0" marL="0" rtl="0" algn="l">
                        <a:spcBef>
                          <a:spcPts val="0"/>
                        </a:spcBef>
                        <a:spcAft>
                          <a:spcPts val="0"/>
                        </a:spcAft>
                        <a:buNone/>
                      </a:pPr>
                      <a:r>
                        <a:rPr lang="zh-TW" sz="1300"/>
                        <a:t>H</a:t>
                      </a:r>
                      <a:r>
                        <a:rPr lang="zh-TW" sz="1300"/>
                        <a:t>istorical credit records from other financial institutions, obtained from the credit bureau. </a:t>
                      </a:r>
                      <a:endParaRPr sz="1300"/>
                    </a:p>
                  </a:txBody>
                  <a:tcPr marT="91425" marB="91425" marR="91425" marL="91425"/>
                </a:tc>
              </a:tr>
              <a:tr h="438575">
                <a:tc>
                  <a:txBody>
                    <a:bodyPr/>
                    <a:lstStyle/>
                    <a:p>
                      <a:pPr indent="0" lvl="0" marL="0" rtl="0" algn="l">
                        <a:spcBef>
                          <a:spcPts val="0"/>
                        </a:spcBef>
                        <a:spcAft>
                          <a:spcPts val="0"/>
                        </a:spcAft>
                        <a:buNone/>
                      </a:pPr>
                      <a:r>
                        <a:rPr lang="zh-TW" sz="1300"/>
                        <a:t>previous_application</a:t>
                      </a:r>
                      <a:endParaRPr sz="1300"/>
                    </a:p>
                  </a:txBody>
                  <a:tcPr marT="91425" marB="91425" marR="91425" marL="91425"/>
                </a:tc>
                <a:tc>
                  <a:txBody>
                    <a:bodyPr/>
                    <a:lstStyle/>
                    <a:p>
                      <a:pPr indent="0" lvl="0" marL="0" rtl="0" algn="l">
                        <a:spcBef>
                          <a:spcPts val="0"/>
                        </a:spcBef>
                        <a:spcAft>
                          <a:spcPts val="0"/>
                        </a:spcAft>
                        <a:buNone/>
                      </a:pPr>
                      <a:r>
                        <a:rPr lang="zh-TW" sz="1300"/>
                        <a:t>L</a:t>
                      </a:r>
                      <a:r>
                        <a:rPr lang="zh-TW" sz="1300"/>
                        <a:t>oan application history with Home Credit, including both approved and rejected.</a:t>
                      </a:r>
                      <a:endParaRPr sz="1300"/>
                    </a:p>
                  </a:txBody>
                  <a:tcPr marT="91425" marB="91425" marR="91425" marL="91425"/>
                </a:tc>
              </a:tr>
              <a:tr h="438575">
                <a:tc>
                  <a:txBody>
                    <a:bodyPr/>
                    <a:lstStyle/>
                    <a:p>
                      <a:pPr indent="0" lvl="0" marL="0" rtl="0" algn="l">
                        <a:spcBef>
                          <a:spcPts val="0"/>
                        </a:spcBef>
                        <a:spcAft>
                          <a:spcPts val="0"/>
                        </a:spcAft>
                        <a:buNone/>
                      </a:pPr>
                      <a:r>
                        <a:rPr lang="zh-TW" sz="1300"/>
                        <a:t>POS_CASH_balance</a:t>
                      </a:r>
                      <a:endParaRPr sz="1300"/>
                    </a:p>
                  </a:txBody>
                  <a:tcPr marT="91425" marB="91425" marR="91425" marL="91425"/>
                </a:tc>
                <a:tc>
                  <a:txBody>
                    <a:bodyPr/>
                    <a:lstStyle/>
                    <a:p>
                      <a:pPr indent="0" lvl="0" marL="0" rtl="0" algn="l">
                        <a:spcBef>
                          <a:spcPts val="0"/>
                        </a:spcBef>
                        <a:spcAft>
                          <a:spcPts val="0"/>
                        </a:spcAft>
                        <a:buNone/>
                      </a:pPr>
                      <a:r>
                        <a:rPr lang="zh-TW" sz="1300"/>
                        <a:t>M</a:t>
                      </a:r>
                      <a:r>
                        <a:rPr lang="zh-TW" sz="1300"/>
                        <a:t>onthly phone bill usage or point-of-sale (POS) cash balances from past loans. </a:t>
                      </a:r>
                      <a:endParaRPr sz="1300"/>
                    </a:p>
                  </a:txBody>
                  <a:tcPr marT="91425" marB="91425" marR="91425" marL="91425"/>
                </a:tc>
              </a:tr>
              <a:tr h="438575">
                <a:tc>
                  <a:txBody>
                    <a:bodyPr/>
                    <a:lstStyle/>
                    <a:p>
                      <a:pPr indent="0" lvl="0" marL="0" rtl="0" algn="l">
                        <a:spcBef>
                          <a:spcPts val="0"/>
                        </a:spcBef>
                        <a:spcAft>
                          <a:spcPts val="0"/>
                        </a:spcAft>
                        <a:buNone/>
                      </a:pPr>
                      <a:r>
                        <a:rPr lang="zh-TW" sz="1300"/>
                        <a:t>credit_card_balance</a:t>
                      </a:r>
                      <a:endParaRPr sz="1300"/>
                    </a:p>
                  </a:txBody>
                  <a:tcPr marT="91425" marB="91425" marR="91425" marL="91425"/>
                </a:tc>
                <a:tc>
                  <a:txBody>
                    <a:bodyPr/>
                    <a:lstStyle/>
                    <a:p>
                      <a:pPr indent="0" lvl="0" marL="0" rtl="0" algn="l">
                        <a:spcBef>
                          <a:spcPts val="0"/>
                        </a:spcBef>
                        <a:spcAft>
                          <a:spcPts val="0"/>
                        </a:spcAft>
                        <a:buNone/>
                      </a:pPr>
                      <a:r>
                        <a:rPr lang="zh-TW" sz="1300"/>
                        <a:t>Monthly statements of credit card activity previously held by the applicant at Home Credit. </a:t>
                      </a:r>
                      <a:endParaRPr sz="1300"/>
                    </a:p>
                  </a:txBody>
                  <a:tcPr marT="91425" marB="91425" marR="91425" marL="91425"/>
                </a:tc>
              </a:tr>
              <a:tr h="438575">
                <a:tc>
                  <a:txBody>
                    <a:bodyPr/>
                    <a:lstStyle/>
                    <a:p>
                      <a:pPr indent="0" lvl="0" marL="0" rtl="0" algn="l">
                        <a:spcBef>
                          <a:spcPts val="0"/>
                        </a:spcBef>
                        <a:spcAft>
                          <a:spcPts val="0"/>
                        </a:spcAft>
                        <a:buNone/>
                      </a:pPr>
                      <a:r>
                        <a:rPr lang="zh-TW" sz="1300"/>
                        <a:t>installments_payments</a:t>
                      </a:r>
                      <a:endParaRPr sz="1300"/>
                    </a:p>
                  </a:txBody>
                  <a:tcPr marT="91425" marB="91425" marR="91425" marL="91425"/>
                </a:tc>
                <a:tc>
                  <a:txBody>
                    <a:bodyPr/>
                    <a:lstStyle/>
                    <a:p>
                      <a:pPr indent="0" lvl="0" marL="0" rtl="0" algn="l">
                        <a:spcBef>
                          <a:spcPts val="0"/>
                        </a:spcBef>
                        <a:spcAft>
                          <a:spcPts val="0"/>
                        </a:spcAft>
                        <a:buNone/>
                      </a:pPr>
                      <a:r>
                        <a:rPr lang="zh-TW" sz="1300"/>
                        <a:t>Actual repayment records of past loans, which can be used to determine whether payments were made late or partially (i.e., underpaid). </a:t>
                      </a:r>
                      <a:endParaRPr sz="1300"/>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1800">
                <a:solidFill>
                  <a:schemeClr val="dk2"/>
                </a:solidFill>
              </a:rPr>
              <a:t>Experiments</a:t>
            </a:r>
            <a:endParaRPr/>
          </a:p>
        </p:txBody>
      </p:sp>
      <p:sp>
        <p:nvSpPr>
          <p:cNvPr id="115" name="Google Shape;115;p23"/>
          <p:cNvSpPr txBox="1"/>
          <p:nvPr/>
        </p:nvSpPr>
        <p:spPr>
          <a:xfrm>
            <a:off x="2564550" y="487475"/>
            <a:ext cx="85206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 開始進行特徵重要性篩選 ===</a:t>
            </a:r>
            <a:endParaRPr/>
          </a:p>
          <a:p>
            <a:pPr indent="0" lvl="0" marL="0" rtl="0" algn="l">
              <a:spcBef>
                <a:spcPts val="0"/>
              </a:spcBef>
              <a:spcAft>
                <a:spcPts val="0"/>
              </a:spcAft>
              <a:buNone/>
            </a:pPr>
            <a:r>
              <a:rPr lang="zh-TW"/>
              <a:t>--- 前 10 大核心特徵 (對預測違約最關鍵) ---</a:t>
            </a:r>
            <a:endParaRPr/>
          </a:p>
          <a:p>
            <a:pPr indent="0" lvl="0" marL="0" rtl="0" algn="l">
              <a:spcBef>
                <a:spcPts val="0"/>
              </a:spcBef>
              <a:spcAft>
                <a:spcPts val="0"/>
              </a:spcAft>
              <a:buNone/>
            </a:pPr>
            <a:r>
              <a:rPr lang="zh-TW"/>
              <a:t>                                  feature    importance  cumulative_importance</a:t>
            </a:r>
            <a:endParaRPr/>
          </a:p>
          <a:p>
            <a:pPr indent="0" lvl="0" marL="0" rtl="0" algn="l">
              <a:spcBef>
                <a:spcPts val="0"/>
              </a:spcBef>
              <a:spcAft>
                <a:spcPts val="0"/>
              </a:spcAft>
              <a:buNone/>
            </a:pPr>
            <a:r>
              <a:rPr lang="zh-TW">
                <a:highlight>
                  <a:schemeClr val="accent6"/>
                </a:highlight>
              </a:rPr>
              <a:t>0                            EXT_SOURCE_3  44885.387609               0.132849</a:t>
            </a:r>
            <a:endParaRPr>
              <a:highlight>
                <a:schemeClr val="accent6"/>
              </a:highlight>
            </a:endParaRPr>
          </a:p>
          <a:p>
            <a:pPr indent="0" lvl="0" marL="0" rtl="0" algn="l">
              <a:spcBef>
                <a:spcPts val="0"/>
              </a:spcBef>
              <a:spcAft>
                <a:spcPts val="0"/>
              </a:spcAft>
              <a:buNone/>
            </a:pPr>
            <a:r>
              <a:rPr lang="zh-TW">
                <a:highlight>
                  <a:schemeClr val="accent6"/>
                </a:highlight>
              </a:rPr>
              <a:t>1                            EXT_SOURCE_2  43382.461914               0.261249</a:t>
            </a:r>
            <a:endParaRPr>
              <a:highlight>
                <a:schemeClr val="accent6"/>
              </a:highlight>
            </a:endParaRPr>
          </a:p>
          <a:p>
            <a:pPr indent="0" lvl="0" marL="0" rtl="0" algn="l">
              <a:spcBef>
                <a:spcPts val="0"/>
              </a:spcBef>
              <a:spcAft>
                <a:spcPts val="0"/>
              </a:spcAft>
              <a:buNone/>
            </a:pPr>
            <a:r>
              <a:rPr lang="zh-TW">
                <a:highlight>
                  <a:schemeClr val="accent6"/>
                </a:highlight>
              </a:rPr>
              <a:t>2                            EXT_SOURCE_1  15710.935300               0.307749</a:t>
            </a:r>
            <a:endParaRPr>
              <a:highlight>
                <a:schemeClr val="accent6"/>
              </a:highlight>
            </a:endParaRPr>
          </a:p>
          <a:p>
            <a:pPr indent="0" lvl="0" marL="0" rtl="0" algn="l">
              <a:spcBef>
                <a:spcPts val="0"/>
              </a:spcBef>
              <a:spcAft>
                <a:spcPts val="0"/>
              </a:spcAft>
              <a:buNone/>
            </a:pPr>
            <a:r>
              <a:rPr lang="zh-TW"/>
              <a:t>3                              DAYS_BIRTH   8791.091294               0.333768</a:t>
            </a:r>
            <a:endParaRPr/>
          </a:p>
          <a:p>
            <a:pPr indent="0" lvl="0" marL="0" rtl="0" algn="l">
              <a:spcBef>
                <a:spcPts val="0"/>
              </a:spcBef>
              <a:spcAft>
                <a:spcPts val="0"/>
              </a:spcAft>
              <a:buNone/>
            </a:pPr>
            <a:r>
              <a:rPr lang="zh-TW"/>
              <a:t>4                   PREV_CNT_PAYMENT_MEAN   5534.621908               0.350149</a:t>
            </a:r>
            <a:endParaRPr/>
          </a:p>
          <a:p>
            <a:pPr indent="0" lvl="0" marL="0" rtl="0" algn="l">
              <a:spcBef>
                <a:spcPts val="0"/>
              </a:spcBef>
              <a:spcAft>
                <a:spcPts val="0"/>
              </a:spcAft>
              <a:buNone/>
            </a:pPr>
            <a:r>
              <a:rPr lang="zh-TW"/>
              <a:t>5                             AMT_ANNUITY   5298.297277               0.365831</a:t>
            </a:r>
            <a:endParaRPr/>
          </a:p>
          <a:p>
            <a:pPr indent="0" lvl="0" marL="0" rtl="0" algn="l">
              <a:spcBef>
                <a:spcPts val="0"/>
              </a:spcBef>
              <a:spcAft>
                <a:spcPts val="0"/>
              </a:spcAft>
              <a:buNone/>
            </a:pPr>
            <a:r>
              <a:rPr lang="zh-TW"/>
              <a:t>6                              AMT_CREDIT   5248.410231               0.381365</a:t>
            </a:r>
            <a:endParaRPr/>
          </a:p>
          <a:p>
            <a:pPr indent="0" lvl="0" marL="0" rtl="0" algn="l">
              <a:spcBef>
                <a:spcPts val="0"/>
              </a:spcBef>
              <a:spcAft>
                <a:spcPts val="0"/>
              </a:spcAft>
              <a:buNone/>
            </a:pPr>
            <a:r>
              <a:rPr lang="zh-TW"/>
              <a:t>7                         AMT_GOODS_PRICE   4988.308230               0.396129</a:t>
            </a:r>
            <a:endParaRPr/>
          </a:p>
          <a:p>
            <a:pPr indent="0" lvl="0" marL="0" rtl="0" algn="l">
              <a:spcBef>
                <a:spcPts val="0"/>
              </a:spcBef>
              <a:spcAft>
                <a:spcPts val="0"/>
              </a:spcAft>
              <a:buNone/>
            </a:pPr>
            <a:r>
              <a:rPr lang="zh-TW"/>
              <a:t>8                           DAYS_EMPLOYED   4647.467375               0.409884</a:t>
            </a:r>
            <a:endParaRPr/>
          </a:p>
          <a:p>
            <a:pPr indent="0" lvl="0" marL="0" rtl="0" algn="l">
              <a:spcBef>
                <a:spcPts val="0"/>
              </a:spcBef>
              <a:spcAft>
                <a:spcPts val="0"/>
              </a:spcAft>
              <a:buNone/>
            </a:pPr>
            <a:r>
              <a:rPr lang="zh-TW"/>
              <a:t>9  PREV_NAME_CONTRACT_STATUS_Refused_MEAN   4565.145148               0.423395</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總共有 72 個特徵的貢獻度完全為 0。</a:t>
            </a:r>
            <a:endParaRPr/>
          </a:p>
          <a:p>
            <a:pPr indent="0" lvl="0" marL="0" rtl="0" algn="l">
              <a:spcBef>
                <a:spcPts val="0"/>
              </a:spcBef>
              <a:spcAft>
                <a:spcPts val="0"/>
              </a:spcAft>
              <a:buNone/>
            </a:pPr>
            <a:r>
              <a:rPr lang="zh-TW"/>
              <a:t>🎉 降維成功！特徵欄位數從 632 個 成功精簡至 406 個！</a:t>
            </a:r>
            <a:endParaRPr/>
          </a:p>
          <a:p>
            <a:pPr indent="0" lvl="0" marL="0" rtl="0" algn="l">
              <a:spcBef>
                <a:spcPts val="0"/>
              </a:spcBef>
              <a:spcAft>
                <a:spcPts val="0"/>
              </a:spcAft>
              <a:buNone/>
            </a:pPr>
            <a:r>
              <a:rPr lang="zh-TW"/>
              <a:t>下一輪準備就緒！特徵形狀: (307511, 406)</a:t>
            </a:r>
            <a:endParaRPr/>
          </a:p>
        </p:txBody>
      </p:sp>
      <p:sp>
        <p:nvSpPr>
          <p:cNvPr id="116" name="Google Shape;116;p23"/>
          <p:cNvSpPr txBox="1"/>
          <p:nvPr/>
        </p:nvSpPr>
        <p:spPr>
          <a:xfrm>
            <a:off x="206600" y="1633300"/>
            <a:ext cx="2253000" cy="7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2"/>
                </a:solidFill>
              </a:rPr>
              <a:t>bu+prev </a:t>
            </a:r>
            <a:endParaRPr sz="1800">
              <a:solidFill>
                <a:schemeClr val="dk2"/>
              </a:solidFill>
            </a:endParaRPr>
          </a:p>
          <a:p>
            <a:pPr indent="0" lvl="0" marL="0" rtl="0" algn="l">
              <a:spcBef>
                <a:spcPts val="0"/>
              </a:spcBef>
              <a:spcAft>
                <a:spcPts val="0"/>
              </a:spcAft>
              <a:buNone/>
            </a:pPr>
            <a:r>
              <a:rPr lang="zh-TW" sz="1800">
                <a:solidFill>
                  <a:schemeClr val="dk2"/>
                </a:solidFill>
              </a:rPr>
              <a:t>(bureau + previous application before adding magic feature)</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zh-TW" sz="2700"/>
              <a:t>Experiments</a:t>
            </a:r>
            <a:endParaRPr sz="2700"/>
          </a:p>
        </p:txBody>
      </p:sp>
      <p:sp>
        <p:nvSpPr>
          <p:cNvPr id="122" name="Google Shape;122;p24"/>
          <p:cNvSpPr txBox="1"/>
          <p:nvPr/>
        </p:nvSpPr>
        <p:spPr>
          <a:xfrm>
            <a:off x="168125" y="941750"/>
            <a:ext cx="47106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訓練集形狀: (307511, 632),</a:t>
            </a:r>
            <a:endParaRPr/>
          </a:p>
          <a:p>
            <a:pPr indent="0" lvl="0" marL="0" rtl="0" algn="l">
              <a:spcBef>
                <a:spcPts val="0"/>
              </a:spcBef>
              <a:spcAft>
                <a:spcPts val="0"/>
              </a:spcAft>
              <a:buNone/>
            </a:pPr>
            <a:r>
              <a:rPr lang="zh-TW"/>
              <a:t>測試集形狀: (48744, 632)</a:t>
            </a:r>
            <a:endParaRPr/>
          </a:p>
          <a:p>
            <a:pPr indent="0" lvl="0" marL="0" rtl="0" algn="l">
              <a:spcBef>
                <a:spcPts val="0"/>
              </a:spcBef>
              <a:spcAft>
                <a:spcPts val="0"/>
              </a:spcAft>
              <a:buNone/>
            </a:pPr>
            <a:r>
              <a:rPr lang="zh-TW"/>
              <a:t>Fold 1 AUC: 0.78487</a:t>
            </a:r>
            <a:endParaRPr/>
          </a:p>
          <a:p>
            <a:pPr indent="0" lvl="0" marL="0" rtl="0" algn="l">
              <a:spcBef>
                <a:spcPts val="0"/>
              </a:spcBef>
              <a:spcAft>
                <a:spcPts val="0"/>
              </a:spcAft>
              <a:buNone/>
            </a:pPr>
            <a:r>
              <a:rPr lang="zh-TW"/>
              <a:t>Fold 2 AUC: 0.79321</a:t>
            </a:r>
            <a:endParaRPr/>
          </a:p>
          <a:p>
            <a:pPr indent="0" lvl="0" marL="0" rtl="0" algn="l">
              <a:spcBef>
                <a:spcPts val="0"/>
              </a:spcBef>
              <a:spcAft>
                <a:spcPts val="0"/>
              </a:spcAft>
              <a:buNone/>
            </a:pPr>
            <a:r>
              <a:rPr lang="zh-TW"/>
              <a:t>Fold 3 AUC: 0.78543</a:t>
            </a:r>
            <a:endParaRPr/>
          </a:p>
          <a:p>
            <a:pPr indent="0" lvl="0" marL="0" rtl="0" algn="l">
              <a:spcBef>
                <a:spcPts val="0"/>
              </a:spcBef>
              <a:spcAft>
                <a:spcPts val="0"/>
              </a:spcAft>
              <a:buNone/>
            </a:pPr>
            <a:r>
              <a:rPr lang="zh-TW"/>
              <a:t>Fold 4 AUC: 0.79072</a:t>
            </a:r>
            <a:endParaRPr/>
          </a:p>
          <a:p>
            <a:pPr indent="0" lvl="0" marL="0" rtl="0" algn="l">
              <a:spcBef>
                <a:spcPts val="0"/>
              </a:spcBef>
              <a:spcAft>
                <a:spcPts val="0"/>
              </a:spcAft>
              <a:buNone/>
            </a:pPr>
            <a:r>
              <a:rPr lang="zh-TW"/>
              <a:t>Fold 5 AUC: 0.78362</a:t>
            </a:r>
            <a:endParaRPr/>
          </a:p>
          <a:p>
            <a:pPr indent="0" lvl="0" marL="0" rtl="0" algn="l">
              <a:spcBef>
                <a:spcPts val="0"/>
              </a:spcBef>
              <a:spcAft>
                <a:spcPts val="0"/>
              </a:spcAft>
              <a:buNone/>
            </a:pPr>
            <a:r>
              <a:rPr lang="zh-TW"/>
              <a:t>整體 OOF AUC: 0.78747</a:t>
            </a:r>
            <a:endParaRPr/>
          </a:p>
        </p:txBody>
      </p:sp>
      <p:sp>
        <p:nvSpPr>
          <p:cNvPr id="123" name="Google Shape;123;p24"/>
          <p:cNvSpPr txBox="1"/>
          <p:nvPr/>
        </p:nvSpPr>
        <p:spPr>
          <a:xfrm>
            <a:off x="2564550" y="487475"/>
            <a:ext cx="85206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 開始進行特徵重要性篩選 ===</a:t>
            </a:r>
            <a:endParaRPr/>
          </a:p>
          <a:p>
            <a:pPr indent="0" lvl="0" marL="0" rtl="0" algn="l">
              <a:spcBef>
                <a:spcPts val="0"/>
              </a:spcBef>
              <a:spcAft>
                <a:spcPts val="0"/>
              </a:spcAft>
              <a:buNone/>
            </a:pPr>
            <a:r>
              <a:rPr lang="zh-TW"/>
              <a:t>--- 前 10 大核心特徵 (對預測違約最關鍵) ---</a:t>
            </a:r>
            <a:endParaRPr/>
          </a:p>
          <a:p>
            <a:pPr indent="0" lvl="0" marL="0" rtl="0" algn="l">
              <a:spcBef>
                <a:spcPts val="0"/>
              </a:spcBef>
              <a:spcAft>
                <a:spcPts val="0"/>
              </a:spcAft>
              <a:buNone/>
            </a:pPr>
            <a:r>
              <a:rPr lang="zh-TW"/>
              <a:t>                             feature    importance  cumulative_importance</a:t>
            </a:r>
            <a:endParaRPr/>
          </a:p>
          <a:p>
            <a:pPr indent="0" lvl="0" marL="0" rtl="0" algn="l">
              <a:spcBef>
                <a:spcPts val="0"/>
              </a:spcBef>
              <a:spcAft>
                <a:spcPts val="0"/>
              </a:spcAft>
              <a:buNone/>
            </a:pPr>
            <a:r>
              <a:rPr lang="zh-TW">
                <a:solidFill>
                  <a:schemeClr val="dk1"/>
                </a:solidFill>
                <a:highlight>
                  <a:schemeClr val="accent6"/>
                </a:highlight>
              </a:rPr>
              <a:t>0             MAGIC_EXT_SOURCES_MEAN  44577.958178               0.164677</a:t>
            </a:r>
            <a:endParaRPr>
              <a:solidFill>
                <a:schemeClr val="dk1"/>
              </a:solidFill>
              <a:highlight>
                <a:schemeClr val="accent6"/>
              </a:highlight>
            </a:endParaRPr>
          </a:p>
          <a:p>
            <a:pPr indent="0" lvl="0" marL="0" rtl="0" algn="l">
              <a:spcBef>
                <a:spcPts val="0"/>
              </a:spcBef>
              <a:spcAft>
                <a:spcPts val="0"/>
              </a:spcAft>
              <a:buNone/>
            </a:pPr>
            <a:r>
              <a:rPr lang="zh-TW">
                <a:solidFill>
                  <a:schemeClr val="dk1"/>
                </a:solidFill>
                <a:highlight>
                  <a:schemeClr val="accent6"/>
                </a:highlight>
              </a:rPr>
              <a:t>1              MAGIC_EXT_SOURCES_MIN  16465.286496               0.225502</a:t>
            </a:r>
            <a:endParaRPr>
              <a:solidFill>
                <a:schemeClr val="dk1"/>
              </a:solidFill>
              <a:highlight>
                <a:schemeClr val="accent6"/>
              </a:highlight>
            </a:endParaRPr>
          </a:p>
          <a:p>
            <a:pPr indent="0" lvl="0" marL="0" rtl="0" algn="l">
              <a:spcBef>
                <a:spcPts val="0"/>
              </a:spcBef>
              <a:spcAft>
                <a:spcPts val="0"/>
              </a:spcAft>
              <a:buNone/>
            </a:pPr>
            <a:r>
              <a:rPr lang="zh-TW">
                <a:solidFill>
                  <a:schemeClr val="dk1"/>
                </a:solidFill>
                <a:highlight>
                  <a:schemeClr val="accent6"/>
                </a:highlight>
              </a:rPr>
              <a:t>2              MAGIC_EXT_SOURCES_MAX   7913.668931               0.254736</a:t>
            </a:r>
            <a:endParaRPr>
              <a:solidFill>
                <a:schemeClr val="dk1"/>
              </a:solidFill>
              <a:highlight>
                <a:schemeClr val="accent6"/>
              </a:highlight>
            </a:endParaRPr>
          </a:p>
          <a:p>
            <a:pPr indent="0" lvl="0" marL="0" rtl="0" algn="l">
              <a:spcBef>
                <a:spcPts val="0"/>
              </a:spcBef>
              <a:spcAft>
                <a:spcPts val="0"/>
              </a:spcAft>
              <a:buNone/>
            </a:pPr>
            <a:r>
              <a:rPr lang="zh-TW"/>
              <a:t>3      MAGIC_ANNUITY_TO_CREDIT_RATIO   6087.959786               0.277225</a:t>
            </a:r>
            <a:endParaRPr/>
          </a:p>
          <a:p>
            <a:pPr indent="0" lvl="0" marL="0" rtl="0" algn="l">
              <a:spcBef>
                <a:spcPts val="0"/>
              </a:spcBef>
              <a:spcAft>
                <a:spcPts val="0"/>
              </a:spcAft>
              <a:buNone/>
            </a:pPr>
            <a:r>
              <a:rPr lang="zh-TW"/>
              <a:t>4                       EXT_SOURCE_3   4385.693044               0.293427</a:t>
            </a:r>
            <a:endParaRPr/>
          </a:p>
          <a:p>
            <a:pPr indent="0" lvl="0" marL="0" rtl="0" algn="l">
              <a:spcBef>
                <a:spcPts val="0"/>
              </a:spcBef>
              <a:spcAft>
                <a:spcPts val="0"/>
              </a:spcAft>
              <a:buNone/>
            </a:pPr>
            <a:r>
              <a:rPr lang="zh-TW"/>
              <a:t>5       CC_6M_CC_LIMIT_USE_RATIO_MAX   4226.744103               0.309041</a:t>
            </a:r>
            <a:endParaRPr/>
          </a:p>
          <a:p>
            <a:pPr indent="0" lvl="0" marL="0" rtl="0" algn="l">
              <a:spcBef>
                <a:spcPts val="0"/>
              </a:spcBef>
              <a:spcAft>
                <a:spcPts val="0"/>
              </a:spcAft>
              <a:buNone/>
            </a:pPr>
            <a:r>
              <a:rPr lang="zh-TW"/>
              <a:t>6                         DAYS_BIRTH   4204.079051               0.324571</a:t>
            </a:r>
            <a:endParaRPr/>
          </a:p>
          <a:p>
            <a:pPr indent="0" lvl="0" marL="0" rtl="0" algn="l">
              <a:spcBef>
                <a:spcPts val="0"/>
              </a:spcBef>
              <a:spcAft>
                <a:spcPts val="0"/>
              </a:spcAft>
              <a:buNone/>
            </a:pPr>
            <a:r>
              <a:rPr lang="zh-TW"/>
              <a:t>7        MAGIC_CREDIT_TO_GOODS_RATIO   4030.467817               0.339460</a:t>
            </a:r>
            <a:endParaRPr/>
          </a:p>
          <a:p>
            <a:pPr indent="0" lvl="0" marL="0" rtl="0" algn="l">
              <a:spcBef>
                <a:spcPts val="0"/>
              </a:spcBef>
              <a:spcAft>
                <a:spcPts val="0"/>
              </a:spcAft>
              <a:buNone/>
            </a:pPr>
            <a:r>
              <a:rPr lang="zh-TW"/>
              <a:t>8  POS_6M_CNT_INSTALMENT_FUTURE_MEAN   3492.832447       0.352363</a:t>
            </a:r>
            <a:endParaRPr/>
          </a:p>
          <a:p>
            <a:pPr indent="0" lvl="0" marL="0" rtl="0" algn="l">
              <a:spcBef>
                <a:spcPts val="0"/>
              </a:spcBef>
              <a:spcAft>
                <a:spcPts val="0"/>
              </a:spcAft>
              <a:buNone/>
            </a:pPr>
            <a:r>
              <a:rPr lang="zh-TW"/>
              <a:t>9           BUREAU_DAYS_CREDIT_MAX_y   2504.324166               0.361615</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總共有 72 個特徵的貢獻度完全為 0。</a:t>
            </a:r>
            <a:endParaRPr/>
          </a:p>
          <a:p>
            <a:pPr indent="0" lvl="0" marL="0" rtl="0" algn="l">
              <a:spcBef>
                <a:spcPts val="0"/>
              </a:spcBef>
              <a:spcAft>
                <a:spcPts val="0"/>
              </a:spcAft>
              <a:buNone/>
            </a:pPr>
            <a:r>
              <a:rPr lang="zh-TW"/>
              <a:t>🎉 降維成功！特徵欄位數從 632 個 成功精簡至 406 個！</a:t>
            </a:r>
            <a:endParaRPr/>
          </a:p>
          <a:p>
            <a:pPr indent="0" lvl="0" marL="0" rtl="0" algn="l">
              <a:spcBef>
                <a:spcPts val="0"/>
              </a:spcBef>
              <a:spcAft>
                <a:spcPts val="0"/>
              </a:spcAft>
              <a:buNone/>
            </a:pPr>
            <a:r>
              <a:rPr lang="zh-TW"/>
              <a:t>下一輪準備就緒！特徵形狀: (307511, 406)</a:t>
            </a:r>
            <a:endParaRPr/>
          </a:p>
        </p:txBody>
      </p:sp>
      <p:sp>
        <p:nvSpPr>
          <p:cNvPr id="124" name="Google Shape;124;p24"/>
          <p:cNvSpPr txBox="1"/>
          <p:nvPr/>
        </p:nvSpPr>
        <p:spPr>
          <a:xfrm>
            <a:off x="1809875" y="140850"/>
            <a:ext cx="2848200" cy="2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2"/>
                </a:solidFill>
              </a:rPr>
              <a:t>final version</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 name="Shape 128"/>
        <p:cNvGrpSpPr/>
        <p:nvPr/>
      </p:nvGrpSpPr>
      <p:grpSpPr>
        <a:xfrm>
          <a:off x="0" y="0"/>
          <a:ext cx="0" cy="0"/>
          <a:chOff x="0" y="0"/>
          <a:chExt cx="0" cy="0"/>
        </a:xfrm>
      </p:grpSpPr>
      <p:graphicFrame>
        <p:nvGraphicFramePr>
          <p:cNvPr id="129" name="Google Shape;129;p25"/>
          <p:cNvGraphicFramePr/>
          <p:nvPr/>
        </p:nvGraphicFramePr>
        <p:xfrm>
          <a:off x="0" y="626463"/>
          <a:ext cx="3000000" cy="3000000"/>
        </p:xfrm>
        <a:graphic>
          <a:graphicData uri="http://schemas.openxmlformats.org/drawingml/2006/table">
            <a:tbl>
              <a:tblPr>
                <a:noFill/>
                <a:tableStyleId>{0139891B-DBC0-4DAB-9BA9-325B1C9457D1}</a:tableStyleId>
              </a:tblPr>
              <a:tblGrid>
                <a:gridCol w="3506825"/>
                <a:gridCol w="4356750"/>
                <a:gridCol w="1280425"/>
              </a:tblGrid>
              <a:tr h="391025">
                <a:tc>
                  <a:txBody>
                    <a:bodyPr/>
                    <a:lstStyle/>
                    <a:p>
                      <a:pPr indent="0" lvl="0" marL="0" rtl="0" algn="l">
                        <a:spcBef>
                          <a:spcPts val="0"/>
                        </a:spcBef>
                        <a:spcAft>
                          <a:spcPts val="0"/>
                        </a:spcAft>
                        <a:buNone/>
                      </a:pPr>
                      <a:r>
                        <a:rPr lang="zh-TW" sz="1200"/>
                        <a:t>Feature</a:t>
                      </a:r>
                      <a:endParaRPr sz="1200"/>
                    </a:p>
                  </a:txBody>
                  <a:tcPr marT="91425" marB="91425" marR="91425" marL="91425">
                    <a:solidFill>
                      <a:schemeClr val="lt2"/>
                    </a:solidFill>
                  </a:tcPr>
                </a:tc>
                <a:tc>
                  <a:txBody>
                    <a:bodyPr/>
                    <a:lstStyle/>
                    <a:p>
                      <a:pPr indent="0" lvl="0" marL="0" rtl="0" algn="l">
                        <a:spcBef>
                          <a:spcPts val="0"/>
                        </a:spcBef>
                        <a:spcAft>
                          <a:spcPts val="0"/>
                        </a:spcAft>
                        <a:buNone/>
                      </a:pPr>
                      <a:r>
                        <a:rPr lang="zh-TW" sz="1200"/>
                        <a:t>Meaning</a:t>
                      </a:r>
                      <a:endParaRPr sz="1200"/>
                    </a:p>
                  </a:txBody>
                  <a:tcPr marT="91425" marB="91425" marR="91425" marL="91425">
                    <a:solidFill>
                      <a:schemeClr val="lt2"/>
                    </a:solidFill>
                  </a:tcPr>
                </a:tc>
                <a:tc>
                  <a:txBody>
                    <a:bodyPr/>
                    <a:lstStyle/>
                    <a:p>
                      <a:pPr indent="0" lvl="0" marL="0" rtl="0" algn="r">
                        <a:spcBef>
                          <a:spcPts val="0"/>
                        </a:spcBef>
                        <a:spcAft>
                          <a:spcPts val="0"/>
                        </a:spcAft>
                        <a:buNone/>
                      </a:pPr>
                      <a:r>
                        <a:rPr lang="zh-TW" sz="1200"/>
                        <a:t>Importance</a:t>
                      </a:r>
                      <a:endParaRPr sz="1200"/>
                    </a:p>
                  </a:txBody>
                  <a:tcPr marT="91425" marB="91425" marR="91425" marL="91425">
                    <a:solidFill>
                      <a:schemeClr val="lt2"/>
                    </a:solidFill>
                  </a:tcPr>
                </a:tc>
              </a:tr>
              <a:tr h="391025">
                <a:tc>
                  <a:txBody>
                    <a:bodyPr/>
                    <a:lstStyle/>
                    <a:p>
                      <a:pPr indent="0" lvl="0" marL="0" rtl="0" algn="l">
                        <a:spcBef>
                          <a:spcPts val="0"/>
                        </a:spcBef>
                        <a:spcAft>
                          <a:spcPts val="0"/>
                        </a:spcAft>
                        <a:buNone/>
                      </a:pPr>
                      <a:r>
                        <a:rPr lang="zh-TW" sz="1200"/>
                        <a:t>MAGIC_EXT_SOURCES_MEAN</a:t>
                      </a:r>
                      <a:endParaRPr sz="1200"/>
                    </a:p>
                  </a:txBody>
                  <a:tcPr marT="91425" marB="91425" marR="91425" marL="91425"/>
                </a:tc>
                <a:tc>
                  <a:txBody>
                    <a:bodyPr/>
                    <a:lstStyle/>
                    <a:p>
                      <a:pPr indent="0" lvl="0" marL="0" rtl="0" algn="l">
                        <a:spcBef>
                          <a:spcPts val="0"/>
                        </a:spcBef>
                        <a:spcAft>
                          <a:spcPts val="0"/>
                        </a:spcAft>
                        <a:buNone/>
                      </a:pPr>
                      <a:r>
                        <a:rPr lang="zh-TW" sz="1200"/>
                        <a:t>Mean score from external data sources</a:t>
                      </a:r>
                      <a:endParaRPr sz="1200"/>
                    </a:p>
                  </a:txBody>
                  <a:tcPr marT="91425" marB="91425" marR="91425" marL="91425"/>
                </a:tc>
                <a:tc>
                  <a:txBody>
                    <a:bodyPr/>
                    <a:lstStyle/>
                    <a:p>
                      <a:pPr indent="0" lvl="0" marL="0" rtl="0" algn="r">
                        <a:spcBef>
                          <a:spcPts val="0"/>
                        </a:spcBef>
                        <a:spcAft>
                          <a:spcPts val="0"/>
                        </a:spcAft>
                        <a:buClr>
                          <a:schemeClr val="dk1"/>
                        </a:buClr>
                        <a:buSzPts val="1100"/>
                        <a:buFont typeface="Arial"/>
                        <a:buNone/>
                      </a:pPr>
                      <a:r>
                        <a:rPr lang="zh-TW" sz="1200">
                          <a:solidFill>
                            <a:schemeClr val="dk1"/>
                          </a:solidFill>
                        </a:rPr>
                        <a:t>44577.958178</a:t>
                      </a:r>
                      <a:endParaRPr sz="1200"/>
                    </a:p>
                  </a:txBody>
                  <a:tcPr marT="91425" marB="91425" marR="91425" marL="91425"/>
                </a:tc>
              </a:tr>
              <a:tr h="391025">
                <a:tc>
                  <a:txBody>
                    <a:bodyPr/>
                    <a:lstStyle/>
                    <a:p>
                      <a:pPr indent="0" lvl="0" marL="0" rtl="0" algn="l">
                        <a:spcBef>
                          <a:spcPts val="0"/>
                        </a:spcBef>
                        <a:spcAft>
                          <a:spcPts val="0"/>
                        </a:spcAft>
                        <a:buClr>
                          <a:schemeClr val="dk1"/>
                        </a:buClr>
                        <a:buSzPts val="1100"/>
                        <a:buFont typeface="Arial"/>
                        <a:buNone/>
                      </a:pPr>
                      <a:r>
                        <a:rPr lang="zh-TW" sz="1200">
                          <a:solidFill>
                            <a:schemeClr val="dk1"/>
                          </a:solidFill>
                        </a:rPr>
                        <a:t>MAGIC_EXT_SOURCES_MIN</a:t>
                      </a:r>
                      <a:endParaRPr sz="12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zh-TW" sz="1200">
                          <a:solidFill>
                            <a:schemeClr val="dk1"/>
                          </a:solidFill>
                        </a:rPr>
                        <a:t>Min score from external data sources</a:t>
                      </a:r>
                      <a:endParaRPr sz="1200"/>
                    </a:p>
                  </a:txBody>
                  <a:tcPr marT="91425" marB="91425" marR="91425" marL="91425"/>
                </a:tc>
                <a:tc>
                  <a:txBody>
                    <a:bodyPr/>
                    <a:lstStyle/>
                    <a:p>
                      <a:pPr indent="0" lvl="0" marL="0" rtl="0" algn="r">
                        <a:spcBef>
                          <a:spcPts val="0"/>
                        </a:spcBef>
                        <a:spcAft>
                          <a:spcPts val="0"/>
                        </a:spcAft>
                        <a:buClr>
                          <a:schemeClr val="dk1"/>
                        </a:buClr>
                        <a:buSzPts val="1100"/>
                        <a:buFont typeface="Arial"/>
                        <a:buNone/>
                      </a:pPr>
                      <a:r>
                        <a:rPr lang="zh-TW" sz="1200">
                          <a:solidFill>
                            <a:schemeClr val="dk1"/>
                          </a:solidFill>
                        </a:rPr>
                        <a:t>16465.286496</a:t>
                      </a:r>
                      <a:endParaRPr sz="1200"/>
                    </a:p>
                  </a:txBody>
                  <a:tcPr marT="91425" marB="91425" marR="91425" marL="91425"/>
                </a:tc>
              </a:tr>
              <a:tr h="391025">
                <a:tc>
                  <a:txBody>
                    <a:bodyPr/>
                    <a:lstStyle/>
                    <a:p>
                      <a:pPr indent="0" lvl="0" marL="0" rtl="0" algn="l">
                        <a:spcBef>
                          <a:spcPts val="0"/>
                        </a:spcBef>
                        <a:spcAft>
                          <a:spcPts val="0"/>
                        </a:spcAft>
                        <a:buClr>
                          <a:schemeClr val="dk1"/>
                        </a:buClr>
                        <a:buSzPts val="1100"/>
                        <a:buFont typeface="Arial"/>
                        <a:buNone/>
                      </a:pPr>
                      <a:r>
                        <a:rPr lang="zh-TW" sz="1200">
                          <a:solidFill>
                            <a:schemeClr val="dk1"/>
                          </a:solidFill>
                        </a:rPr>
                        <a:t>MAGIC_EXT_SOURCES_MAX</a:t>
                      </a:r>
                      <a:endParaRPr sz="12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zh-TW" sz="1200">
                          <a:solidFill>
                            <a:schemeClr val="dk1"/>
                          </a:solidFill>
                        </a:rPr>
                        <a:t>Max score from external data sources</a:t>
                      </a:r>
                      <a:endParaRPr sz="1200"/>
                    </a:p>
                  </a:txBody>
                  <a:tcPr marT="91425" marB="91425" marR="91425" marL="91425"/>
                </a:tc>
                <a:tc>
                  <a:txBody>
                    <a:bodyPr/>
                    <a:lstStyle/>
                    <a:p>
                      <a:pPr indent="0" lvl="0" marL="0" rtl="0" algn="r">
                        <a:spcBef>
                          <a:spcPts val="0"/>
                        </a:spcBef>
                        <a:spcAft>
                          <a:spcPts val="0"/>
                        </a:spcAft>
                        <a:buClr>
                          <a:schemeClr val="dk1"/>
                        </a:buClr>
                        <a:buSzPts val="1100"/>
                        <a:buFont typeface="Arial"/>
                        <a:buNone/>
                      </a:pPr>
                      <a:r>
                        <a:rPr lang="zh-TW" sz="1200">
                          <a:solidFill>
                            <a:schemeClr val="dk1"/>
                          </a:solidFill>
                        </a:rPr>
                        <a:t>7913.668931</a:t>
                      </a:r>
                      <a:endParaRPr sz="1200"/>
                    </a:p>
                  </a:txBody>
                  <a:tcPr marT="91425" marB="91425" marR="91425" marL="91425"/>
                </a:tc>
              </a:tr>
              <a:tr h="100000">
                <a:tc>
                  <a:txBody>
                    <a:bodyPr/>
                    <a:lstStyle/>
                    <a:p>
                      <a:pPr indent="0" lvl="0" marL="0" rtl="0" algn="l">
                        <a:spcBef>
                          <a:spcPts val="0"/>
                        </a:spcBef>
                        <a:spcAft>
                          <a:spcPts val="0"/>
                        </a:spcAft>
                        <a:buClr>
                          <a:schemeClr val="dk1"/>
                        </a:buClr>
                        <a:buSzPts val="1100"/>
                        <a:buFont typeface="Arial"/>
                        <a:buNone/>
                      </a:pPr>
                      <a:r>
                        <a:rPr lang="zh-TW" sz="1200">
                          <a:solidFill>
                            <a:schemeClr val="dk1"/>
                          </a:solidFill>
                        </a:rPr>
                        <a:t>MAGIC_ANNUITY_TO_CREDIT_RATIO</a:t>
                      </a:r>
                      <a:endParaRPr sz="1200"/>
                    </a:p>
                  </a:txBody>
                  <a:tcPr marT="91425" marB="91425" marR="91425" marL="91425"/>
                </a:tc>
                <a:tc>
                  <a:txBody>
                    <a:bodyPr/>
                    <a:lstStyle/>
                    <a:p>
                      <a:pPr indent="0" lvl="0" marL="0" rtl="0" algn="l">
                        <a:spcBef>
                          <a:spcPts val="0"/>
                        </a:spcBef>
                        <a:spcAft>
                          <a:spcPts val="0"/>
                        </a:spcAft>
                        <a:buNone/>
                      </a:pPr>
                      <a:r>
                        <a:rPr lang="zh-TW" sz="1200"/>
                        <a:t>1 / Repayment period</a:t>
                      </a:r>
                      <a:endParaRPr sz="1200"/>
                    </a:p>
                  </a:txBody>
                  <a:tcPr marT="91425" marB="91425" marR="91425" marL="91425"/>
                </a:tc>
                <a:tc>
                  <a:txBody>
                    <a:bodyPr/>
                    <a:lstStyle/>
                    <a:p>
                      <a:pPr indent="0" lvl="0" marL="0" rtl="0" algn="r">
                        <a:spcBef>
                          <a:spcPts val="0"/>
                        </a:spcBef>
                        <a:spcAft>
                          <a:spcPts val="0"/>
                        </a:spcAft>
                        <a:buClr>
                          <a:schemeClr val="dk1"/>
                        </a:buClr>
                        <a:buSzPts val="1100"/>
                        <a:buFont typeface="Arial"/>
                        <a:buNone/>
                      </a:pPr>
                      <a:r>
                        <a:rPr lang="zh-TW" sz="1200">
                          <a:solidFill>
                            <a:schemeClr val="dk1"/>
                          </a:solidFill>
                        </a:rPr>
                        <a:t>6087.959786</a:t>
                      </a:r>
                      <a:endParaRPr sz="1200"/>
                    </a:p>
                  </a:txBody>
                  <a:tcPr marT="91425" marB="91425" marR="91425" marL="91425"/>
                </a:tc>
              </a:tr>
              <a:tr h="391025">
                <a:tc>
                  <a:txBody>
                    <a:bodyPr/>
                    <a:lstStyle/>
                    <a:p>
                      <a:pPr indent="0" lvl="0" marL="0" rtl="0" algn="l">
                        <a:spcBef>
                          <a:spcPts val="0"/>
                        </a:spcBef>
                        <a:spcAft>
                          <a:spcPts val="0"/>
                        </a:spcAft>
                        <a:buClr>
                          <a:schemeClr val="dk1"/>
                        </a:buClr>
                        <a:buSzPts val="1100"/>
                        <a:buFont typeface="Arial"/>
                        <a:buNone/>
                      </a:pPr>
                      <a:r>
                        <a:rPr lang="zh-TW" sz="1200">
                          <a:solidFill>
                            <a:schemeClr val="dk1"/>
                          </a:solidFill>
                        </a:rPr>
                        <a:t>EXT_SOURCE_3</a:t>
                      </a:r>
                      <a:endParaRPr sz="1200"/>
                    </a:p>
                  </a:txBody>
                  <a:tcPr marT="91425" marB="91425" marR="91425" marL="91425"/>
                </a:tc>
                <a:tc>
                  <a:txBody>
                    <a:bodyPr/>
                    <a:lstStyle/>
                    <a:p>
                      <a:pPr indent="0" lvl="0" marL="0" rtl="0" algn="l">
                        <a:spcBef>
                          <a:spcPts val="0"/>
                        </a:spcBef>
                        <a:spcAft>
                          <a:spcPts val="0"/>
                        </a:spcAft>
                        <a:buNone/>
                      </a:pPr>
                      <a:r>
                        <a:rPr lang="zh-TW" sz="1200"/>
                        <a:t>Normalized score from external data source</a:t>
                      </a:r>
                      <a:endParaRPr sz="1200"/>
                    </a:p>
                  </a:txBody>
                  <a:tcPr marT="91425" marB="91425" marR="91425" marL="91425"/>
                </a:tc>
                <a:tc>
                  <a:txBody>
                    <a:bodyPr/>
                    <a:lstStyle/>
                    <a:p>
                      <a:pPr indent="0" lvl="0" marL="0" rtl="0" algn="r">
                        <a:spcBef>
                          <a:spcPts val="0"/>
                        </a:spcBef>
                        <a:spcAft>
                          <a:spcPts val="0"/>
                        </a:spcAft>
                        <a:buClr>
                          <a:schemeClr val="dk1"/>
                        </a:buClr>
                        <a:buSzPts val="1100"/>
                        <a:buFont typeface="Arial"/>
                        <a:buNone/>
                      </a:pPr>
                      <a:r>
                        <a:rPr lang="zh-TW" sz="1200">
                          <a:solidFill>
                            <a:schemeClr val="dk1"/>
                          </a:solidFill>
                        </a:rPr>
                        <a:t>4385.693044</a:t>
                      </a:r>
                      <a:endParaRPr sz="1200"/>
                    </a:p>
                  </a:txBody>
                  <a:tcPr marT="91425" marB="91425" marR="91425" marL="91425"/>
                </a:tc>
              </a:tr>
              <a:tr h="100000">
                <a:tc>
                  <a:txBody>
                    <a:bodyPr/>
                    <a:lstStyle/>
                    <a:p>
                      <a:pPr indent="0" lvl="0" marL="0" rtl="0" algn="l">
                        <a:spcBef>
                          <a:spcPts val="0"/>
                        </a:spcBef>
                        <a:spcAft>
                          <a:spcPts val="0"/>
                        </a:spcAft>
                        <a:buNone/>
                      </a:pPr>
                      <a:r>
                        <a:rPr lang="zh-TW" sz="1200">
                          <a:solidFill>
                            <a:schemeClr val="dk1"/>
                          </a:solidFill>
                        </a:rPr>
                        <a:t>CC_6M_CC_LIMIT_USE_RATIO_MAX</a:t>
                      </a:r>
                      <a:endParaRPr sz="1200"/>
                    </a:p>
                  </a:txBody>
                  <a:tcPr marT="91425" marB="91425" marR="91425" marL="91425"/>
                </a:tc>
                <a:tc>
                  <a:txBody>
                    <a:bodyPr/>
                    <a:lstStyle/>
                    <a:p>
                      <a:pPr indent="0" lvl="0" marL="0" rtl="0" algn="l">
                        <a:spcBef>
                          <a:spcPts val="0"/>
                        </a:spcBef>
                        <a:spcAft>
                          <a:spcPts val="0"/>
                        </a:spcAft>
                        <a:buNone/>
                      </a:pPr>
                      <a:r>
                        <a:rPr lang="zh-TW" sz="1200"/>
                        <a:t>Max credit usage rate in past 6 months</a:t>
                      </a:r>
                      <a:endParaRPr sz="1200"/>
                    </a:p>
                  </a:txBody>
                  <a:tcPr marT="91425" marB="91425" marR="91425" marL="91425"/>
                </a:tc>
                <a:tc>
                  <a:txBody>
                    <a:bodyPr/>
                    <a:lstStyle/>
                    <a:p>
                      <a:pPr indent="0" lvl="0" marL="0" rtl="0" algn="r">
                        <a:spcBef>
                          <a:spcPts val="0"/>
                        </a:spcBef>
                        <a:spcAft>
                          <a:spcPts val="0"/>
                        </a:spcAft>
                        <a:buNone/>
                      </a:pPr>
                      <a:r>
                        <a:rPr lang="zh-TW" sz="1200">
                          <a:solidFill>
                            <a:schemeClr val="dk1"/>
                          </a:solidFill>
                        </a:rPr>
                        <a:t>4226.744103</a:t>
                      </a:r>
                      <a:endParaRPr sz="1200"/>
                    </a:p>
                  </a:txBody>
                  <a:tcPr marT="91425" marB="91425" marR="91425" marL="91425"/>
                </a:tc>
              </a:tr>
              <a:tr h="391025">
                <a:tc>
                  <a:txBody>
                    <a:bodyPr/>
                    <a:lstStyle/>
                    <a:p>
                      <a:pPr indent="0" lvl="0" marL="0" rtl="0" algn="l">
                        <a:spcBef>
                          <a:spcPts val="0"/>
                        </a:spcBef>
                        <a:spcAft>
                          <a:spcPts val="0"/>
                        </a:spcAft>
                        <a:buNone/>
                      </a:pPr>
                      <a:r>
                        <a:rPr lang="zh-TW" sz="1200">
                          <a:solidFill>
                            <a:schemeClr val="dk1"/>
                          </a:solidFill>
                        </a:rPr>
                        <a:t>DAYS_BIRTH</a:t>
                      </a:r>
                      <a:endParaRPr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sz="1200"/>
                        <a:t>Client's age in days at the time of application</a:t>
                      </a:r>
                      <a:endParaRPr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zh-TW" sz="1200">
                          <a:solidFill>
                            <a:schemeClr val="dk1"/>
                          </a:solidFill>
                        </a:rPr>
                        <a:t>4204.079051</a:t>
                      </a:r>
                      <a:endParaRPr sz="1200"/>
                    </a:p>
                  </a:txBody>
                  <a:tcPr marT="91425" marB="91425" marR="91425" marL="91425">
                    <a:lnB cap="flat" cmpd="sng" w="9525">
                      <a:solidFill>
                        <a:srgbClr val="9E9E9E"/>
                      </a:solidFill>
                      <a:prstDash val="solid"/>
                      <a:round/>
                      <a:headEnd len="sm" w="sm" type="none"/>
                      <a:tailEnd len="sm" w="sm" type="none"/>
                    </a:lnB>
                  </a:tcPr>
                </a:tc>
              </a:tr>
              <a:tr h="100000">
                <a:tc>
                  <a:txBody>
                    <a:bodyPr/>
                    <a:lstStyle/>
                    <a:p>
                      <a:pPr indent="0" lvl="0" marL="0" rtl="0" algn="l">
                        <a:spcBef>
                          <a:spcPts val="0"/>
                        </a:spcBef>
                        <a:spcAft>
                          <a:spcPts val="0"/>
                        </a:spcAft>
                        <a:buNone/>
                      </a:pPr>
                      <a:r>
                        <a:rPr lang="zh-TW" sz="1200">
                          <a:solidFill>
                            <a:schemeClr val="dk1"/>
                          </a:solidFill>
                        </a:rPr>
                        <a:t>MAGIC_CREDIT_TO_GOODS_RATI</a:t>
                      </a:r>
                      <a:r>
                        <a:rPr lang="zh-TW" sz="1200">
                          <a:solidFill>
                            <a:schemeClr val="dk1"/>
                          </a:solidFill>
                        </a:rPr>
                        <a:t>O</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sz="1200"/>
                        <a:t>Down Payment Ratio</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zh-TW" sz="1200">
                          <a:solidFill>
                            <a:schemeClr val="dk1"/>
                          </a:solidFill>
                        </a:rPr>
                        <a:t>4030.46781</a:t>
                      </a:r>
                      <a:r>
                        <a:rPr lang="zh-TW" sz="1200">
                          <a:solidFill>
                            <a:schemeClr val="dk1"/>
                          </a:solidFill>
                        </a:rPr>
                        <a:t>7</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00000">
                <a:tc>
                  <a:txBody>
                    <a:bodyPr/>
                    <a:lstStyle/>
                    <a:p>
                      <a:pPr indent="0" lvl="0" marL="0" rtl="0" algn="l">
                        <a:spcBef>
                          <a:spcPts val="0"/>
                        </a:spcBef>
                        <a:spcAft>
                          <a:spcPts val="0"/>
                        </a:spcAft>
                        <a:buNone/>
                      </a:pPr>
                      <a:r>
                        <a:rPr lang="zh-TW" sz="1200">
                          <a:solidFill>
                            <a:schemeClr val="dk1"/>
                          </a:solidFill>
                        </a:rPr>
                        <a:t>POS_6M_CNT_INSTALMENT_FUTURE_MEAN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sz="1200">
                          <a:solidFill>
                            <a:schemeClr val="dk1"/>
                          </a:solidFill>
                        </a:rPr>
                        <a:t>MEAN </a:t>
                      </a:r>
                      <a:r>
                        <a:rPr lang="zh-TW" sz="1200"/>
                        <a:t>i</a:t>
                      </a:r>
                      <a:r>
                        <a:rPr lang="zh-TW" sz="1200"/>
                        <a:t>nstallments left </a:t>
                      </a:r>
                      <a:r>
                        <a:rPr lang="zh-TW" sz="1200">
                          <a:solidFill>
                            <a:schemeClr val="dk1"/>
                          </a:solidFill>
                        </a:rPr>
                        <a:t>in past 6 months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zh-TW" sz="1200">
                          <a:solidFill>
                            <a:schemeClr val="dk1"/>
                          </a:solidFill>
                        </a:rPr>
                        <a:t>3492.832447</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00000">
                <a:tc>
                  <a:txBody>
                    <a:bodyPr/>
                    <a:lstStyle/>
                    <a:p>
                      <a:pPr indent="0" lvl="0" marL="0" rtl="0" algn="l">
                        <a:spcBef>
                          <a:spcPts val="0"/>
                        </a:spcBef>
                        <a:spcAft>
                          <a:spcPts val="0"/>
                        </a:spcAft>
                        <a:buNone/>
                      </a:pPr>
                      <a:r>
                        <a:rPr lang="zh-TW" sz="1200">
                          <a:solidFill>
                            <a:schemeClr val="dk1"/>
                          </a:solidFill>
                        </a:rPr>
                        <a:t>BUREAU_DAYS_CREDIT_MAX_</a:t>
                      </a:r>
                      <a:r>
                        <a:rPr lang="zh-TW" sz="1200">
                          <a:solidFill>
                            <a:schemeClr val="dk1"/>
                          </a:solidFill>
                        </a:rPr>
                        <a:t>y</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sz="1200"/>
                        <a:t>Latest (max) days before current application did client apply for Credit Bureau credit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zh-TW" sz="1200">
                          <a:solidFill>
                            <a:schemeClr val="dk1"/>
                          </a:solidFill>
                        </a:rPr>
                        <a:t>2504.324166</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30" name="Google Shape;130;p25"/>
          <p:cNvSpPr txBox="1"/>
          <p:nvPr>
            <p:ph type="title"/>
          </p:nvPr>
        </p:nvSpPr>
        <p:spPr>
          <a:xfrm>
            <a:off x="197175" y="5377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zh-TW" sz="2700"/>
              <a:t>Top 10 Features</a:t>
            </a:r>
            <a:endParaRPr sz="2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197175" y="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zh-TW" sz="2700"/>
              <a:t>Top 10 Features</a:t>
            </a:r>
            <a:endParaRPr sz="2700"/>
          </a:p>
        </p:txBody>
      </p:sp>
      <p:pic>
        <p:nvPicPr>
          <p:cNvPr id="136" name="Google Shape;136;p26" title="Importance.png"/>
          <p:cNvPicPr preferRelativeResize="0"/>
          <p:nvPr/>
        </p:nvPicPr>
        <p:blipFill>
          <a:blip r:embed="rId3">
            <a:alphaModFix/>
          </a:blip>
          <a:stretch>
            <a:fillRect/>
          </a:stretch>
        </p:blipFill>
        <p:spPr>
          <a:xfrm>
            <a:off x="0" y="572688"/>
            <a:ext cx="9144000" cy="457198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0" y="0"/>
            <a:ext cx="25785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1800"/>
              <a:t>M</a:t>
            </a:r>
            <a:r>
              <a:rPr lang="zh-TW" sz="1800"/>
              <a:t>agic feature in </a:t>
            </a:r>
            <a:r>
              <a:rPr lang="zh-TW" sz="1800"/>
              <a:t>top 10</a:t>
            </a:r>
            <a:endParaRPr/>
          </a:p>
        </p:txBody>
      </p:sp>
      <p:graphicFrame>
        <p:nvGraphicFramePr>
          <p:cNvPr id="142" name="Google Shape;142;p27"/>
          <p:cNvGraphicFramePr/>
          <p:nvPr/>
        </p:nvGraphicFramePr>
        <p:xfrm>
          <a:off x="732300" y="572700"/>
          <a:ext cx="3000000" cy="3000000"/>
        </p:xfrm>
        <a:graphic>
          <a:graphicData uri="http://schemas.openxmlformats.org/drawingml/2006/table">
            <a:tbl>
              <a:tblPr>
                <a:noFill/>
                <a:tableStyleId>{0139891B-DBC0-4DAB-9BA9-325B1C9457D1}</a:tableStyleId>
              </a:tblPr>
              <a:tblGrid>
                <a:gridCol w="2413000"/>
                <a:gridCol w="4197475"/>
                <a:gridCol w="1469725"/>
              </a:tblGrid>
              <a:tr h="381000">
                <a:tc>
                  <a:txBody>
                    <a:bodyPr/>
                    <a:lstStyle/>
                    <a:p>
                      <a:pPr indent="0" lvl="0" marL="0" rtl="0" algn="l">
                        <a:spcBef>
                          <a:spcPts val="0"/>
                        </a:spcBef>
                        <a:spcAft>
                          <a:spcPts val="0"/>
                        </a:spcAft>
                        <a:buClr>
                          <a:schemeClr val="dk1"/>
                        </a:buClr>
                        <a:buSzPts val="1100"/>
                        <a:buFont typeface="Arial"/>
                        <a:buNone/>
                      </a:pPr>
                      <a:r>
                        <a:rPr lang="zh-TW" sz="1300">
                          <a:solidFill>
                            <a:schemeClr val="dk1"/>
                          </a:solidFill>
                        </a:rPr>
                        <a:t>F</a:t>
                      </a:r>
                      <a:r>
                        <a:rPr lang="zh-TW" sz="1300">
                          <a:solidFill>
                            <a:schemeClr val="dk1"/>
                          </a:solidFill>
                        </a:rPr>
                        <a:t>eature</a:t>
                      </a:r>
                      <a:endParaRPr sz="1300">
                        <a:solidFill>
                          <a:schemeClr val="dk1"/>
                        </a:solidFill>
                      </a:endParaRPr>
                    </a:p>
                  </a:txBody>
                  <a:tcPr marT="91425" marB="91425" marR="91425" marL="91425">
                    <a:solidFill>
                      <a:schemeClr val="lt2"/>
                    </a:solidFill>
                  </a:tcPr>
                </a:tc>
                <a:tc>
                  <a:txBody>
                    <a:bodyPr/>
                    <a:lstStyle/>
                    <a:p>
                      <a:pPr indent="0" lvl="0" marL="0" rtl="0" algn="l">
                        <a:spcBef>
                          <a:spcPts val="0"/>
                        </a:spcBef>
                        <a:spcAft>
                          <a:spcPts val="0"/>
                        </a:spcAft>
                        <a:buNone/>
                      </a:pPr>
                      <a:r>
                        <a:rPr lang="zh-TW" sz="1300"/>
                        <a:t>Description</a:t>
                      </a:r>
                      <a:endParaRPr sz="1300"/>
                    </a:p>
                  </a:txBody>
                  <a:tcPr marT="91425" marB="91425" marR="91425" marL="91425">
                    <a:solidFill>
                      <a:schemeClr val="lt2"/>
                    </a:solidFill>
                  </a:tcPr>
                </a:tc>
                <a:tc>
                  <a:txBody>
                    <a:bodyPr/>
                    <a:lstStyle/>
                    <a:p>
                      <a:pPr indent="0" lvl="0" marL="0" rtl="0" algn="l">
                        <a:spcBef>
                          <a:spcPts val="0"/>
                        </a:spcBef>
                        <a:spcAft>
                          <a:spcPts val="0"/>
                        </a:spcAft>
                        <a:buNone/>
                      </a:pPr>
                      <a:r>
                        <a:rPr lang="zh-TW" sz="1300"/>
                        <a:t>Source</a:t>
                      </a:r>
                      <a:endParaRPr sz="1300"/>
                    </a:p>
                  </a:txBody>
                  <a:tcPr marT="91425" marB="91425" marR="91425" marL="91425">
                    <a:solidFill>
                      <a:schemeClr val="lt2"/>
                    </a:solidFill>
                  </a:tcPr>
                </a:tc>
              </a:tr>
              <a:tr h="381000">
                <a:tc>
                  <a:txBody>
                    <a:bodyPr/>
                    <a:lstStyle/>
                    <a:p>
                      <a:pPr indent="0" lvl="0" marL="0" rtl="0" algn="l">
                        <a:lnSpc>
                          <a:spcPct val="115000"/>
                        </a:lnSpc>
                        <a:spcBef>
                          <a:spcPts val="0"/>
                        </a:spcBef>
                        <a:spcAft>
                          <a:spcPts val="1200"/>
                        </a:spcAft>
                        <a:buClr>
                          <a:schemeClr val="dk1"/>
                        </a:buClr>
                        <a:buSzPts val="1100"/>
                        <a:buFont typeface="Arial"/>
                        <a:buNone/>
                      </a:pPr>
                      <a:r>
                        <a:rPr lang="zh-TW" sz="1300">
                          <a:solidFill>
                            <a:schemeClr val="dk1"/>
                          </a:solidFill>
                        </a:rPr>
                        <a:t>EXT_SOURCE_1</a:t>
                      </a:r>
                      <a:endParaRPr sz="1300"/>
                    </a:p>
                  </a:txBody>
                  <a:tcPr marT="91425" marB="91425" marR="91425" marL="91425"/>
                </a:tc>
                <a:tc>
                  <a:txBody>
                    <a:bodyPr/>
                    <a:lstStyle/>
                    <a:p>
                      <a:pPr indent="0" lvl="0" marL="0" rtl="0" algn="l">
                        <a:spcBef>
                          <a:spcPts val="0"/>
                        </a:spcBef>
                        <a:spcAft>
                          <a:spcPts val="0"/>
                        </a:spcAft>
                        <a:buNone/>
                      </a:pPr>
                      <a:r>
                        <a:rPr lang="zh-TW" sz="1300"/>
                        <a:t>Normalized score from external data source</a:t>
                      </a:r>
                      <a:endParaRPr sz="1300"/>
                    </a:p>
                  </a:txBody>
                  <a:tcPr marT="91425" marB="91425" marR="91425" marL="91425"/>
                </a:tc>
                <a:tc>
                  <a:txBody>
                    <a:bodyPr/>
                    <a:lstStyle/>
                    <a:p>
                      <a:pPr indent="0" lvl="0" marL="0" rtl="0" algn="l">
                        <a:spcBef>
                          <a:spcPts val="0"/>
                        </a:spcBef>
                        <a:spcAft>
                          <a:spcPts val="0"/>
                        </a:spcAft>
                        <a:buNone/>
                      </a:pPr>
                      <a:r>
                        <a:rPr lang="zh-TW" sz="1300"/>
                        <a:t>main chart</a:t>
                      </a:r>
                      <a:endParaRPr sz="1300"/>
                    </a:p>
                  </a:txBody>
                  <a:tcPr marT="91425" marB="91425" marR="91425" marL="91425"/>
                </a:tc>
              </a:tr>
              <a:tr h="381000">
                <a:tc>
                  <a:txBody>
                    <a:bodyPr/>
                    <a:lstStyle/>
                    <a:p>
                      <a:pPr indent="0" lvl="0" marL="0" rtl="0" algn="l">
                        <a:lnSpc>
                          <a:spcPct val="115000"/>
                        </a:lnSpc>
                        <a:spcBef>
                          <a:spcPts val="0"/>
                        </a:spcBef>
                        <a:spcAft>
                          <a:spcPts val="1200"/>
                        </a:spcAft>
                        <a:buClr>
                          <a:schemeClr val="dk1"/>
                        </a:buClr>
                        <a:buSzPts val="1100"/>
                        <a:buFont typeface="Arial"/>
                        <a:buNone/>
                      </a:pPr>
                      <a:r>
                        <a:rPr lang="zh-TW" sz="1300">
                          <a:solidFill>
                            <a:schemeClr val="dk1"/>
                          </a:solidFill>
                        </a:rPr>
                        <a:t>EXT_SOURCE_2</a:t>
                      </a:r>
                      <a:endParaRPr sz="1300"/>
                    </a:p>
                  </a:txBody>
                  <a:tcPr marT="91425" marB="91425" marR="91425" marL="91425"/>
                </a:tc>
                <a:tc>
                  <a:txBody>
                    <a:bodyPr/>
                    <a:lstStyle/>
                    <a:p>
                      <a:pPr indent="0" lvl="0" marL="0" rtl="0" algn="l">
                        <a:spcBef>
                          <a:spcPts val="0"/>
                        </a:spcBef>
                        <a:spcAft>
                          <a:spcPts val="0"/>
                        </a:spcAft>
                        <a:buNone/>
                      </a:pPr>
                      <a:r>
                        <a:rPr lang="zh-TW" sz="1300">
                          <a:solidFill>
                            <a:schemeClr val="dk1"/>
                          </a:solidFill>
                        </a:rPr>
                        <a:t>Normalized score from external data source</a:t>
                      </a:r>
                      <a:endParaRPr sz="1300"/>
                    </a:p>
                  </a:txBody>
                  <a:tcPr marT="91425" marB="91425" marR="91425" marL="91425"/>
                </a:tc>
                <a:tc>
                  <a:txBody>
                    <a:bodyPr/>
                    <a:lstStyle/>
                    <a:p>
                      <a:pPr indent="0" lvl="0" marL="0" rtl="0" algn="l">
                        <a:spcBef>
                          <a:spcPts val="0"/>
                        </a:spcBef>
                        <a:spcAft>
                          <a:spcPts val="0"/>
                        </a:spcAft>
                        <a:buNone/>
                      </a:pPr>
                      <a:r>
                        <a:rPr lang="zh-TW" sz="1300">
                          <a:solidFill>
                            <a:schemeClr val="dk1"/>
                          </a:solidFill>
                        </a:rPr>
                        <a:t>main chart</a:t>
                      </a:r>
                      <a:endParaRPr sz="1300"/>
                    </a:p>
                  </a:txBody>
                  <a:tcPr marT="91425" marB="91425" marR="91425" marL="91425"/>
                </a:tc>
              </a:tr>
              <a:tr h="381000">
                <a:tc>
                  <a:txBody>
                    <a:bodyPr/>
                    <a:lstStyle/>
                    <a:p>
                      <a:pPr indent="0" lvl="0" marL="0" rtl="0" algn="l">
                        <a:lnSpc>
                          <a:spcPct val="115000"/>
                        </a:lnSpc>
                        <a:spcBef>
                          <a:spcPts val="0"/>
                        </a:spcBef>
                        <a:spcAft>
                          <a:spcPts val="1200"/>
                        </a:spcAft>
                        <a:buClr>
                          <a:schemeClr val="dk1"/>
                        </a:buClr>
                        <a:buSzPts val="1100"/>
                        <a:buFont typeface="Arial"/>
                        <a:buNone/>
                      </a:pPr>
                      <a:r>
                        <a:rPr lang="zh-TW" sz="1300">
                          <a:solidFill>
                            <a:schemeClr val="dk1"/>
                          </a:solidFill>
                        </a:rPr>
                        <a:t>EXT_SOURCE_3</a:t>
                      </a:r>
                      <a:endParaRPr sz="1300"/>
                    </a:p>
                  </a:txBody>
                  <a:tcPr marT="91425" marB="91425" marR="91425" marL="91425"/>
                </a:tc>
                <a:tc>
                  <a:txBody>
                    <a:bodyPr/>
                    <a:lstStyle/>
                    <a:p>
                      <a:pPr indent="0" lvl="0" marL="0" rtl="0" algn="l">
                        <a:spcBef>
                          <a:spcPts val="0"/>
                        </a:spcBef>
                        <a:spcAft>
                          <a:spcPts val="0"/>
                        </a:spcAft>
                        <a:buNone/>
                      </a:pPr>
                      <a:r>
                        <a:rPr lang="zh-TW" sz="1300">
                          <a:solidFill>
                            <a:schemeClr val="dk1"/>
                          </a:solidFill>
                        </a:rPr>
                        <a:t>Normalized score from external data source</a:t>
                      </a:r>
                      <a:endParaRPr sz="1300"/>
                    </a:p>
                  </a:txBody>
                  <a:tcPr marT="91425" marB="91425" marR="91425" marL="91425"/>
                </a:tc>
                <a:tc>
                  <a:txBody>
                    <a:bodyPr/>
                    <a:lstStyle/>
                    <a:p>
                      <a:pPr indent="0" lvl="0" marL="0" rtl="0" algn="l">
                        <a:spcBef>
                          <a:spcPts val="0"/>
                        </a:spcBef>
                        <a:spcAft>
                          <a:spcPts val="0"/>
                        </a:spcAft>
                        <a:buNone/>
                      </a:pPr>
                      <a:r>
                        <a:rPr lang="zh-TW" sz="1300">
                          <a:solidFill>
                            <a:schemeClr val="dk1"/>
                          </a:solidFill>
                        </a:rPr>
                        <a:t>main chart</a:t>
                      </a:r>
                      <a:endParaRPr sz="1300"/>
                    </a:p>
                  </a:txBody>
                  <a:tcPr marT="91425" marB="91425" marR="91425" marL="91425"/>
                </a:tc>
              </a:tr>
            </a:tbl>
          </a:graphicData>
        </a:graphic>
      </p:graphicFrame>
      <p:sp>
        <p:nvSpPr>
          <p:cNvPr id="143" name="Google Shape;143;p27"/>
          <p:cNvSpPr txBox="1"/>
          <p:nvPr/>
        </p:nvSpPr>
        <p:spPr>
          <a:xfrm>
            <a:off x="3272400" y="1725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a:t>Related features</a:t>
            </a:r>
            <a:endParaRPr/>
          </a:p>
        </p:txBody>
      </p:sp>
      <p:graphicFrame>
        <p:nvGraphicFramePr>
          <p:cNvPr id="144" name="Google Shape;144;p27"/>
          <p:cNvGraphicFramePr/>
          <p:nvPr/>
        </p:nvGraphicFramePr>
        <p:xfrm>
          <a:off x="0" y="2205225"/>
          <a:ext cx="3000000" cy="3000000"/>
        </p:xfrm>
        <a:graphic>
          <a:graphicData uri="http://schemas.openxmlformats.org/drawingml/2006/table">
            <a:tbl>
              <a:tblPr>
                <a:noFill/>
                <a:tableStyleId>{0139891B-DBC0-4DAB-9BA9-325B1C9457D1}</a:tableStyleId>
              </a:tblPr>
              <a:tblGrid>
                <a:gridCol w="1337375"/>
                <a:gridCol w="4256400"/>
                <a:gridCol w="3550200"/>
              </a:tblGrid>
              <a:tr h="381000">
                <a:tc>
                  <a:txBody>
                    <a:bodyPr/>
                    <a:lstStyle/>
                    <a:p>
                      <a:pPr indent="0" lvl="0" marL="0" rtl="0" algn="l">
                        <a:lnSpc>
                          <a:spcPct val="115000"/>
                        </a:lnSpc>
                        <a:spcBef>
                          <a:spcPts val="0"/>
                        </a:spcBef>
                        <a:spcAft>
                          <a:spcPts val="1200"/>
                        </a:spcAft>
                        <a:buNone/>
                      </a:pPr>
                      <a:r>
                        <a:rPr lang="zh-TW" sz="1300">
                          <a:solidFill>
                            <a:schemeClr val="dk1"/>
                          </a:solidFill>
                        </a:rPr>
                        <a:t>F</a:t>
                      </a:r>
                      <a:r>
                        <a:rPr lang="zh-TW" sz="1300">
                          <a:solidFill>
                            <a:schemeClr val="dk1"/>
                          </a:solidFill>
                        </a:rPr>
                        <a:t>eature</a:t>
                      </a:r>
                      <a:endParaRPr sz="1300"/>
                    </a:p>
                  </a:txBody>
                  <a:tcPr marT="91425" marB="91425" marR="91425" marL="91425">
                    <a:solidFill>
                      <a:schemeClr val="lt2"/>
                    </a:solidFill>
                  </a:tcPr>
                </a:tc>
                <a:tc>
                  <a:txBody>
                    <a:bodyPr/>
                    <a:lstStyle/>
                    <a:p>
                      <a:pPr indent="0" lvl="0" marL="0" rtl="0" algn="l">
                        <a:spcBef>
                          <a:spcPts val="0"/>
                        </a:spcBef>
                        <a:spcAft>
                          <a:spcPts val="0"/>
                        </a:spcAft>
                        <a:buNone/>
                      </a:pPr>
                      <a:r>
                        <a:rPr lang="zh-TW" sz="1300"/>
                        <a:t>Formula</a:t>
                      </a:r>
                      <a:endParaRPr sz="1300"/>
                    </a:p>
                  </a:txBody>
                  <a:tcPr marT="91425" marB="91425" marR="91425" marL="91425">
                    <a:solidFill>
                      <a:schemeClr val="lt2"/>
                    </a:solidFill>
                  </a:tcPr>
                </a:tc>
                <a:tc>
                  <a:txBody>
                    <a:bodyPr/>
                    <a:lstStyle/>
                    <a:p>
                      <a:pPr indent="0" lvl="0" marL="0" rtl="0" algn="l">
                        <a:spcBef>
                          <a:spcPts val="0"/>
                        </a:spcBef>
                        <a:spcAft>
                          <a:spcPts val="0"/>
                        </a:spcAft>
                        <a:buNone/>
                      </a:pPr>
                      <a:r>
                        <a:rPr lang="zh-TW" sz="1300"/>
                        <a:t>Description</a:t>
                      </a:r>
                      <a:endParaRPr sz="1300"/>
                    </a:p>
                  </a:txBody>
                  <a:tcPr marT="91425" marB="91425" marR="91425" marL="91425">
                    <a:solidFill>
                      <a:schemeClr val="lt2"/>
                    </a:solidFill>
                  </a:tcPr>
                </a:tc>
              </a:tr>
              <a:tr h="381000">
                <a:tc>
                  <a:txBody>
                    <a:bodyPr/>
                    <a:lstStyle/>
                    <a:p>
                      <a:pPr indent="0" lvl="0" marL="0" rtl="0" algn="l">
                        <a:lnSpc>
                          <a:spcPct val="115000"/>
                        </a:lnSpc>
                        <a:spcBef>
                          <a:spcPts val="0"/>
                        </a:spcBef>
                        <a:spcAft>
                          <a:spcPts val="1200"/>
                        </a:spcAft>
                        <a:buNone/>
                      </a:pPr>
                      <a:r>
                        <a:rPr lang="zh-TW" sz="1300">
                          <a:solidFill>
                            <a:schemeClr val="dk1"/>
                          </a:solidFill>
                        </a:rPr>
                        <a:t>MAGIC_EXT_SOURCES_MEAN</a:t>
                      </a:r>
                      <a:endParaRPr sz="1300"/>
                    </a:p>
                  </a:txBody>
                  <a:tcPr marT="91425" marB="91425" marR="91425" marL="91425">
                    <a:solidFill>
                      <a:schemeClr val="accent6"/>
                    </a:solidFill>
                  </a:tcPr>
                </a:tc>
                <a:tc>
                  <a:txBody>
                    <a:bodyPr/>
                    <a:lstStyle/>
                    <a:p>
                      <a:pPr indent="0" lvl="0" marL="0" rtl="0" algn="l">
                        <a:lnSpc>
                          <a:spcPct val="115000"/>
                        </a:lnSpc>
                        <a:spcBef>
                          <a:spcPts val="0"/>
                        </a:spcBef>
                        <a:spcAft>
                          <a:spcPts val="1200"/>
                        </a:spcAft>
                        <a:buNone/>
                      </a:pPr>
                      <a:r>
                        <a:rPr lang="zh-TW" sz="1300">
                          <a:solidFill>
                            <a:schemeClr val="dk1"/>
                          </a:solidFill>
                        </a:rPr>
                        <a:t>mean (EXT_SOURCE_1, EXT_SOURCE_2, EXT_SOURCE_3)</a:t>
                      </a:r>
                      <a:endParaRPr sz="1300"/>
                    </a:p>
                  </a:txBody>
                  <a:tcPr marT="91425" marB="91425" marR="91425" marL="91425"/>
                </a:tc>
                <a:tc>
                  <a:txBody>
                    <a:bodyPr/>
                    <a:lstStyle/>
                    <a:p>
                      <a:pPr indent="0" lvl="0" marL="0" rtl="0" algn="l">
                        <a:lnSpc>
                          <a:spcPct val="115000"/>
                        </a:lnSpc>
                        <a:spcBef>
                          <a:spcPts val="0"/>
                        </a:spcBef>
                        <a:spcAft>
                          <a:spcPts val="1200"/>
                        </a:spcAft>
                        <a:buNone/>
                      </a:pPr>
                      <a:r>
                        <a:rPr lang="zh-TW" sz="1300">
                          <a:solidFill>
                            <a:schemeClr val="dk1"/>
                          </a:solidFill>
                        </a:rPr>
                        <a:t>-</a:t>
                      </a:r>
                      <a:endParaRPr sz="1300">
                        <a:solidFill>
                          <a:schemeClr val="dk1"/>
                        </a:solidFill>
                      </a:endParaRPr>
                    </a:p>
                  </a:txBody>
                  <a:tcPr marT="91425" marB="91425" marR="91425" marL="91425"/>
                </a:tc>
              </a:tr>
              <a:tr h="381000">
                <a:tc>
                  <a:txBody>
                    <a:bodyPr/>
                    <a:lstStyle/>
                    <a:p>
                      <a:pPr indent="0" lvl="0" marL="0" rtl="0" algn="l">
                        <a:lnSpc>
                          <a:spcPct val="115000"/>
                        </a:lnSpc>
                        <a:spcBef>
                          <a:spcPts val="0"/>
                        </a:spcBef>
                        <a:spcAft>
                          <a:spcPts val="1200"/>
                        </a:spcAft>
                        <a:buNone/>
                      </a:pPr>
                      <a:r>
                        <a:rPr lang="zh-TW" sz="1300">
                          <a:solidFill>
                            <a:schemeClr val="dk1"/>
                          </a:solidFill>
                        </a:rPr>
                        <a:t>MAGIC_EXT_SOURCES_MAX</a:t>
                      </a:r>
                      <a:endParaRPr sz="1300"/>
                    </a:p>
                  </a:txBody>
                  <a:tcPr marT="91425" marB="91425" marR="91425" marL="91425">
                    <a:solidFill>
                      <a:schemeClr val="accent6"/>
                    </a:solidFill>
                  </a:tcPr>
                </a:tc>
                <a:tc>
                  <a:txBody>
                    <a:bodyPr/>
                    <a:lstStyle/>
                    <a:p>
                      <a:pPr indent="0" lvl="0" marL="0" rtl="0" algn="l">
                        <a:lnSpc>
                          <a:spcPct val="115000"/>
                        </a:lnSpc>
                        <a:spcBef>
                          <a:spcPts val="0"/>
                        </a:spcBef>
                        <a:spcAft>
                          <a:spcPts val="1200"/>
                        </a:spcAft>
                        <a:buNone/>
                      </a:pPr>
                      <a:r>
                        <a:rPr lang="zh-TW" sz="1300">
                          <a:solidFill>
                            <a:schemeClr val="dk1"/>
                          </a:solidFill>
                        </a:rPr>
                        <a:t>max (EXT_SOURCE_1, EXT_SOURCE_2, EXT_SOURCE_3)</a:t>
                      </a:r>
                      <a:endParaRPr sz="1300">
                        <a:solidFill>
                          <a:schemeClr val="dk1"/>
                        </a:solidFill>
                      </a:endParaRPr>
                    </a:p>
                  </a:txBody>
                  <a:tcPr marT="91425" marB="91425" marR="91425" marL="91425"/>
                </a:tc>
                <a:tc>
                  <a:txBody>
                    <a:bodyPr/>
                    <a:lstStyle/>
                    <a:p>
                      <a:pPr indent="0" lvl="0" marL="0" rtl="0" algn="l">
                        <a:lnSpc>
                          <a:spcPct val="115000"/>
                        </a:lnSpc>
                        <a:spcBef>
                          <a:spcPts val="0"/>
                        </a:spcBef>
                        <a:spcAft>
                          <a:spcPts val="1200"/>
                        </a:spcAft>
                        <a:buNone/>
                      </a:pPr>
                      <a:r>
                        <a:rPr lang="zh-TW" sz="1300">
                          <a:solidFill>
                            <a:schemeClr val="dk1"/>
                          </a:solidFill>
                        </a:rPr>
                        <a:t>-</a:t>
                      </a:r>
                      <a:endParaRPr sz="1300">
                        <a:solidFill>
                          <a:schemeClr val="dk1"/>
                        </a:solidFill>
                      </a:endParaRPr>
                    </a:p>
                  </a:txBody>
                  <a:tcPr marT="91425" marB="91425" marR="91425" marL="91425"/>
                </a:tc>
              </a:tr>
              <a:tr h="381000">
                <a:tc>
                  <a:txBody>
                    <a:bodyPr/>
                    <a:lstStyle/>
                    <a:p>
                      <a:pPr indent="0" lvl="0" marL="0" rtl="0" algn="l">
                        <a:lnSpc>
                          <a:spcPct val="115000"/>
                        </a:lnSpc>
                        <a:spcBef>
                          <a:spcPts val="0"/>
                        </a:spcBef>
                        <a:spcAft>
                          <a:spcPts val="1200"/>
                        </a:spcAft>
                        <a:buNone/>
                      </a:pPr>
                      <a:r>
                        <a:rPr lang="zh-TW" sz="1300">
                          <a:solidFill>
                            <a:schemeClr val="dk1"/>
                          </a:solidFill>
                        </a:rPr>
                        <a:t>MAGIC_EXT_SOURCES_MIN</a:t>
                      </a:r>
                      <a:endParaRPr sz="1300"/>
                    </a:p>
                  </a:txBody>
                  <a:tcPr marT="91425" marB="91425" marR="91425" marL="91425">
                    <a:solidFill>
                      <a:schemeClr val="accent6"/>
                    </a:solidFill>
                  </a:tcPr>
                </a:tc>
                <a:tc>
                  <a:txBody>
                    <a:bodyPr/>
                    <a:lstStyle/>
                    <a:p>
                      <a:pPr indent="0" lvl="0" marL="0" rtl="0" algn="l">
                        <a:lnSpc>
                          <a:spcPct val="115000"/>
                        </a:lnSpc>
                        <a:spcBef>
                          <a:spcPts val="0"/>
                        </a:spcBef>
                        <a:spcAft>
                          <a:spcPts val="1200"/>
                        </a:spcAft>
                        <a:buNone/>
                      </a:pPr>
                      <a:r>
                        <a:rPr lang="zh-TW" sz="1300">
                          <a:solidFill>
                            <a:schemeClr val="dk1"/>
                          </a:solidFill>
                        </a:rPr>
                        <a:t>min (EXT_SOURCE_1, EXT_SOURCE_2, EXT_SOURCE_3)</a:t>
                      </a:r>
                      <a:endParaRPr sz="1300">
                        <a:solidFill>
                          <a:schemeClr val="dk1"/>
                        </a:solidFill>
                      </a:endParaRPr>
                    </a:p>
                  </a:txBody>
                  <a:tcPr marT="91425" marB="91425" marR="91425" marL="91425"/>
                </a:tc>
                <a:tc>
                  <a:txBody>
                    <a:bodyPr/>
                    <a:lstStyle/>
                    <a:p>
                      <a:pPr indent="0" lvl="0" marL="0" rtl="0" algn="l">
                        <a:lnSpc>
                          <a:spcPct val="115000"/>
                        </a:lnSpc>
                        <a:spcBef>
                          <a:spcPts val="0"/>
                        </a:spcBef>
                        <a:spcAft>
                          <a:spcPts val="1200"/>
                        </a:spcAft>
                        <a:buNone/>
                      </a:pPr>
                      <a:r>
                        <a:rPr lang="zh-TW" sz="1300">
                          <a:solidFill>
                            <a:schemeClr val="dk1"/>
                          </a:solidFill>
                        </a:rPr>
                        <a:t>-</a:t>
                      </a:r>
                      <a:endParaRPr sz="1300">
                        <a:solidFill>
                          <a:schemeClr val="dk1"/>
                        </a:solidFill>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0" y="0"/>
            <a:ext cx="25785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1800"/>
              <a:t>Magic feature in top 10</a:t>
            </a:r>
            <a:endParaRPr/>
          </a:p>
        </p:txBody>
      </p:sp>
      <p:graphicFrame>
        <p:nvGraphicFramePr>
          <p:cNvPr id="150" name="Google Shape;150;p28"/>
          <p:cNvGraphicFramePr/>
          <p:nvPr/>
        </p:nvGraphicFramePr>
        <p:xfrm>
          <a:off x="732300" y="572700"/>
          <a:ext cx="3000000" cy="3000000"/>
        </p:xfrm>
        <a:graphic>
          <a:graphicData uri="http://schemas.openxmlformats.org/drawingml/2006/table">
            <a:tbl>
              <a:tblPr>
                <a:noFill/>
                <a:tableStyleId>{0139891B-DBC0-4DAB-9BA9-325B1C9457D1}</a:tableStyleId>
              </a:tblPr>
              <a:tblGrid>
                <a:gridCol w="1506450"/>
                <a:gridCol w="4579175"/>
                <a:gridCol w="1994575"/>
              </a:tblGrid>
              <a:tr h="381000">
                <a:tc>
                  <a:txBody>
                    <a:bodyPr/>
                    <a:lstStyle/>
                    <a:p>
                      <a:pPr indent="0" lvl="0" marL="0" rtl="0" algn="l">
                        <a:spcBef>
                          <a:spcPts val="0"/>
                        </a:spcBef>
                        <a:spcAft>
                          <a:spcPts val="0"/>
                        </a:spcAft>
                        <a:buNone/>
                      </a:pPr>
                      <a:r>
                        <a:rPr lang="zh-TW" sz="1300">
                          <a:solidFill>
                            <a:schemeClr val="dk1"/>
                          </a:solidFill>
                        </a:rPr>
                        <a:t>Feature</a:t>
                      </a:r>
                      <a:endParaRPr sz="1300">
                        <a:solidFill>
                          <a:schemeClr val="dk1"/>
                        </a:solidFill>
                      </a:endParaRPr>
                    </a:p>
                  </a:txBody>
                  <a:tcPr marT="91425" marB="91425" marR="91425" marL="91425">
                    <a:solidFill>
                      <a:schemeClr val="lt2"/>
                    </a:solidFill>
                  </a:tcPr>
                </a:tc>
                <a:tc>
                  <a:txBody>
                    <a:bodyPr/>
                    <a:lstStyle/>
                    <a:p>
                      <a:pPr indent="0" lvl="0" marL="0" rtl="0" algn="l">
                        <a:spcBef>
                          <a:spcPts val="0"/>
                        </a:spcBef>
                        <a:spcAft>
                          <a:spcPts val="0"/>
                        </a:spcAft>
                        <a:buNone/>
                      </a:pPr>
                      <a:r>
                        <a:rPr lang="zh-TW" sz="1300"/>
                        <a:t>Description</a:t>
                      </a:r>
                      <a:endParaRPr sz="1300"/>
                    </a:p>
                  </a:txBody>
                  <a:tcPr marT="91425" marB="91425" marR="91425" marL="91425">
                    <a:solidFill>
                      <a:schemeClr val="lt2"/>
                    </a:solidFill>
                  </a:tcPr>
                </a:tc>
                <a:tc>
                  <a:txBody>
                    <a:bodyPr/>
                    <a:lstStyle/>
                    <a:p>
                      <a:pPr indent="0" lvl="0" marL="0" rtl="0" algn="l">
                        <a:spcBef>
                          <a:spcPts val="0"/>
                        </a:spcBef>
                        <a:spcAft>
                          <a:spcPts val="0"/>
                        </a:spcAft>
                        <a:buNone/>
                      </a:pPr>
                      <a:r>
                        <a:rPr lang="zh-TW" sz="1300"/>
                        <a:t>Source</a:t>
                      </a:r>
                      <a:endParaRPr sz="1300"/>
                    </a:p>
                  </a:txBody>
                  <a:tcPr marT="91425" marB="91425" marR="91425" marL="91425">
                    <a:solidFill>
                      <a:schemeClr val="lt2"/>
                    </a:solidFill>
                  </a:tcPr>
                </a:tc>
              </a:tr>
              <a:tr h="381000">
                <a:tc>
                  <a:txBody>
                    <a:bodyPr/>
                    <a:lstStyle/>
                    <a:p>
                      <a:pPr indent="0" lvl="0" marL="0" rtl="0" algn="l">
                        <a:lnSpc>
                          <a:spcPct val="115000"/>
                        </a:lnSpc>
                        <a:spcBef>
                          <a:spcPts val="0"/>
                        </a:spcBef>
                        <a:spcAft>
                          <a:spcPts val="1200"/>
                        </a:spcAft>
                        <a:buNone/>
                      </a:pPr>
                      <a:r>
                        <a:rPr lang="zh-TW" sz="1300">
                          <a:solidFill>
                            <a:schemeClr val="dk1"/>
                          </a:solidFill>
                        </a:rPr>
                        <a:t>AMT_ANNUITY</a:t>
                      </a:r>
                      <a:endParaRPr sz="1300"/>
                    </a:p>
                  </a:txBody>
                  <a:tcPr marT="91425" marB="91425" marR="91425" marL="91425"/>
                </a:tc>
                <a:tc>
                  <a:txBody>
                    <a:bodyPr/>
                    <a:lstStyle/>
                    <a:p>
                      <a:pPr indent="0" lvl="0" marL="0" rtl="0" algn="l">
                        <a:spcBef>
                          <a:spcPts val="0"/>
                        </a:spcBef>
                        <a:spcAft>
                          <a:spcPts val="0"/>
                        </a:spcAft>
                        <a:buNone/>
                      </a:pPr>
                      <a:r>
                        <a:rPr lang="zh-TW" sz="1300"/>
                        <a:t>Annuity of previous application</a:t>
                      </a:r>
                      <a:endParaRPr sz="1300"/>
                    </a:p>
                  </a:txBody>
                  <a:tcPr marT="91425" marB="91425" marR="91425" marL="91425"/>
                </a:tc>
                <a:tc>
                  <a:txBody>
                    <a:bodyPr/>
                    <a:lstStyle/>
                    <a:p>
                      <a:pPr indent="0" lvl="0" marL="0" rtl="0" algn="l">
                        <a:spcBef>
                          <a:spcPts val="0"/>
                        </a:spcBef>
                        <a:spcAft>
                          <a:spcPts val="0"/>
                        </a:spcAft>
                        <a:buNone/>
                      </a:pPr>
                      <a:r>
                        <a:rPr lang="zh-TW" sz="1300"/>
                        <a:t>previous_application</a:t>
                      </a:r>
                      <a:endParaRPr sz="1300"/>
                    </a:p>
                  </a:txBody>
                  <a:tcPr marT="91425" marB="91425" marR="91425" marL="91425"/>
                </a:tc>
              </a:tr>
              <a:tr h="381000">
                <a:tc>
                  <a:txBody>
                    <a:bodyPr/>
                    <a:lstStyle/>
                    <a:p>
                      <a:pPr indent="0" lvl="0" marL="0" rtl="0" algn="l">
                        <a:lnSpc>
                          <a:spcPct val="115000"/>
                        </a:lnSpc>
                        <a:spcBef>
                          <a:spcPts val="0"/>
                        </a:spcBef>
                        <a:spcAft>
                          <a:spcPts val="1200"/>
                        </a:spcAft>
                        <a:buNone/>
                      </a:pPr>
                      <a:r>
                        <a:rPr lang="zh-TW" sz="1300">
                          <a:solidFill>
                            <a:schemeClr val="dk1"/>
                          </a:solidFill>
                        </a:rPr>
                        <a:t>AMT_CREDIT</a:t>
                      </a:r>
                      <a:endParaRPr sz="1300"/>
                    </a:p>
                  </a:txBody>
                  <a:tcPr marT="91425" marB="91425" marR="91425" marL="91425"/>
                </a:tc>
                <a:tc>
                  <a:txBody>
                    <a:bodyPr/>
                    <a:lstStyle/>
                    <a:p>
                      <a:pPr indent="0" lvl="0" marL="0" rtl="0" algn="l">
                        <a:spcBef>
                          <a:spcPts val="0"/>
                        </a:spcBef>
                        <a:spcAft>
                          <a:spcPts val="0"/>
                        </a:spcAft>
                        <a:buNone/>
                      </a:pPr>
                      <a:r>
                        <a:rPr lang="zh-TW" sz="1300">
                          <a:solidFill>
                            <a:schemeClr val="dk1"/>
                          </a:solidFill>
                        </a:rPr>
                        <a:t>Final credit amount on the previous application</a:t>
                      </a:r>
                      <a:endParaRPr sz="1300"/>
                    </a:p>
                  </a:txBody>
                  <a:tcPr marT="91425" marB="91425" marR="91425" marL="91425"/>
                </a:tc>
                <a:tc>
                  <a:txBody>
                    <a:bodyPr/>
                    <a:lstStyle/>
                    <a:p>
                      <a:pPr indent="0" lvl="0" marL="0" rtl="0" algn="l">
                        <a:spcBef>
                          <a:spcPts val="0"/>
                        </a:spcBef>
                        <a:spcAft>
                          <a:spcPts val="0"/>
                        </a:spcAft>
                        <a:buNone/>
                      </a:pPr>
                      <a:r>
                        <a:rPr lang="zh-TW" sz="1300">
                          <a:solidFill>
                            <a:schemeClr val="dk1"/>
                          </a:solidFill>
                        </a:rPr>
                        <a:t>previous_application</a:t>
                      </a:r>
                      <a:endParaRPr sz="1300">
                        <a:solidFill>
                          <a:schemeClr val="dk1"/>
                        </a:solidFill>
                      </a:endParaRPr>
                    </a:p>
                  </a:txBody>
                  <a:tcPr marT="91425" marB="91425" marR="91425" marL="91425"/>
                </a:tc>
              </a:tr>
            </a:tbl>
          </a:graphicData>
        </a:graphic>
      </p:graphicFrame>
      <p:sp>
        <p:nvSpPr>
          <p:cNvPr id="151" name="Google Shape;151;p28"/>
          <p:cNvSpPr txBox="1"/>
          <p:nvPr/>
        </p:nvSpPr>
        <p:spPr>
          <a:xfrm>
            <a:off x="3272400" y="1725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a:t>Related features</a:t>
            </a:r>
            <a:endParaRPr/>
          </a:p>
        </p:txBody>
      </p:sp>
      <p:graphicFrame>
        <p:nvGraphicFramePr>
          <p:cNvPr id="152" name="Google Shape;152;p28"/>
          <p:cNvGraphicFramePr/>
          <p:nvPr/>
        </p:nvGraphicFramePr>
        <p:xfrm>
          <a:off x="0" y="2205225"/>
          <a:ext cx="3000000" cy="3000000"/>
        </p:xfrm>
        <a:graphic>
          <a:graphicData uri="http://schemas.openxmlformats.org/drawingml/2006/table">
            <a:tbl>
              <a:tblPr>
                <a:noFill/>
                <a:tableStyleId>{0139891B-DBC0-4DAB-9BA9-325B1C9457D1}</a:tableStyleId>
              </a:tblPr>
              <a:tblGrid>
                <a:gridCol w="2119850"/>
                <a:gridCol w="2557825"/>
                <a:gridCol w="4466300"/>
              </a:tblGrid>
              <a:tr h="381000">
                <a:tc>
                  <a:txBody>
                    <a:bodyPr/>
                    <a:lstStyle/>
                    <a:p>
                      <a:pPr indent="0" lvl="0" marL="0" rtl="0" algn="l">
                        <a:lnSpc>
                          <a:spcPct val="115000"/>
                        </a:lnSpc>
                        <a:spcBef>
                          <a:spcPts val="0"/>
                        </a:spcBef>
                        <a:spcAft>
                          <a:spcPts val="1200"/>
                        </a:spcAft>
                        <a:buNone/>
                      </a:pPr>
                      <a:r>
                        <a:rPr lang="zh-TW" sz="1300">
                          <a:solidFill>
                            <a:schemeClr val="dk1"/>
                          </a:solidFill>
                        </a:rPr>
                        <a:t>Feature</a:t>
                      </a:r>
                      <a:endParaRPr sz="1300"/>
                    </a:p>
                  </a:txBody>
                  <a:tcPr marT="91425" marB="91425" marR="91425" marL="91425">
                    <a:solidFill>
                      <a:schemeClr val="lt2"/>
                    </a:solidFill>
                  </a:tcPr>
                </a:tc>
                <a:tc>
                  <a:txBody>
                    <a:bodyPr/>
                    <a:lstStyle/>
                    <a:p>
                      <a:pPr indent="0" lvl="0" marL="0" rtl="0" algn="l">
                        <a:spcBef>
                          <a:spcPts val="0"/>
                        </a:spcBef>
                        <a:spcAft>
                          <a:spcPts val="0"/>
                        </a:spcAft>
                        <a:buNone/>
                      </a:pPr>
                      <a:r>
                        <a:rPr lang="zh-TW" sz="1300"/>
                        <a:t>Formula</a:t>
                      </a:r>
                      <a:endParaRPr sz="1300"/>
                    </a:p>
                  </a:txBody>
                  <a:tcPr marT="91425" marB="91425" marR="91425" marL="91425">
                    <a:solidFill>
                      <a:schemeClr val="lt2"/>
                    </a:solidFill>
                  </a:tcPr>
                </a:tc>
                <a:tc>
                  <a:txBody>
                    <a:bodyPr/>
                    <a:lstStyle/>
                    <a:p>
                      <a:pPr indent="0" lvl="0" marL="0" rtl="0" algn="l">
                        <a:spcBef>
                          <a:spcPts val="0"/>
                        </a:spcBef>
                        <a:spcAft>
                          <a:spcPts val="0"/>
                        </a:spcAft>
                        <a:buNone/>
                      </a:pPr>
                      <a:r>
                        <a:rPr lang="zh-TW" sz="1300"/>
                        <a:t>Description</a:t>
                      </a:r>
                      <a:endParaRPr sz="1300"/>
                    </a:p>
                  </a:txBody>
                  <a:tcPr marT="91425" marB="91425" marR="91425" marL="91425">
                    <a:solidFill>
                      <a:schemeClr val="lt2"/>
                    </a:solidFill>
                  </a:tcPr>
                </a:tc>
              </a:tr>
              <a:tr h="381000">
                <a:tc>
                  <a:txBody>
                    <a:bodyPr/>
                    <a:lstStyle/>
                    <a:p>
                      <a:pPr indent="0" lvl="0" marL="0" rtl="0" algn="l">
                        <a:lnSpc>
                          <a:spcPct val="115000"/>
                        </a:lnSpc>
                        <a:spcBef>
                          <a:spcPts val="0"/>
                        </a:spcBef>
                        <a:spcAft>
                          <a:spcPts val="1200"/>
                        </a:spcAft>
                        <a:buNone/>
                      </a:pPr>
                      <a:r>
                        <a:rPr lang="zh-TW" sz="1300">
                          <a:solidFill>
                            <a:schemeClr val="dk1"/>
                          </a:solidFill>
                        </a:rPr>
                        <a:t>MAGIC_ANNUITY_TO_</a:t>
                      </a:r>
                      <a:br>
                        <a:rPr lang="zh-TW" sz="1300">
                          <a:solidFill>
                            <a:schemeClr val="dk1"/>
                          </a:solidFill>
                        </a:rPr>
                      </a:br>
                      <a:r>
                        <a:rPr lang="zh-TW" sz="1300">
                          <a:solidFill>
                            <a:schemeClr val="dk1"/>
                          </a:solidFill>
                        </a:rPr>
                        <a:t>CREDIT_RATIO</a:t>
                      </a:r>
                      <a:endParaRPr sz="1300"/>
                    </a:p>
                  </a:txBody>
                  <a:tcPr marT="91425" marB="91425" marR="91425" marL="91425">
                    <a:solidFill>
                      <a:schemeClr val="accent6"/>
                    </a:solidFill>
                  </a:tcPr>
                </a:tc>
                <a:tc>
                  <a:txBody>
                    <a:bodyPr/>
                    <a:lstStyle/>
                    <a:p>
                      <a:pPr indent="0" lvl="0" marL="0" rtl="0" algn="l">
                        <a:lnSpc>
                          <a:spcPct val="115000"/>
                        </a:lnSpc>
                        <a:spcBef>
                          <a:spcPts val="0"/>
                        </a:spcBef>
                        <a:spcAft>
                          <a:spcPts val="1200"/>
                        </a:spcAft>
                        <a:buNone/>
                      </a:pPr>
                      <a:r>
                        <a:rPr lang="zh-TW" sz="1300">
                          <a:solidFill>
                            <a:schemeClr val="dk1"/>
                          </a:solidFill>
                        </a:rPr>
                        <a:t>AMT_ANNUITY / AMT_CREDIT</a:t>
                      </a:r>
                      <a:endParaRPr sz="1300"/>
                    </a:p>
                  </a:txBody>
                  <a:tcPr marT="91425" marB="91425" marR="91425" marL="91425"/>
                </a:tc>
                <a:tc>
                  <a:txBody>
                    <a:bodyPr/>
                    <a:lstStyle/>
                    <a:p>
                      <a:pPr indent="0" lvl="0" marL="0" rtl="0" algn="l">
                        <a:lnSpc>
                          <a:spcPct val="115000"/>
                        </a:lnSpc>
                        <a:spcBef>
                          <a:spcPts val="0"/>
                        </a:spcBef>
                        <a:spcAft>
                          <a:spcPts val="1200"/>
                        </a:spcAft>
                        <a:buNone/>
                      </a:pPr>
                      <a:r>
                        <a:rPr lang="zh-TW" sz="1300">
                          <a:solidFill>
                            <a:schemeClr val="dk1"/>
                          </a:solidFill>
                        </a:rPr>
                        <a:t>Financial interpretation: the repayment rate (equivalent to the reciprocal of the loan term). A higher value indicates a shorter repayment period, meaning that the borrower faces greater repayment pressure in each installment.</a:t>
                      </a:r>
                      <a:endParaRPr sz="1300">
                        <a:solidFill>
                          <a:schemeClr val="dk1"/>
                        </a:solidFill>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0" y="0"/>
            <a:ext cx="25785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1800"/>
              <a:t>Magic feature in top 10</a:t>
            </a:r>
            <a:endParaRPr/>
          </a:p>
        </p:txBody>
      </p:sp>
      <p:graphicFrame>
        <p:nvGraphicFramePr>
          <p:cNvPr id="158" name="Google Shape;158;p29"/>
          <p:cNvGraphicFramePr/>
          <p:nvPr/>
        </p:nvGraphicFramePr>
        <p:xfrm>
          <a:off x="732300" y="572700"/>
          <a:ext cx="3000000" cy="3000000"/>
        </p:xfrm>
        <a:graphic>
          <a:graphicData uri="http://schemas.openxmlformats.org/drawingml/2006/table">
            <a:tbl>
              <a:tblPr>
                <a:noFill/>
                <a:tableStyleId>{0139891B-DBC0-4DAB-9BA9-325B1C9457D1}</a:tableStyleId>
              </a:tblPr>
              <a:tblGrid>
                <a:gridCol w="1506450"/>
                <a:gridCol w="4579175"/>
                <a:gridCol w="1994575"/>
              </a:tblGrid>
              <a:tr h="381000">
                <a:tc>
                  <a:txBody>
                    <a:bodyPr/>
                    <a:lstStyle/>
                    <a:p>
                      <a:pPr indent="0" lvl="0" marL="0" rtl="0" algn="l">
                        <a:spcBef>
                          <a:spcPts val="0"/>
                        </a:spcBef>
                        <a:spcAft>
                          <a:spcPts val="0"/>
                        </a:spcAft>
                        <a:buNone/>
                      </a:pPr>
                      <a:r>
                        <a:rPr lang="zh-TW" sz="1300">
                          <a:solidFill>
                            <a:schemeClr val="dk1"/>
                          </a:solidFill>
                        </a:rPr>
                        <a:t>Feature</a:t>
                      </a:r>
                      <a:endParaRPr sz="1300">
                        <a:solidFill>
                          <a:schemeClr val="dk1"/>
                        </a:solidFill>
                      </a:endParaRPr>
                    </a:p>
                  </a:txBody>
                  <a:tcPr marT="91425" marB="91425" marR="91425" marL="91425"/>
                </a:tc>
                <a:tc>
                  <a:txBody>
                    <a:bodyPr/>
                    <a:lstStyle/>
                    <a:p>
                      <a:pPr indent="0" lvl="0" marL="0" rtl="0" algn="l">
                        <a:spcBef>
                          <a:spcPts val="0"/>
                        </a:spcBef>
                        <a:spcAft>
                          <a:spcPts val="0"/>
                        </a:spcAft>
                        <a:buNone/>
                      </a:pPr>
                      <a:r>
                        <a:rPr lang="zh-TW" sz="1300"/>
                        <a:t>Description</a:t>
                      </a:r>
                      <a:endParaRPr sz="1300"/>
                    </a:p>
                  </a:txBody>
                  <a:tcPr marT="91425" marB="91425" marR="91425" marL="91425"/>
                </a:tc>
                <a:tc>
                  <a:txBody>
                    <a:bodyPr/>
                    <a:lstStyle/>
                    <a:p>
                      <a:pPr indent="0" lvl="0" marL="0" rtl="0" algn="l">
                        <a:spcBef>
                          <a:spcPts val="0"/>
                        </a:spcBef>
                        <a:spcAft>
                          <a:spcPts val="0"/>
                        </a:spcAft>
                        <a:buNone/>
                      </a:pPr>
                      <a:r>
                        <a:rPr lang="zh-TW" sz="1300"/>
                        <a:t>Source</a:t>
                      </a:r>
                      <a:endParaRPr sz="1300"/>
                    </a:p>
                  </a:txBody>
                  <a:tcPr marT="91425" marB="91425" marR="91425" marL="91425"/>
                </a:tc>
              </a:tr>
              <a:tr h="381000">
                <a:tc>
                  <a:txBody>
                    <a:bodyPr/>
                    <a:lstStyle/>
                    <a:p>
                      <a:pPr indent="0" lvl="0" marL="0" rtl="0" algn="l">
                        <a:lnSpc>
                          <a:spcPct val="115000"/>
                        </a:lnSpc>
                        <a:spcBef>
                          <a:spcPts val="0"/>
                        </a:spcBef>
                        <a:spcAft>
                          <a:spcPts val="1200"/>
                        </a:spcAft>
                        <a:buNone/>
                      </a:pPr>
                      <a:r>
                        <a:rPr lang="zh-TW" sz="1300">
                          <a:solidFill>
                            <a:schemeClr val="dk1"/>
                          </a:solidFill>
                        </a:rPr>
                        <a:t>AMT_CREDIT</a:t>
                      </a:r>
                      <a:endParaRPr sz="1300"/>
                    </a:p>
                  </a:txBody>
                  <a:tcPr marT="91425" marB="91425" marR="91425" marL="91425"/>
                </a:tc>
                <a:tc>
                  <a:txBody>
                    <a:bodyPr/>
                    <a:lstStyle/>
                    <a:p>
                      <a:pPr indent="0" lvl="0" marL="0" rtl="0" algn="l">
                        <a:spcBef>
                          <a:spcPts val="0"/>
                        </a:spcBef>
                        <a:spcAft>
                          <a:spcPts val="0"/>
                        </a:spcAft>
                        <a:buNone/>
                      </a:pPr>
                      <a:r>
                        <a:rPr lang="zh-TW" sz="1300"/>
                        <a:t>Final credit amount on the previous application</a:t>
                      </a:r>
                      <a:endParaRPr sz="1300"/>
                    </a:p>
                  </a:txBody>
                  <a:tcPr marT="91425" marB="91425" marR="91425" marL="91425"/>
                </a:tc>
                <a:tc>
                  <a:txBody>
                    <a:bodyPr/>
                    <a:lstStyle/>
                    <a:p>
                      <a:pPr indent="0" lvl="0" marL="0" rtl="0" algn="l">
                        <a:spcBef>
                          <a:spcPts val="0"/>
                        </a:spcBef>
                        <a:spcAft>
                          <a:spcPts val="0"/>
                        </a:spcAft>
                        <a:buNone/>
                      </a:pPr>
                      <a:r>
                        <a:rPr lang="zh-TW" sz="1300"/>
                        <a:t>previous_application</a:t>
                      </a:r>
                      <a:endParaRPr sz="1300"/>
                    </a:p>
                  </a:txBody>
                  <a:tcPr marT="91425" marB="91425" marR="91425" marL="91425"/>
                </a:tc>
              </a:tr>
              <a:tr h="381000">
                <a:tc>
                  <a:txBody>
                    <a:bodyPr/>
                    <a:lstStyle/>
                    <a:p>
                      <a:pPr indent="0" lvl="0" marL="0" rtl="0" algn="l">
                        <a:lnSpc>
                          <a:spcPct val="115000"/>
                        </a:lnSpc>
                        <a:spcBef>
                          <a:spcPts val="0"/>
                        </a:spcBef>
                        <a:spcAft>
                          <a:spcPts val="1200"/>
                        </a:spcAft>
                        <a:buNone/>
                      </a:pPr>
                      <a:r>
                        <a:rPr lang="zh-TW" sz="1300">
                          <a:solidFill>
                            <a:schemeClr val="dk1"/>
                          </a:solidFill>
                        </a:rPr>
                        <a:t>AMT_GOODS_PRICE</a:t>
                      </a:r>
                      <a:endParaRPr sz="1300"/>
                    </a:p>
                  </a:txBody>
                  <a:tcPr marT="91425" marB="91425" marR="91425" marL="91425"/>
                </a:tc>
                <a:tc>
                  <a:txBody>
                    <a:bodyPr/>
                    <a:lstStyle/>
                    <a:p>
                      <a:pPr indent="0" lvl="0" marL="0" rtl="0" algn="l">
                        <a:spcBef>
                          <a:spcPts val="0"/>
                        </a:spcBef>
                        <a:spcAft>
                          <a:spcPts val="0"/>
                        </a:spcAft>
                        <a:buNone/>
                      </a:pPr>
                      <a:r>
                        <a:rPr lang="zh-TW" sz="1300">
                          <a:solidFill>
                            <a:schemeClr val="dk1"/>
                          </a:solidFill>
                        </a:rPr>
                        <a:t>Goods price of good that client asked for (if applicable) on the previous application</a:t>
                      </a:r>
                      <a:endParaRPr sz="1300"/>
                    </a:p>
                  </a:txBody>
                  <a:tcPr marT="91425" marB="91425" marR="91425" marL="91425"/>
                </a:tc>
                <a:tc>
                  <a:txBody>
                    <a:bodyPr/>
                    <a:lstStyle/>
                    <a:p>
                      <a:pPr indent="0" lvl="0" marL="0" rtl="0" algn="l">
                        <a:spcBef>
                          <a:spcPts val="0"/>
                        </a:spcBef>
                        <a:spcAft>
                          <a:spcPts val="0"/>
                        </a:spcAft>
                        <a:buNone/>
                      </a:pPr>
                      <a:r>
                        <a:rPr lang="zh-TW" sz="1300">
                          <a:solidFill>
                            <a:schemeClr val="dk1"/>
                          </a:solidFill>
                        </a:rPr>
                        <a:t>previous_application</a:t>
                      </a:r>
                      <a:endParaRPr sz="1300">
                        <a:solidFill>
                          <a:schemeClr val="dk1"/>
                        </a:solidFill>
                      </a:endParaRPr>
                    </a:p>
                  </a:txBody>
                  <a:tcPr marT="91425" marB="91425" marR="91425" marL="91425"/>
                </a:tc>
              </a:tr>
            </a:tbl>
          </a:graphicData>
        </a:graphic>
      </p:graphicFrame>
      <p:sp>
        <p:nvSpPr>
          <p:cNvPr id="159" name="Google Shape;159;p29"/>
          <p:cNvSpPr txBox="1"/>
          <p:nvPr/>
        </p:nvSpPr>
        <p:spPr>
          <a:xfrm>
            <a:off x="3272400" y="1725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a:t>Related features</a:t>
            </a:r>
            <a:endParaRPr/>
          </a:p>
        </p:txBody>
      </p:sp>
      <p:graphicFrame>
        <p:nvGraphicFramePr>
          <p:cNvPr id="160" name="Google Shape;160;p29"/>
          <p:cNvGraphicFramePr/>
          <p:nvPr/>
        </p:nvGraphicFramePr>
        <p:xfrm>
          <a:off x="0" y="2205225"/>
          <a:ext cx="3000000" cy="3000000"/>
        </p:xfrm>
        <a:graphic>
          <a:graphicData uri="http://schemas.openxmlformats.org/drawingml/2006/table">
            <a:tbl>
              <a:tblPr>
                <a:noFill/>
                <a:tableStyleId>{0139891B-DBC0-4DAB-9BA9-325B1C9457D1}</a:tableStyleId>
              </a:tblPr>
              <a:tblGrid>
                <a:gridCol w="2024450"/>
                <a:gridCol w="1908900"/>
                <a:gridCol w="5210625"/>
              </a:tblGrid>
              <a:tr h="381000">
                <a:tc>
                  <a:txBody>
                    <a:bodyPr/>
                    <a:lstStyle/>
                    <a:p>
                      <a:pPr indent="0" lvl="0" marL="0" rtl="0" algn="l">
                        <a:lnSpc>
                          <a:spcPct val="115000"/>
                        </a:lnSpc>
                        <a:spcBef>
                          <a:spcPts val="0"/>
                        </a:spcBef>
                        <a:spcAft>
                          <a:spcPts val="1200"/>
                        </a:spcAft>
                        <a:buNone/>
                      </a:pPr>
                      <a:r>
                        <a:rPr lang="zh-TW" sz="1300">
                          <a:solidFill>
                            <a:schemeClr val="dk1"/>
                          </a:solidFill>
                        </a:rPr>
                        <a:t>Feature</a:t>
                      </a:r>
                      <a:endParaRPr sz="1300"/>
                    </a:p>
                  </a:txBody>
                  <a:tcPr marT="91425" marB="91425" marR="91425" marL="91425"/>
                </a:tc>
                <a:tc>
                  <a:txBody>
                    <a:bodyPr/>
                    <a:lstStyle/>
                    <a:p>
                      <a:pPr indent="0" lvl="0" marL="0" rtl="0" algn="l">
                        <a:spcBef>
                          <a:spcPts val="0"/>
                        </a:spcBef>
                        <a:spcAft>
                          <a:spcPts val="0"/>
                        </a:spcAft>
                        <a:buNone/>
                      </a:pPr>
                      <a:r>
                        <a:rPr lang="zh-TW" sz="1300"/>
                        <a:t>Formula</a:t>
                      </a:r>
                      <a:endParaRPr sz="1300"/>
                    </a:p>
                  </a:txBody>
                  <a:tcPr marT="91425" marB="91425" marR="91425" marL="91425"/>
                </a:tc>
                <a:tc>
                  <a:txBody>
                    <a:bodyPr/>
                    <a:lstStyle/>
                    <a:p>
                      <a:pPr indent="0" lvl="0" marL="0" rtl="0" algn="l">
                        <a:spcBef>
                          <a:spcPts val="0"/>
                        </a:spcBef>
                        <a:spcAft>
                          <a:spcPts val="0"/>
                        </a:spcAft>
                        <a:buNone/>
                      </a:pPr>
                      <a:r>
                        <a:rPr lang="zh-TW" sz="1300"/>
                        <a:t>Description</a:t>
                      </a:r>
                      <a:endParaRPr sz="1300"/>
                    </a:p>
                  </a:txBody>
                  <a:tcPr marT="91425" marB="91425" marR="91425" marL="91425"/>
                </a:tc>
              </a:tr>
              <a:tr h="381000">
                <a:tc>
                  <a:txBody>
                    <a:bodyPr/>
                    <a:lstStyle/>
                    <a:p>
                      <a:pPr indent="0" lvl="0" marL="0" rtl="0" algn="l">
                        <a:lnSpc>
                          <a:spcPct val="115000"/>
                        </a:lnSpc>
                        <a:spcBef>
                          <a:spcPts val="0"/>
                        </a:spcBef>
                        <a:spcAft>
                          <a:spcPts val="1200"/>
                        </a:spcAft>
                        <a:buNone/>
                      </a:pPr>
                      <a:r>
                        <a:rPr lang="zh-TW" sz="1300">
                          <a:solidFill>
                            <a:schemeClr val="dk1"/>
                          </a:solidFill>
                        </a:rPr>
                        <a:t>MAGIC_CREDIT_TO_</a:t>
                      </a:r>
                      <a:br>
                        <a:rPr lang="zh-TW" sz="1300">
                          <a:solidFill>
                            <a:schemeClr val="dk1"/>
                          </a:solidFill>
                        </a:rPr>
                      </a:br>
                      <a:r>
                        <a:rPr lang="zh-TW" sz="1300">
                          <a:solidFill>
                            <a:schemeClr val="dk1"/>
                          </a:solidFill>
                        </a:rPr>
                        <a:t>GOODS_RATIO</a:t>
                      </a:r>
                      <a:endParaRPr sz="1300"/>
                    </a:p>
                  </a:txBody>
                  <a:tcPr marT="91425" marB="91425" marR="91425" marL="91425">
                    <a:solidFill>
                      <a:schemeClr val="accent6"/>
                    </a:solidFill>
                  </a:tcPr>
                </a:tc>
                <a:tc>
                  <a:txBody>
                    <a:bodyPr/>
                    <a:lstStyle/>
                    <a:p>
                      <a:pPr indent="0" lvl="0" marL="0" rtl="0" algn="l">
                        <a:lnSpc>
                          <a:spcPct val="115000"/>
                        </a:lnSpc>
                        <a:spcBef>
                          <a:spcPts val="0"/>
                        </a:spcBef>
                        <a:spcAft>
                          <a:spcPts val="1200"/>
                        </a:spcAft>
                        <a:buNone/>
                      </a:pPr>
                      <a:r>
                        <a:rPr lang="zh-TW" sz="1300">
                          <a:solidFill>
                            <a:schemeClr val="dk1"/>
                          </a:solidFill>
                        </a:rPr>
                        <a:t>AMT_CREDIT /</a:t>
                      </a:r>
                      <a:br>
                        <a:rPr lang="zh-TW" sz="1300">
                          <a:solidFill>
                            <a:schemeClr val="dk1"/>
                          </a:solidFill>
                        </a:rPr>
                      </a:br>
                      <a:r>
                        <a:rPr lang="zh-TW" sz="1300">
                          <a:solidFill>
                            <a:schemeClr val="dk1"/>
                          </a:solidFill>
                        </a:rPr>
                        <a:t>AMT_GOODS_PRICE</a:t>
                      </a:r>
                      <a:endParaRPr sz="1300"/>
                    </a:p>
                  </a:txBody>
                  <a:tcPr marT="91425" marB="91425" marR="91425" marL="91425"/>
                </a:tc>
                <a:tc>
                  <a:txBody>
                    <a:bodyPr/>
                    <a:lstStyle/>
                    <a:p>
                      <a:pPr indent="0" lvl="0" marL="0" rtl="0" algn="l">
                        <a:lnSpc>
                          <a:spcPct val="115000"/>
                        </a:lnSpc>
                        <a:spcBef>
                          <a:spcPts val="0"/>
                        </a:spcBef>
                        <a:spcAft>
                          <a:spcPts val="1200"/>
                        </a:spcAft>
                        <a:buNone/>
                      </a:pPr>
                      <a:r>
                        <a:rPr lang="zh-TW" sz="1300">
                          <a:solidFill>
                            <a:schemeClr val="dk1"/>
                          </a:solidFill>
                        </a:rPr>
                        <a:t>Measures the down payment ratio. If the approved loan amount exceeds the purchase price (i.e., the difference is positive and the ratio is greater than 1), it suggests that the loan includes additional consumer spending beyond the purchased item (cash-out financing). Conversely, if the approved loan amount is lower than the purchase price, the borrower has contributed part of the purchase cost as a down payment. Borrowers who are willing to make a down payment generally exhibit a significantly lower propensity to default.</a:t>
                      </a:r>
                      <a:endParaRPr sz="1300">
                        <a:solidFill>
                          <a:schemeClr val="dk1"/>
                        </a:solidFill>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0" y="0"/>
            <a:ext cx="25785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1800"/>
              <a:t>Time window</a:t>
            </a:r>
            <a:r>
              <a:rPr lang="zh-TW" sz="1800"/>
              <a:t> in top 10</a:t>
            </a:r>
            <a:endParaRPr/>
          </a:p>
        </p:txBody>
      </p:sp>
      <p:graphicFrame>
        <p:nvGraphicFramePr>
          <p:cNvPr id="166" name="Google Shape;166;p30"/>
          <p:cNvGraphicFramePr/>
          <p:nvPr/>
        </p:nvGraphicFramePr>
        <p:xfrm>
          <a:off x="375688" y="572700"/>
          <a:ext cx="3000000" cy="3000000"/>
        </p:xfrm>
        <a:graphic>
          <a:graphicData uri="http://schemas.openxmlformats.org/drawingml/2006/table">
            <a:tbl>
              <a:tblPr>
                <a:noFill/>
                <a:tableStyleId>{0139891B-DBC0-4DAB-9BA9-325B1C9457D1}</a:tableStyleId>
              </a:tblPr>
              <a:tblGrid>
                <a:gridCol w="1910500"/>
                <a:gridCol w="4640825"/>
                <a:gridCol w="1841300"/>
              </a:tblGrid>
              <a:tr h="100000">
                <a:tc>
                  <a:txBody>
                    <a:bodyPr/>
                    <a:lstStyle/>
                    <a:p>
                      <a:pPr indent="0" lvl="0" marL="0" rtl="0" algn="l">
                        <a:spcBef>
                          <a:spcPts val="0"/>
                        </a:spcBef>
                        <a:spcAft>
                          <a:spcPts val="0"/>
                        </a:spcAft>
                        <a:buNone/>
                      </a:pPr>
                      <a:r>
                        <a:rPr lang="zh-TW" sz="1300">
                          <a:solidFill>
                            <a:schemeClr val="dk1"/>
                          </a:solidFill>
                        </a:rPr>
                        <a:t>Feature</a:t>
                      </a:r>
                      <a:endParaRPr sz="1300">
                        <a:solidFill>
                          <a:schemeClr val="dk1"/>
                        </a:solidFill>
                      </a:endParaRPr>
                    </a:p>
                  </a:txBody>
                  <a:tcPr marT="91425" marB="91425" marR="91425" marL="91425"/>
                </a:tc>
                <a:tc>
                  <a:txBody>
                    <a:bodyPr/>
                    <a:lstStyle/>
                    <a:p>
                      <a:pPr indent="0" lvl="0" marL="0" rtl="0" algn="l">
                        <a:spcBef>
                          <a:spcPts val="0"/>
                        </a:spcBef>
                        <a:spcAft>
                          <a:spcPts val="0"/>
                        </a:spcAft>
                        <a:buNone/>
                      </a:pPr>
                      <a:r>
                        <a:rPr lang="zh-TW" sz="1300"/>
                        <a:t>Description</a:t>
                      </a:r>
                      <a:endParaRPr sz="1300"/>
                    </a:p>
                  </a:txBody>
                  <a:tcPr marT="91425" marB="91425" marR="91425" marL="91425"/>
                </a:tc>
                <a:tc>
                  <a:txBody>
                    <a:bodyPr/>
                    <a:lstStyle/>
                    <a:p>
                      <a:pPr indent="0" lvl="0" marL="0" rtl="0" algn="l">
                        <a:spcBef>
                          <a:spcPts val="0"/>
                        </a:spcBef>
                        <a:spcAft>
                          <a:spcPts val="0"/>
                        </a:spcAft>
                        <a:buNone/>
                      </a:pPr>
                      <a:r>
                        <a:rPr lang="zh-TW" sz="1300"/>
                        <a:t>Source</a:t>
                      </a:r>
                      <a:endParaRPr sz="1300"/>
                    </a:p>
                  </a:txBody>
                  <a:tcPr marT="91425" marB="91425" marR="91425" marL="91425"/>
                </a:tc>
              </a:tr>
              <a:tr h="100000">
                <a:tc>
                  <a:txBody>
                    <a:bodyPr/>
                    <a:lstStyle/>
                    <a:p>
                      <a:pPr indent="0" lvl="0" marL="0" rtl="0" algn="l">
                        <a:lnSpc>
                          <a:spcPct val="115000"/>
                        </a:lnSpc>
                        <a:spcBef>
                          <a:spcPts val="0"/>
                        </a:spcBef>
                        <a:spcAft>
                          <a:spcPts val="1200"/>
                        </a:spcAft>
                        <a:buNone/>
                      </a:pPr>
                      <a:r>
                        <a:rPr lang="zh-TW" sz="1300">
                          <a:solidFill>
                            <a:schemeClr val="dk1"/>
                          </a:solidFill>
                        </a:rPr>
                        <a:t>MONTHS_BALANCE</a:t>
                      </a:r>
                      <a:endParaRPr sz="1300"/>
                    </a:p>
                  </a:txBody>
                  <a:tcPr marT="91425" marB="91425" marR="91425" marL="91425"/>
                </a:tc>
                <a:tc>
                  <a:txBody>
                    <a:bodyPr/>
                    <a:lstStyle/>
                    <a:p>
                      <a:pPr indent="0" lvl="0" marL="0" rtl="0" algn="l">
                        <a:spcBef>
                          <a:spcPts val="0"/>
                        </a:spcBef>
                        <a:spcAft>
                          <a:spcPts val="0"/>
                        </a:spcAft>
                        <a:buNone/>
                      </a:pPr>
                      <a:r>
                        <a:rPr lang="zh-TW" sz="1300"/>
                        <a:t>Month of balance relative to application date</a:t>
                      </a:r>
                      <a:endParaRPr sz="1300"/>
                    </a:p>
                  </a:txBody>
                  <a:tcPr marT="91425" marB="91425" marR="91425" marL="91425"/>
                </a:tc>
                <a:tc>
                  <a:txBody>
                    <a:bodyPr/>
                    <a:lstStyle/>
                    <a:p>
                      <a:pPr indent="0" lvl="0" marL="0" rtl="0" algn="l">
                        <a:spcBef>
                          <a:spcPts val="0"/>
                        </a:spcBef>
                        <a:spcAft>
                          <a:spcPts val="0"/>
                        </a:spcAft>
                        <a:buNone/>
                      </a:pPr>
                      <a:r>
                        <a:rPr lang="zh-TW" sz="1300"/>
                        <a:t>credit_card_balance</a:t>
                      </a:r>
                      <a:endParaRPr sz="1300"/>
                    </a:p>
                  </a:txBody>
                  <a:tcPr marT="91425" marB="91425" marR="91425" marL="91425"/>
                </a:tc>
              </a:tr>
              <a:tr h="100000">
                <a:tc>
                  <a:txBody>
                    <a:bodyPr/>
                    <a:lstStyle/>
                    <a:p>
                      <a:pPr indent="0" lvl="0" marL="0" rtl="0" algn="l">
                        <a:lnSpc>
                          <a:spcPct val="115000"/>
                        </a:lnSpc>
                        <a:spcBef>
                          <a:spcPts val="0"/>
                        </a:spcBef>
                        <a:spcAft>
                          <a:spcPts val="1200"/>
                        </a:spcAft>
                        <a:buNone/>
                      </a:pPr>
                      <a:r>
                        <a:rPr lang="zh-TW" sz="1300">
                          <a:solidFill>
                            <a:schemeClr val="dk1"/>
                          </a:solidFill>
                        </a:rPr>
                        <a:t>AMT_BALANCE</a:t>
                      </a:r>
                      <a:endParaRPr sz="1300"/>
                    </a:p>
                  </a:txBody>
                  <a:tcPr marT="91425" marB="91425" marR="91425" marL="91425"/>
                </a:tc>
                <a:tc>
                  <a:txBody>
                    <a:bodyPr/>
                    <a:lstStyle/>
                    <a:p>
                      <a:pPr indent="0" lvl="0" marL="0" rtl="0" algn="l">
                        <a:spcBef>
                          <a:spcPts val="0"/>
                        </a:spcBef>
                        <a:spcAft>
                          <a:spcPts val="0"/>
                        </a:spcAft>
                        <a:buNone/>
                      </a:pPr>
                      <a:r>
                        <a:rPr lang="zh-TW" sz="1300">
                          <a:solidFill>
                            <a:schemeClr val="dk1"/>
                          </a:solidFill>
                        </a:rPr>
                        <a:t>Balance during the month of previous credit</a:t>
                      </a:r>
                      <a:endParaRPr sz="1300"/>
                    </a:p>
                  </a:txBody>
                  <a:tcPr marT="91425" marB="91425" marR="91425" marL="91425"/>
                </a:tc>
                <a:tc>
                  <a:txBody>
                    <a:bodyPr/>
                    <a:lstStyle/>
                    <a:p>
                      <a:pPr indent="0" lvl="0" marL="0" rtl="0" algn="l">
                        <a:spcBef>
                          <a:spcPts val="0"/>
                        </a:spcBef>
                        <a:spcAft>
                          <a:spcPts val="0"/>
                        </a:spcAft>
                        <a:buNone/>
                      </a:pPr>
                      <a:r>
                        <a:rPr lang="zh-TW" sz="1300">
                          <a:solidFill>
                            <a:schemeClr val="dk1"/>
                          </a:solidFill>
                        </a:rPr>
                        <a:t>credit_card_balance</a:t>
                      </a:r>
                      <a:endParaRPr sz="1300">
                        <a:solidFill>
                          <a:schemeClr val="dk1"/>
                        </a:solidFill>
                      </a:endParaRPr>
                    </a:p>
                  </a:txBody>
                  <a:tcPr marT="91425" marB="91425" marR="91425" marL="91425"/>
                </a:tc>
              </a:tr>
              <a:tr h="100000">
                <a:tc>
                  <a:txBody>
                    <a:bodyPr/>
                    <a:lstStyle/>
                    <a:p>
                      <a:pPr indent="0" lvl="0" marL="0" rtl="0" algn="l">
                        <a:lnSpc>
                          <a:spcPct val="115000"/>
                        </a:lnSpc>
                        <a:spcBef>
                          <a:spcPts val="0"/>
                        </a:spcBef>
                        <a:spcAft>
                          <a:spcPts val="1200"/>
                        </a:spcAft>
                        <a:buNone/>
                      </a:pPr>
                      <a:r>
                        <a:rPr lang="zh-TW" sz="1300">
                          <a:solidFill>
                            <a:schemeClr val="dk1"/>
                          </a:solidFill>
                        </a:rPr>
                        <a:t>AMT_CREDIT_LIMIT_ACTUAL</a:t>
                      </a:r>
                      <a:endParaRPr sz="1300">
                        <a:solidFill>
                          <a:schemeClr val="dk1"/>
                        </a:solidFill>
                      </a:endParaRPr>
                    </a:p>
                  </a:txBody>
                  <a:tcPr marT="91425" marB="91425" marR="91425" marL="91425"/>
                </a:tc>
                <a:tc>
                  <a:txBody>
                    <a:bodyPr/>
                    <a:lstStyle/>
                    <a:p>
                      <a:pPr indent="0" lvl="0" marL="0" rtl="0" algn="l">
                        <a:spcBef>
                          <a:spcPts val="0"/>
                        </a:spcBef>
                        <a:spcAft>
                          <a:spcPts val="0"/>
                        </a:spcAft>
                        <a:buNone/>
                      </a:pPr>
                      <a:r>
                        <a:rPr lang="zh-TW" sz="1300">
                          <a:solidFill>
                            <a:schemeClr val="dk1"/>
                          </a:solidFill>
                        </a:rPr>
                        <a:t>Credit card limit during the month of the previous credit</a:t>
                      </a:r>
                      <a:endParaRPr sz="1300">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zh-TW" sz="1300">
                          <a:solidFill>
                            <a:schemeClr val="dk1"/>
                          </a:solidFill>
                        </a:rPr>
                        <a:t>credit_card_balance</a:t>
                      </a:r>
                      <a:endParaRPr sz="1300">
                        <a:solidFill>
                          <a:schemeClr val="dk1"/>
                        </a:solidFill>
                      </a:endParaRPr>
                    </a:p>
                  </a:txBody>
                  <a:tcPr marT="91425" marB="91425" marR="91425" marL="91425"/>
                </a:tc>
              </a:tr>
            </a:tbl>
          </a:graphicData>
        </a:graphic>
      </p:graphicFrame>
      <p:sp>
        <p:nvSpPr>
          <p:cNvPr id="167" name="Google Shape;167;p30"/>
          <p:cNvSpPr txBox="1"/>
          <p:nvPr/>
        </p:nvSpPr>
        <p:spPr>
          <a:xfrm>
            <a:off x="3272400" y="1725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a:t>Related features</a:t>
            </a:r>
            <a:endParaRPr/>
          </a:p>
        </p:txBody>
      </p:sp>
      <p:graphicFrame>
        <p:nvGraphicFramePr>
          <p:cNvPr id="168" name="Google Shape;168;p30"/>
          <p:cNvGraphicFramePr/>
          <p:nvPr/>
        </p:nvGraphicFramePr>
        <p:xfrm>
          <a:off x="13" y="2517350"/>
          <a:ext cx="3000000" cy="3000000"/>
        </p:xfrm>
        <a:graphic>
          <a:graphicData uri="http://schemas.openxmlformats.org/drawingml/2006/table">
            <a:tbl>
              <a:tblPr>
                <a:noFill/>
                <a:tableStyleId>{0139891B-DBC0-4DAB-9BA9-325B1C9457D1}</a:tableStyleId>
              </a:tblPr>
              <a:tblGrid>
                <a:gridCol w="1337375"/>
                <a:gridCol w="2586425"/>
                <a:gridCol w="5220175"/>
              </a:tblGrid>
              <a:tr h="381000">
                <a:tc>
                  <a:txBody>
                    <a:bodyPr/>
                    <a:lstStyle/>
                    <a:p>
                      <a:pPr indent="0" lvl="0" marL="0" rtl="0" algn="l">
                        <a:lnSpc>
                          <a:spcPct val="115000"/>
                        </a:lnSpc>
                        <a:spcBef>
                          <a:spcPts val="0"/>
                        </a:spcBef>
                        <a:spcAft>
                          <a:spcPts val="1200"/>
                        </a:spcAft>
                        <a:buNone/>
                      </a:pPr>
                      <a:r>
                        <a:rPr lang="zh-TW" sz="1300">
                          <a:solidFill>
                            <a:schemeClr val="dk1"/>
                          </a:solidFill>
                        </a:rPr>
                        <a:t>Feature</a:t>
                      </a:r>
                      <a:endParaRPr sz="1300"/>
                    </a:p>
                  </a:txBody>
                  <a:tcPr marT="91425" marB="91425" marR="91425" marL="91425"/>
                </a:tc>
                <a:tc>
                  <a:txBody>
                    <a:bodyPr/>
                    <a:lstStyle/>
                    <a:p>
                      <a:pPr indent="0" lvl="0" marL="0" rtl="0" algn="l">
                        <a:spcBef>
                          <a:spcPts val="0"/>
                        </a:spcBef>
                        <a:spcAft>
                          <a:spcPts val="0"/>
                        </a:spcAft>
                        <a:buNone/>
                      </a:pPr>
                      <a:r>
                        <a:rPr lang="zh-TW" sz="1300"/>
                        <a:t>Formula</a:t>
                      </a:r>
                      <a:endParaRPr sz="1300"/>
                    </a:p>
                  </a:txBody>
                  <a:tcPr marT="91425" marB="91425" marR="91425" marL="91425"/>
                </a:tc>
                <a:tc>
                  <a:txBody>
                    <a:bodyPr/>
                    <a:lstStyle/>
                    <a:p>
                      <a:pPr indent="0" lvl="0" marL="0" rtl="0" algn="l">
                        <a:spcBef>
                          <a:spcPts val="0"/>
                        </a:spcBef>
                        <a:spcAft>
                          <a:spcPts val="0"/>
                        </a:spcAft>
                        <a:buNone/>
                      </a:pPr>
                      <a:r>
                        <a:rPr lang="zh-TW" sz="1300"/>
                        <a:t>Description</a:t>
                      </a:r>
                      <a:endParaRPr sz="1300"/>
                    </a:p>
                  </a:txBody>
                  <a:tcPr marT="91425" marB="91425" marR="91425" marL="91425"/>
                </a:tc>
              </a:tr>
              <a:tr h="381000">
                <a:tc>
                  <a:txBody>
                    <a:bodyPr/>
                    <a:lstStyle/>
                    <a:p>
                      <a:pPr indent="0" lvl="0" marL="0" rtl="0" algn="l">
                        <a:lnSpc>
                          <a:spcPct val="115000"/>
                        </a:lnSpc>
                        <a:spcBef>
                          <a:spcPts val="0"/>
                        </a:spcBef>
                        <a:spcAft>
                          <a:spcPts val="1200"/>
                        </a:spcAft>
                        <a:buNone/>
                      </a:pPr>
                      <a:r>
                        <a:rPr lang="zh-TW" sz="1300">
                          <a:solidFill>
                            <a:schemeClr val="dk1"/>
                          </a:solidFill>
                        </a:rPr>
                        <a:t>CC_6M</a:t>
                      </a:r>
                      <a:endParaRPr sz="1300"/>
                    </a:p>
                  </a:txBody>
                  <a:tcPr marT="91425" marB="91425" marR="91425" marL="91425"/>
                </a:tc>
                <a:tc>
                  <a:txBody>
                    <a:bodyPr/>
                    <a:lstStyle/>
                    <a:p>
                      <a:pPr indent="0" lvl="0" marL="0" rtl="0" algn="l">
                        <a:lnSpc>
                          <a:spcPct val="115000"/>
                        </a:lnSpc>
                        <a:spcBef>
                          <a:spcPts val="0"/>
                        </a:spcBef>
                        <a:spcAft>
                          <a:spcPts val="1200"/>
                        </a:spcAft>
                        <a:buNone/>
                      </a:pPr>
                      <a:r>
                        <a:rPr lang="zh-TW" sz="1300">
                          <a:solidFill>
                            <a:schemeClr val="dk1"/>
                          </a:solidFill>
                        </a:rPr>
                        <a:t>MONTHS_BALANCE &gt;= -6</a:t>
                      </a:r>
                      <a:endParaRPr sz="1300"/>
                    </a:p>
                  </a:txBody>
                  <a:tcPr marT="91425" marB="91425" marR="91425" marL="91425"/>
                </a:tc>
                <a:tc>
                  <a:txBody>
                    <a:bodyPr/>
                    <a:lstStyle/>
                    <a:p>
                      <a:pPr indent="0" lvl="0" marL="0" rtl="0" algn="l">
                        <a:lnSpc>
                          <a:spcPct val="115000"/>
                        </a:lnSpc>
                        <a:spcBef>
                          <a:spcPts val="0"/>
                        </a:spcBef>
                        <a:spcAft>
                          <a:spcPts val="1200"/>
                        </a:spcAft>
                        <a:buClr>
                          <a:schemeClr val="dk1"/>
                        </a:buClr>
                        <a:buSzPts val="1100"/>
                        <a:buFont typeface="Arial"/>
                        <a:buNone/>
                      </a:pPr>
                      <a:r>
                        <a:rPr lang="zh-TW" sz="1300">
                          <a:solidFill>
                            <a:schemeClr val="dk1"/>
                          </a:solidFill>
                        </a:rPr>
                        <a:t>Past 6 months</a:t>
                      </a:r>
                      <a:endParaRPr sz="1300">
                        <a:solidFill>
                          <a:schemeClr val="dk1"/>
                        </a:solidFill>
                      </a:endParaRPr>
                    </a:p>
                  </a:txBody>
                  <a:tcPr marT="91425" marB="91425" marR="91425" marL="91425"/>
                </a:tc>
              </a:tr>
              <a:tr h="381000">
                <a:tc>
                  <a:txBody>
                    <a:bodyPr/>
                    <a:lstStyle/>
                    <a:p>
                      <a:pPr indent="0" lvl="0" marL="0" rtl="0" algn="l">
                        <a:lnSpc>
                          <a:spcPct val="115000"/>
                        </a:lnSpc>
                        <a:spcBef>
                          <a:spcPts val="0"/>
                        </a:spcBef>
                        <a:spcAft>
                          <a:spcPts val="1200"/>
                        </a:spcAft>
                        <a:buClr>
                          <a:schemeClr val="dk1"/>
                        </a:buClr>
                        <a:buSzPts val="1100"/>
                        <a:buFont typeface="Arial"/>
                        <a:buNone/>
                      </a:pPr>
                      <a:r>
                        <a:rPr lang="zh-TW" sz="1300">
                          <a:solidFill>
                            <a:schemeClr val="dk1"/>
                          </a:solidFill>
                        </a:rPr>
                        <a:t>CC_LIMIT_</a:t>
                      </a:r>
                      <a:br>
                        <a:rPr lang="zh-TW" sz="1300">
                          <a:solidFill>
                            <a:schemeClr val="dk1"/>
                          </a:solidFill>
                        </a:rPr>
                      </a:br>
                      <a:r>
                        <a:rPr lang="zh-TW" sz="1300">
                          <a:solidFill>
                            <a:schemeClr val="dk1"/>
                          </a:solidFill>
                        </a:rPr>
                        <a:t>USE_RATIO</a:t>
                      </a:r>
                      <a:endParaRPr sz="1300"/>
                    </a:p>
                  </a:txBody>
                  <a:tcPr marT="91425" marB="91425" marR="91425" marL="91425"/>
                </a:tc>
                <a:tc>
                  <a:txBody>
                    <a:bodyPr/>
                    <a:lstStyle/>
                    <a:p>
                      <a:pPr indent="0" lvl="0" marL="0" rtl="0" algn="l">
                        <a:lnSpc>
                          <a:spcPct val="115000"/>
                        </a:lnSpc>
                        <a:spcBef>
                          <a:spcPts val="0"/>
                        </a:spcBef>
                        <a:spcAft>
                          <a:spcPts val="1200"/>
                        </a:spcAft>
                        <a:buNone/>
                      </a:pPr>
                      <a:r>
                        <a:rPr lang="zh-TW" sz="1300">
                          <a:solidFill>
                            <a:schemeClr val="dk1"/>
                          </a:solidFill>
                        </a:rPr>
                        <a:t>AMT_BALANCE /</a:t>
                      </a:r>
                      <a:br>
                        <a:rPr lang="zh-TW" sz="1300">
                          <a:solidFill>
                            <a:schemeClr val="dk1"/>
                          </a:solidFill>
                        </a:rPr>
                      </a:br>
                      <a:r>
                        <a:rPr lang="zh-TW" sz="1300">
                          <a:solidFill>
                            <a:schemeClr val="dk1"/>
                          </a:solidFill>
                        </a:rPr>
                        <a:t>AMT_CREDIT_LIMIT_ACTUAL </a:t>
                      </a:r>
                      <a:endParaRPr sz="1300">
                        <a:solidFill>
                          <a:schemeClr val="dk1"/>
                        </a:solidFill>
                      </a:endParaRPr>
                    </a:p>
                  </a:txBody>
                  <a:tcPr marT="91425" marB="91425" marR="91425" marL="91425"/>
                </a:tc>
                <a:tc>
                  <a:txBody>
                    <a:bodyPr/>
                    <a:lstStyle/>
                    <a:p>
                      <a:pPr indent="0" lvl="0" marL="0" rtl="0" algn="l">
                        <a:lnSpc>
                          <a:spcPct val="115000"/>
                        </a:lnSpc>
                        <a:spcBef>
                          <a:spcPts val="0"/>
                        </a:spcBef>
                        <a:spcAft>
                          <a:spcPts val="1200"/>
                        </a:spcAft>
                        <a:buClr>
                          <a:schemeClr val="dk1"/>
                        </a:buClr>
                        <a:buSzPts val="1100"/>
                        <a:buFont typeface="Arial"/>
                        <a:buNone/>
                      </a:pPr>
                      <a:r>
                        <a:rPr lang="zh-TW" sz="1300">
                          <a:solidFill>
                            <a:schemeClr val="dk1"/>
                          </a:solidFill>
                        </a:rPr>
                        <a:t>C</a:t>
                      </a:r>
                      <a:r>
                        <a:rPr lang="zh-TW" sz="1300">
                          <a:solidFill>
                            <a:schemeClr val="dk1"/>
                          </a:solidFill>
                        </a:rPr>
                        <a:t>redit usage rate</a:t>
                      </a:r>
                      <a:endParaRPr sz="1300">
                        <a:solidFill>
                          <a:schemeClr val="dk1"/>
                        </a:solidFill>
                      </a:endParaRPr>
                    </a:p>
                  </a:txBody>
                  <a:tcPr marT="91425" marB="91425" marR="91425" marL="91425"/>
                </a:tc>
              </a:tr>
              <a:tr h="381000">
                <a:tc>
                  <a:txBody>
                    <a:bodyPr/>
                    <a:lstStyle/>
                    <a:p>
                      <a:pPr indent="0" lvl="0" marL="0" rtl="0" algn="l">
                        <a:lnSpc>
                          <a:spcPct val="115000"/>
                        </a:lnSpc>
                        <a:spcBef>
                          <a:spcPts val="0"/>
                        </a:spcBef>
                        <a:spcAft>
                          <a:spcPts val="1200"/>
                        </a:spcAft>
                        <a:buClr>
                          <a:schemeClr val="dk1"/>
                        </a:buClr>
                        <a:buSzPts val="1100"/>
                        <a:buFont typeface="Arial"/>
                        <a:buNone/>
                      </a:pPr>
                      <a:r>
                        <a:rPr lang="zh-TW" sz="1300">
                          <a:solidFill>
                            <a:schemeClr val="dk1"/>
                          </a:solidFill>
                        </a:rPr>
                        <a:t>CC_6M_CC_</a:t>
                      </a:r>
                      <a:br>
                        <a:rPr lang="zh-TW" sz="1300">
                          <a:solidFill>
                            <a:schemeClr val="dk1"/>
                          </a:solidFill>
                        </a:rPr>
                      </a:br>
                      <a:r>
                        <a:rPr lang="zh-TW" sz="1300">
                          <a:solidFill>
                            <a:schemeClr val="dk1"/>
                          </a:solidFill>
                        </a:rPr>
                        <a:t>LIMIT_USE_</a:t>
                      </a:r>
                      <a:br>
                        <a:rPr lang="zh-TW" sz="1300">
                          <a:solidFill>
                            <a:schemeClr val="dk1"/>
                          </a:solidFill>
                        </a:rPr>
                      </a:br>
                      <a:r>
                        <a:rPr lang="zh-TW" sz="1300">
                          <a:solidFill>
                            <a:schemeClr val="dk1"/>
                          </a:solidFill>
                        </a:rPr>
                        <a:t>RATIO_MAX</a:t>
                      </a:r>
                      <a:endParaRPr sz="1300"/>
                    </a:p>
                  </a:txBody>
                  <a:tcPr marT="91425" marB="91425" marR="91425" marL="91425">
                    <a:solidFill>
                      <a:schemeClr val="accent6"/>
                    </a:solidFill>
                  </a:tcPr>
                </a:tc>
                <a:tc>
                  <a:txBody>
                    <a:bodyPr/>
                    <a:lstStyle/>
                    <a:p>
                      <a:pPr indent="0" lvl="0" marL="0" rtl="0" algn="l">
                        <a:lnSpc>
                          <a:spcPct val="115000"/>
                        </a:lnSpc>
                        <a:spcBef>
                          <a:spcPts val="0"/>
                        </a:spcBef>
                        <a:spcAft>
                          <a:spcPts val="1200"/>
                        </a:spcAft>
                        <a:buNone/>
                      </a:pPr>
                      <a:r>
                        <a:rPr lang="zh-TW" sz="1300">
                          <a:solidFill>
                            <a:schemeClr val="dk1"/>
                          </a:solidFill>
                        </a:rPr>
                        <a:t>max CC_LIMIT_USE_RATIO</a:t>
                      </a:r>
                      <a:br>
                        <a:rPr lang="zh-TW" sz="1300">
                          <a:solidFill>
                            <a:schemeClr val="dk1"/>
                          </a:solidFill>
                        </a:rPr>
                      </a:br>
                      <a:r>
                        <a:rPr lang="zh-TW" sz="1300">
                          <a:solidFill>
                            <a:schemeClr val="dk1"/>
                          </a:solidFill>
                        </a:rPr>
                        <a:t>in CC_6M</a:t>
                      </a:r>
                      <a:endParaRPr sz="1300">
                        <a:solidFill>
                          <a:schemeClr val="dk1"/>
                        </a:solidFill>
                      </a:endParaRPr>
                    </a:p>
                  </a:txBody>
                  <a:tcPr marT="91425" marB="91425" marR="91425" marL="91425"/>
                </a:tc>
                <a:tc>
                  <a:txBody>
                    <a:bodyPr/>
                    <a:lstStyle/>
                    <a:p>
                      <a:pPr indent="0" lvl="0" marL="0" rtl="0" algn="l">
                        <a:lnSpc>
                          <a:spcPct val="115000"/>
                        </a:lnSpc>
                        <a:spcBef>
                          <a:spcPts val="0"/>
                        </a:spcBef>
                        <a:spcAft>
                          <a:spcPts val="1200"/>
                        </a:spcAft>
                        <a:buNone/>
                      </a:pPr>
                      <a:r>
                        <a:rPr lang="zh-TW" sz="1300">
                          <a:solidFill>
                            <a:schemeClr val="dk1"/>
                          </a:solidFill>
                        </a:rPr>
                        <a:t>From a bank’s perspective, a customer with a previously healthy credit profile who suddenly begins to consistently max out their credit card limits over the past six months may be exhibiting early signs of financial distress, such as unemployment, business failure, or an impending financial crisis. Tree-based models tend to find this feature highly informative because the point at which a borrower starts fully utilizing their available credit is often associated with a sharp increase in default risk.</a:t>
                      </a:r>
                      <a:endParaRPr sz="1300">
                        <a:solidFill>
                          <a:schemeClr val="dk1"/>
                        </a:solidFill>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0" y="0"/>
            <a:ext cx="25785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1800"/>
              <a:t>Time window in top 10</a:t>
            </a:r>
            <a:endParaRPr/>
          </a:p>
        </p:txBody>
      </p:sp>
      <p:graphicFrame>
        <p:nvGraphicFramePr>
          <p:cNvPr id="174" name="Google Shape;174;p31"/>
          <p:cNvGraphicFramePr/>
          <p:nvPr/>
        </p:nvGraphicFramePr>
        <p:xfrm>
          <a:off x="375688" y="572700"/>
          <a:ext cx="3000000" cy="3000000"/>
        </p:xfrm>
        <a:graphic>
          <a:graphicData uri="http://schemas.openxmlformats.org/drawingml/2006/table">
            <a:tbl>
              <a:tblPr>
                <a:noFill/>
                <a:tableStyleId>{0139891B-DBC0-4DAB-9BA9-325B1C9457D1}</a:tableStyleId>
              </a:tblPr>
              <a:tblGrid>
                <a:gridCol w="1910500"/>
                <a:gridCol w="4640825"/>
                <a:gridCol w="2013075"/>
              </a:tblGrid>
              <a:tr h="100000">
                <a:tc>
                  <a:txBody>
                    <a:bodyPr/>
                    <a:lstStyle/>
                    <a:p>
                      <a:pPr indent="0" lvl="0" marL="0" rtl="0" algn="l">
                        <a:spcBef>
                          <a:spcPts val="0"/>
                        </a:spcBef>
                        <a:spcAft>
                          <a:spcPts val="0"/>
                        </a:spcAft>
                        <a:buNone/>
                      </a:pPr>
                      <a:r>
                        <a:rPr lang="zh-TW" sz="1300">
                          <a:solidFill>
                            <a:schemeClr val="dk1"/>
                          </a:solidFill>
                        </a:rPr>
                        <a:t>Feature</a:t>
                      </a:r>
                      <a:endParaRPr sz="1300">
                        <a:solidFill>
                          <a:schemeClr val="dk1"/>
                        </a:solidFill>
                      </a:endParaRPr>
                    </a:p>
                  </a:txBody>
                  <a:tcPr marT="91425" marB="91425" marR="91425" marL="91425"/>
                </a:tc>
                <a:tc>
                  <a:txBody>
                    <a:bodyPr/>
                    <a:lstStyle/>
                    <a:p>
                      <a:pPr indent="0" lvl="0" marL="0" rtl="0" algn="l">
                        <a:spcBef>
                          <a:spcPts val="0"/>
                        </a:spcBef>
                        <a:spcAft>
                          <a:spcPts val="0"/>
                        </a:spcAft>
                        <a:buNone/>
                      </a:pPr>
                      <a:r>
                        <a:rPr lang="zh-TW" sz="1300"/>
                        <a:t>Description</a:t>
                      </a:r>
                      <a:endParaRPr sz="1300"/>
                    </a:p>
                  </a:txBody>
                  <a:tcPr marT="91425" marB="91425" marR="91425" marL="91425"/>
                </a:tc>
                <a:tc>
                  <a:txBody>
                    <a:bodyPr/>
                    <a:lstStyle/>
                    <a:p>
                      <a:pPr indent="0" lvl="0" marL="0" rtl="0" algn="l">
                        <a:spcBef>
                          <a:spcPts val="0"/>
                        </a:spcBef>
                        <a:spcAft>
                          <a:spcPts val="0"/>
                        </a:spcAft>
                        <a:buNone/>
                      </a:pPr>
                      <a:r>
                        <a:rPr lang="zh-TW" sz="1300"/>
                        <a:t>Source</a:t>
                      </a:r>
                      <a:endParaRPr sz="1300"/>
                    </a:p>
                  </a:txBody>
                  <a:tcPr marT="91425" marB="91425" marR="91425" marL="91425"/>
                </a:tc>
              </a:tr>
              <a:tr h="381000">
                <a:tc>
                  <a:txBody>
                    <a:bodyPr/>
                    <a:lstStyle/>
                    <a:p>
                      <a:pPr indent="0" lvl="0" marL="0" rtl="0" algn="l">
                        <a:lnSpc>
                          <a:spcPct val="115000"/>
                        </a:lnSpc>
                        <a:spcBef>
                          <a:spcPts val="0"/>
                        </a:spcBef>
                        <a:spcAft>
                          <a:spcPts val="1200"/>
                        </a:spcAft>
                        <a:buNone/>
                      </a:pPr>
                      <a:r>
                        <a:rPr lang="zh-TW" sz="1300">
                          <a:solidFill>
                            <a:schemeClr val="dk1"/>
                          </a:solidFill>
                        </a:rPr>
                        <a:t>MONTHS_BALANCE</a:t>
                      </a:r>
                      <a:endParaRPr sz="1300"/>
                    </a:p>
                  </a:txBody>
                  <a:tcPr marT="91425" marB="91425" marR="91425" marL="91425"/>
                </a:tc>
                <a:tc>
                  <a:txBody>
                    <a:bodyPr/>
                    <a:lstStyle/>
                    <a:p>
                      <a:pPr indent="0" lvl="0" marL="0" rtl="0" algn="l">
                        <a:spcBef>
                          <a:spcPts val="0"/>
                        </a:spcBef>
                        <a:spcAft>
                          <a:spcPts val="0"/>
                        </a:spcAft>
                        <a:buNone/>
                      </a:pPr>
                      <a:r>
                        <a:rPr lang="zh-TW" sz="1300"/>
                        <a:t>Month of balance relative to application date</a:t>
                      </a:r>
                      <a:endParaRPr sz="1300"/>
                    </a:p>
                  </a:txBody>
                  <a:tcPr marT="91425" marB="91425" marR="91425" marL="91425"/>
                </a:tc>
                <a:tc>
                  <a:txBody>
                    <a:bodyPr/>
                    <a:lstStyle/>
                    <a:p>
                      <a:pPr indent="0" lvl="0" marL="0" rtl="0" algn="l">
                        <a:spcBef>
                          <a:spcPts val="0"/>
                        </a:spcBef>
                        <a:spcAft>
                          <a:spcPts val="0"/>
                        </a:spcAft>
                        <a:buNone/>
                      </a:pPr>
                      <a:r>
                        <a:rPr lang="zh-TW" sz="1300"/>
                        <a:t>POS_CASH_balance</a:t>
                      </a:r>
                      <a:endParaRPr sz="1300"/>
                    </a:p>
                  </a:txBody>
                  <a:tcPr marT="91425" marB="91425" marR="91425" marL="91425"/>
                </a:tc>
              </a:tr>
              <a:tr h="381000">
                <a:tc>
                  <a:txBody>
                    <a:bodyPr/>
                    <a:lstStyle/>
                    <a:p>
                      <a:pPr indent="0" lvl="0" marL="0" rtl="0" algn="l">
                        <a:lnSpc>
                          <a:spcPct val="115000"/>
                        </a:lnSpc>
                        <a:spcBef>
                          <a:spcPts val="0"/>
                        </a:spcBef>
                        <a:spcAft>
                          <a:spcPts val="1200"/>
                        </a:spcAft>
                        <a:buNone/>
                      </a:pPr>
                      <a:r>
                        <a:rPr lang="zh-TW" sz="1300">
                          <a:solidFill>
                            <a:schemeClr val="dk1"/>
                          </a:solidFill>
                        </a:rPr>
                        <a:t>CNT_INSTALMENT_FUTURE</a:t>
                      </a:r>
                      <a:endParaRPr sz="1300"/>
                    </a:p>
                  </a:txBody>
                  <a:tcPr marT="91425" marB="91425" marR="91425" marL="91425"/>
                </a:tc>
                <a:tc>
                  <a:txBody>
                    <a:bodyPr/>
                    <a:lstStyle/>
                    <a:p>
                      <a:pPr indent="0" lvl="0" marL="0" rtl="0" algn="l">
                        <a:spcBef>
                          <a:spcPts val="0"/>
                        </a:spcBef>
                        <a:spcAft>
                          <a:spcPts val="0"/>
                        </a:spcAft>
                        <a:buNone/>
                      </a:pPr>
                      <a:r>
                        <a:rPr lang="zh-TW" sz="1300">
                          <a:solidFill>
                            <a:schemeClr val="dk1"/>
                          </a:solidFill>
                        </a:rPr>
                        <a:t>Installments left to pay on the previous credit)</a:t>
                      </a:r>
                      <a:endParaRPr sz="13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zh-TW" sz="1300">
                          <a:solidFill>
                            <a:schemeClr val="dk1"/>
                          </a:solidFill>
                        </a:rPr>
                        <a:t>POS_CASH_balance</a:t>
                      </a:r>
                      <a:endParaRPr sz="1300">
                        <a:solidFill>
                          <a:schemeClr val="dk1"/>
                        </a:solidFill>
                      </a:endParaRPr>
                    </a:p>
                    <a:p>
                      <a:pPr indent="0" lvl="0" marL="0" rtl="0" algn="l">
                        <a:spcBef>
                          <a:spcPts val="0"/>
                        </a:spcBef>
                        <a:spcAft>
                          <a:spcPts val="0"/>
                        </a:spcAft>
                        <a:buNone/>
                      </a:pPr>
                      <a:r>
                        <a:t/>
                      </a:r>
                      <a:endParaRPr sz="1300">
                        <a:solidFill>
                          <a:schemeClr val="dk1"/>
                        </a:solidFill>
                      </a:endParaRPr>
                    </a:p>
                  </a:txBody>
                  <a:tcPr marT="91425" marB="91425" marR="91425" marL="91425"/>
                </a:tc>
              </a:tr>
            </a:tbl>
          </a:graphicData>
        </a:graphic>
      </p:graphicFrame>
      <p:sp>
        <p:nvSpPr>
          <p:cNvPr id="175" name="Google Shape;175;p31"/>
          <p:cNvSpPr txBox="1"/>
          <p:nvPr/>
        </p:nvSpPr>
        <p:spPr>
          <a:xfrm>
            <a:off x="3272400" y="1725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a:t>Related features</a:t>
            </a:r>
            <a:endParaRPr/>
          </a:p>
        </p:txBody>
      </p:sp>
      <p:graphicFrame>
        <p:nvGraphicFramePr>
          <p:cNvPr id="176" name="Google Shape;176;p31"/>
          <p:cNvGraphicFramePr/>
          <p:nvPr/>
        </p:nvGraphicFramePr>
        <p:xfrm>
          <a:off x="85913" y="2183350"/>
          <a:ext cx="3000000" cy="3000000"/>
        </p:xfrm>
        <a:graphic>
          <a:graphicData uri="http://schemas.openxmlformats.org/drawingml/2006/table">
            <a:tbl>
              <a:tblPr>
                <a:noFill/>
                <a:tableStyleId>{0139891B-DBC0-4DAB-9BA9-325B1C9457D1}</a:tableStyleId>
              </a:tblPr>
              <a:tblGrid>
                <a:gridCol w="1337375"/>
                <a:gridCol w="2586425"/>
                <a:gridCol w="5220175"/>
              </a:tblGrid>
              <a:tr h="381000">
                <a:tc>
                  <a:txBody>
                    <a:bodyPr/>
                    <a:lstStyle/>
                    <a:p>
                      <a:pPr indent="0" lvl="0" marL="0" rtl="0" algn="l">
                        <a:lnSpc>
                          <a:spcPct val="115000"/>
                        </a:lnSpc>
                        <a:spcBef>
                          <a:spcPts val="0"/>
                        </a:spcBef>
                        <a:spcAft>
                          <a:spcPts val="1200"/>
                        </a:spcAft>
                        <a:buNone/>
                      </a:pPr>
                      <a:r>
                        <a:rPr lang="zh-TW" sz="1300">
                          <a:solidFill>
                            <a:schemeClr val="dk1"/>
                          </a:solidFill>
                        </a:rPr>
                        <a:t>Feature</a:t>
                      </a:r>
                      <a:endParaRPr sz="1300"/>
                    </a:p>
                  </a:txBody>
                  <a:tcPr marT="91425" marB="91425" marR="91425" marL="91425"/>
                </a:tc>
                <a:tc>
                  <a:txBody>
                    <a:bodyPr/>
                    <a:lstStyle/>
                    <a:p>
                      <a:pPr indent="0" lvl="0" marL="0" rtl="0" algn="l">
                        <a:spcBef>
                          <a:spcPts val="0"/>
                        </a:spcBef>
                        <a:spcAft>
                          <a:spcPts val="0"/>
                        </a:spcAft>
                        <a:buNone/>
                      </a:pPr>
                      <a:r>
                        <a:rPr lang="zh-TW" sz="1300"/>
                        <a:t>Formula</a:t>
                      </a:r>
                      <a:endParaRPr sz="1300"/>
                    </a:p>
                  </a:txBody>
                  <a:tcPr marT="91425" marB="91425" marR="91425" marL="91425"/>
                </a:tc>
                <a:tc>
                  <a:txBody>
                    <a:bodyPr/>
                    <a:lstStyle/>
                    <a:p>
                      <a:pPr indent="0" lvl="0" marL="0" rtl="0" algn="l">
                        <a:spcBef>
                          <a:spcPts val="0"/>
                        </a:spcBef>
                        <a:spcAft>
                          <a:spcPts val="0"/>
                        </a:spcAft>
                        <a:buNone/>
                      </a:pPr>
                      <a:r>
                        <a:rPr lang="zh-TW" sz="1300"/>
                        <a:t>Description</a:t>
                      </a:r>
                      <a:endParaRPr sz="1300"/>
                    </a:p>
                  </a:txBody>
                  <a:tcPr marT="91425" marB="91425" marR="91425" marL="91425"/>
                </a:tc>
              </a:tr>
              <a:tr h="381000">
                <a:tc>
                  <a:txBody>
                    <a:bodyPr/>
                    <a:lstStyle/>
                    <a:p>
                      <a:pPr indent="0" lvl="0" marL="0" rtl="0" algn="l">
                        <a:lnSpc>
                          <a:spcPct val="115000"/>
                        </a:lnSpc>
                        <a:spcBef>
                          <a:spcPts val="0"/>
                        </a:spcBef>
                        <a:spcAft>
                          <a:spcPts val="1200"/>
                        </a:spcAft>
                        <a:buNone/>
                      </a:pPr>
                      <a:r>
                        <a:rPr lang="zh-TW" sz="1300">
                          <a:solidFill>
                            <a:schemeClr val="dk1"/>
                          </a:solidFill>
                        </a:rPr>
                        <a:t>POS_6M</a:t>
                      </a:r>
                      <a:endParaRPr sz="1300"/>
                    </a:p>
                  </a:txBody>
                  <a:tcPr marT="91425" marB="91425" marR="91425" marL="91425"/>
                </a:tc>
                <a:tc>
                  <a:txBody>
                    <a:bodyPr/>
                    <a:lstStyle/>
                    <a:p>
                      <a:pPr indent="0" lvl="0" marL="0" rtl="0" algn="l">
                        <a:lnSpc>
                          <a:spcPct val="115000"/>
                        </a:lnSpc>
                        <a:spcBef>
                          <a:spcPts val="0"/>
                        </a:spcBef>
                        <a:spcAft>
                          <a:spcPts val="1200"/>
                        </a:spcAft>
                        <a:buNone/>
                      </a:pPr>
                      <a:r>
                        <a:rPr lang="zh-TW" sz="1300">
                          <a:solidFill>
                            <a:schemeClr val="dk1"/>
                          </a:solidFill>
                        </a:rPr>
                        <a:t>MONTHS_BALANCE &gt;= -6</a:t>
                      </a:r>
                      <a:endParaRPr sz="1300"/>
                    </a:p>
                  </a:txBody>
                  <a:tcPr marT="91425" marB="91425" marR="91425" marL="91425"/>
                </a:tc>
                <a:tc>
                  <a:txBody>
                    <a:bodyPr/>
                    <a:lstStyle/>
                    <a:p>
                      <a:pPr indent="0" lvl="0" marL="0" rtl="0" algn="l">
                        <a:lnSpc>
                          <a:spcPct val="115000"/>
                        </a:lnSpc>
                        <a:spcBef>
                          <a:spcPts val="0"/>
                        </a:spcBef>
                        <a:spcAft>
                          <a:spcPts val="1200"/>
                        </a:spcAft>
                        <a:buNone/>
                      </a:pPr>
                      <a:r>
                        <a:rPr lang="zh-TW" sz="1300">
                          <a:solidFill>
                            <a:schemeClr val="dk1"/>
                          </a:solidFill>
                        </a:rPr>
                        <a:t>Past 6 months</a:t>
                      </a:r>
                      <a:endParaRPr sz="1300">
                        <a:solidFill>
                          <a:schemeClr val="dk1"/>
                        </a:solidFill>
                      </a:endParaRPr>
                    </a:p>
                  </a:txBody>
                  <a:tcPr marT="91425" marB="91425" marR="91425" marL="91425"/>
                </a:tc>
              </a:tr>
              <a:tr h="381000">
                <a:tc>
                  <a:txBody>
                    <a:bodyPr/>
                    <a:lstStyle/>
                    <a:p>
                      <a:pPr indent="0" lvl="0" marL="0" rtl="0" algn="l">
                        <a:lnSpc>
                          <a:spcPct val="115000"/>
                        </a:lnSpc>
                        <a:spcBef>
                          <a:spcPts val="0"/>
                        </a:spcBef>
                        <a:spcAft>
                          <a:spcPts val="1200"/>
                        </a:spcAft>
                        <a:buNone/>
                      </a:pPr>
                      <a:r>
                        <a:rPr lang="zh-TW" sz="1300">
                          <a:solidFill>
                            <a:schemeClr val="dk1"/>
                          </a:solidFill>
                        </a:rPr>
                        <a:t>POS_6M_CNT_INSTALMENT_FUTURE_MEAN</a:t>
                      </a:r>
                      <a:endParaRPr sz="1300"/>
                    </a:p>
                  </a:txBody>
                  <a:tcPr marT="91425" marB="91425" marR="91425" marL="91425">
                    <a:solidFill>
                      <a:schemeClr val="accent6"/>
                    </a:solidFill>
                  </a:tcPr>
                </a:tc>
                <a:tc>
                  <a:txBody>
                    <a:bodyPr/>
                    <a:lstStyle/>
                    <a:p>
                      <a:pPr indent="0" lvl="0" marL="0" rtl="0" algn="l">
                        <a:lnSpc>
                          <a:spcPct val="115000"/>
                        </a:lnSpc>
                        <a:spcBef>
                          <a:spcPts val="0"/>
                        </a:spcBef>
                        <a:spcAft>
                          <a:spcPts val="1200"/>
                        </a:spcAft>
                        <a:buNone/>
                      </a:pPr>
                      <a:r>
                        <a:rPr lang="zh-TW" sz="1300">
                          <a:solidFill>
                            <a:schemeClr val="dk1"/>
                          </a:solidFill>
                        </a:rPr>
                        <a:t>mean</a:t>
                      </a:r>
                      <a:br>
                        <a:rPr lang="zh-TW" sz="1300">
                          <a:solidFill>
                            <a:schemeClr val="dk1"/>
                          </a:solidFill>
                        </a:rPr>
                      </a:br>
                      <a:r>
                        <a:rPr lang="zh-TW" sz="1300">
                          <a:solidFill>
                            <a:schemeClr val="dk1"/>
                          </a:solidFill>
                        </a:rPr>
                        <a:t>CNT_INSTALMENT_FUTURE</a:t>
                      </a:r>
                      <a:br>
                        <a:rPr lang="zh-TW" sz="1300">
                          <a:solidFill>
                            <a:schemeClr val="dk1"/>
                          </a:solidFill>
                        </a:rPr>
                      </a:br>
                      <a:r>
                        <a:rPr lang="zh-TW" sz="1300">
                          <a:solidFill>
                            <a:schemeClr val="dk1"/>
                          </a:solidFill>
                        </a:rPr>
                        <a:t>in POS_6M</a:t>
                      </a:r>
                      <a:endParaRPr sz="1300">
                        <a:solidFill>
                          <a:schemeClr val="dk1"/>
                        </a:solidFill>
                      </a:endParaRPr>
                    </a:p>
                  </a:txBody>
                  <a:tcPr marT="91425" marB="91425" marR="91425" marL="91425"/>
                </a:tc>
                <a:tc>
                  <a:txBody>
                    <a:bodyPr/>
                    <a:lstStyle/>
                    <a:p>
                      <a:pPr indent="0" lvl="0" marL="0" rtl="0" algn="l">
                        <a:lnSpc>
                          <a:spcPct val="115000"/>
                        </a:lnSpc>
                        <a:spcBef>
                          <a:spcPts val="0"/>
                        </a:spcBef>
                        <a:spcAft>
                          <a:spcPts val="1200"/>
                        </a:spcAft>
                        <a:buNone/>
                      </a:pPr>
                      <a:r>
                        <a:rPr lang="zh-TW" sz="1300">
                          <a:solidFill>
                            <a:schemeClr val="dk1"/>
                          </a:solidFill>
                        </a:rPr>
                        <a:t>If this average value is high (e.g., exceeding 20 installments), it indicates that the borrower has accumulated multiple relatively recent medium- to long-term debts over the past six months. Such a borrower faces a high degree of financial commitment, with fixed repayment obligations extending over the next several years. As a result, their financial flexibility is limited, and even a modest adverse economic shock or reduction in income may substantially increase the likelihood of default.</a:t>
                      </a:r>
                      <a:endParaRPr sz="1300">
                        <a:solidFill>
                          <a:schemeClr val="dk1"/>
                        </a:solidFill>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0" y="1355050"/>
            <a:ext cx="30000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1800"/>
              <a:t>Other features</a:t>
            </a:r>
            <a:r>
              <a:rPr lang="zh-TW" sz="1800"/>
              <a:t> in top 10</a:t>
            </a:r>
            <a:endParaRPr/>
          </a:p>
        </p:txBody>
      </p:sp>
      <p:graphicFrame>
        <p:nvGraphicFramePr>
          <p:cNvPr id="182" name="Google Shape;182;p32"/>
          <p:cNvGraphicFramePr/>
          <p:nvPr/>
        </p:nvGraphicFramePr>
        <p:xfrm>
          <a:off x="289788" y="1927750"/>
          <a:ext cx="3000000" cy="3000000"/>
        </p:xfrm>
        <a:graphic>
          <a:graphicData uri="http://schemas.openxmlformats.org/drawingml/2006/table">
            <a:tbl>
              <a:tblPr>
                <a:noFill/>
                <a:tableStyleId>{0139891B-DBC0-4DAB-9BA9-325B1C9457D1}</a:tableStyleId>
              </a:tblPr>
              <a:tblGrid>
                <a:gridCol w="1910500"/>
                <a:gridCol w="4640825"/>
                <a:gridCol w="2013075"/>
              </a:tblGrid>
              <a:tr h="100000">
                <a:tc>
                  <a:txBody>
                    <a:bodyPr/>
                    <a:lstStyle/>
                    <a:p>
                      <a:pPr indent="0" lvl="0" marL="0" rtl="0" algn="l">
                        <a:spcBef>
                          <a:spcPts val="0"/>
                        </a:spcBef>
                        <a:spcAft>
                          <a:spcPts val="0"/>
                        </a:spcAft>
                        <a:buNone/>
                      </a:pPr>
                      <a:r>
                        <a:rPr lang="zh-TW" sz="1300">
                          <a:solidFill>
                            <a:schemeClr val="dk1"/>
                          </a:solidFill>
                        </a:rPr>
                        <a:t>Feature</a:t>
                      </a:r>
                      <a:endParaRPr sz="1300">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sz="1300"/>
                        <a:t>Description</a:t>
                      </a:r>
                      <a:endParaRPr sz="13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sz="1300"/>
                        <a:t>Source</a:t>
                      </a:r>
                      <a:endParaRPr sz="1300"/>
                    </a:p>
                  </a:txBody>
                  <a:tcPr marT="91425" marB="91425" marR="91425" marL="91425"/>
                </a:tc>
              </a:tr>
              <a:tr h="381000">
                <a:tc>
                  <a:txBody>
                    <a:bodyPr/>
                    <a:lstStyle/>
                    <a:p>
                      <a:pPr indent="0" lvl="0" marL="0" rtl="0" algn="l">
                        <a:lnSpc>
                          <a:spcPct val="115000"/>
                        </a:lnSpc>
                        <a:spcBef>
                          <a:spcPts val="0"/>
                        </a:spcBef>
                        <a:spcAft>
                          <a:spcPts val="1200"/>
                        </a:spcAft>
                        <a:buNone/>
                      </a:pPr>
                      <a:r>
                        <a:rPr lang="zh-TW" sz="1300">
                          <a:solidFill>
                            <a:schemeClr val="dk1"/>
                          </a:solidFill>
                        </a:rPr>
                        <a:t>EXT_SOURCE_3</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6"/>
                    </a:solidFill>
                  </a:tcPr>
                </a:tc>
                <a:tc>
                  <a:txBody>
                    <a:bodyPr/>
                    <a:lstStyle/>
                    <a:p>
                      <a:pPr indent="0" lvl="0" marL="0" rtl="0" algn="l">
                        <a:spcBef>
                          <a:spcPts val="0"/>
                        </a:spcBef>
                        <a:spcAft>
                          <a:spcPts val="0"/>
                        </a:spcAft>
                        <a:buNone/>
                      </a:pPr>
                      <a:r>
                        <a:rPr lang="zh-TW" sz="1300">
                          <a:solidFill>
                            <a:schemeClr val="dk1"/>
                          </a:solidFill>
                        </a:rPr>
                        <a:t>Normalized score from external data source</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sz="1300">
                          <a:solidFill>
                            <a:schemeClr val="dk1"/>
                          </a:solidFill>
                        </a:rPr>
                        <a:t>main chart</a:t>
                      </a:r>
                      <a:endParaRPr sz="1300"/>
                    </a:p>
                  </a:txBody>
                  <a:tcPr marT="91425" marB="91425" marR="91425" marL="91425">
                    <a:lnL cap="flat" cmpd="sng" w="9525">
                      <a:solidFill>
                        <a:srgbClr val="9E9E9E"/>
                      </a:solidFill>
                      <a:prstDash val="solid"/>
                      <a:round/>
                      <a:headEnd len="sm" w="sm" type="none"/>
                      <a:tailEnd len="sm" w="sm" type="none"/>
                    </a:lnL>
                  </a:tcPr>
                </a:tc>
              </a:tr>
              <a:tr h="100000">
                <a:tc>
                  <a:txBody>
                    <a:bodyPr/>
                    <a:lstStyle/>
                    <a:p>
                      <a:pPr indent="0" lvl="0" marL="0" rtl="0" algn="l">
                        <a:spcBef>
                          <a:spcPts val="0"/>
                        </a:spcBef>
                        <a:spcAft>
                          <a:spcPts val="0"/>
                        </a:spcAft>
                        <a:buNone/>
                      </a:pPr>
                      <a:r>
                        <a:rPr lang="zh-TW" sz="1300">
                          <a:solidFill>
                            <a:schemeClr val="dk1"/>
                          </a:solidFill>
                        </a:rPr>
                        <a:t>DAYS_BIRTH</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6"/>
                    </a:solidFill>
                  </a:tcPr>
                </a:tc>
                <a:tc>
                  <a:txBody>
                    <a:bodyPr/>
                    <a:lstStyle/>
                    <a:p>
                      <a:pPr indent="0" lvl="0" marL="0" rtl="0" algn="l">
                        <a:spcBef>
                          <a:spcPts val="0"/>
                        </a:spcBef>
                        <a:spcAft>
                          <a:spcPts val="0"/>
                        </a:spcAft>
                        <a:buNone/>
                      </a:pPr>
                      <a:r>
                        <a:rPr lang="zh-TW" sz="1300"/>
                        <a:t>Client's age in days at the time of application</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sz="1300">
                          <a:solidFill>
                            <a:schemeClr val="dk1"/>
                          </a:solidFill>
                        </a:rPr>
                        <a:t>main chart</a:t>
                      </a:r>
                      <a:endParaRPr sz="1300">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100000">
                <a:tc>
                  <a:txBody>
                    <a:bodyPr/>
                    <a:lstStyle/>
                    <a:p>
                      <a:pPr indent="0" lvl="0" marL="0" rtl="0" algn="l">
                        <a:spcBef>
                          <a:spcPts val="0"/>
                        </a:spcBef>
                        <a:spcAft>
                          <a:spcPts val="0"/>
                        </a:spcAft>
                        <a:buNone/>
                      </a:pPr>
                      <a:r>
                        <a:rPr lang="zh-TW" sz="1300">
                          <a:solidFill>
                            <a:schemeClr val="dk1"/>
                          </a:solidFill>
                        </a:rPr>
                        <a:t>BUREAU_DAYS_</a:t>
                      </a:r>
                      <a:br>
                        <a:rPr lang="zh-TW" sz="1300">
                          <a:solidFill>
                            <a:schemeClr val="dk1"/>
                          </a:solidFill>
                        </a:rPr>
                      </a:br>
                      <a:r>
                        <a:rPr lang="zh-TW" sz="1300">
                          <a:solidFill>
                            <a:schemeClr val="dk1"/>
                          </a:solidFill>
                        </a:rPr>
                        <a:t>CREDIT_MAX_y</a:t>
                      </a:r>
                      <a:endParaRPr sz="13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6"/>
                    </a:solidFill>
                  </a:tcPr>
                </a:tc>
                <a:tc>
                  <a:txBody>
                    <a:bodyPr/>
                    <a:lstStyle/>
                    <a:p>
                      <a:pPr indent="0" lvl="0" marL="0" rtl="0" algn="l">
                        <a:spcBef>
                          <a:spcPts val="0"/>
                        </a:spcBef>
                        <a:spcAft>
                          <a:spcPts val="0"/>
                        </a:spcAft>
                        <a:buNone/>
                      </a:pPr>
                      <a:r>
                        <a:rPr lang="zh-TW" sz="1300"/>
                        <a:t>Latest (max) days before current application did client apply for Credit Bureau credit</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sz="1300">
                          <a:solidFill>
                            <a:schemeClr val="dk1"/>
                          </a:solidFill>
                        </a:rPr>
                        <a:t>DAYS_CREDIT</a:t>
                      </a:r>
                      <a:br>
                        <a:rPr lang="zh-TW" sz="1300">
                          <a:solidFill>
                            <a:schemeClr val="dk1"/>
                          </a:solidFill>
                        </a:rPr>
                      </a:br>
                      <a:r>
                        <a:rPr lang="zh-TW" sz="1300">
                          <a:solidFill>
                            <a:schemeClr val="dk1"/>
                          </a:solidFill>
                        </a:rPr>
                        <a:t>in </a:t>
                      </a:r>
                      <a:r>
                        <a:rPr lang="zh-TW" sz="1300">
                          <a:solidFill>
                            <a:schemeClr val="dk1"/>
                          </a:solidFill>
                        </a:rPr>
                        <a:t>bureau</a:t>
                      </a:r>
                      <a:endParaRPr sz="1300">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0" y="0"/>
            <a:ext cx="35973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zh-TW" sz="3600"/>
              <a:t>Experiments</a:t>
            </a:r>
            <a:endParaRPr sz="3600"/>
          </a:p>
        </p:txBody>
      </p:sp>
      <p:pic>
        <p:nvPicPr>
          <p:cNvPr id="188" name="Google Shape;188;p33" title="Score Chart.png"/>
          <p:cNvPicPr preferRelativeResize="0"/>
          <p:nvPr/>
        </p:nvPicPr>
        <p:blipFill>
          <a:blip r:embed="rId3">
            <a:alphaModFix/>
          </a:blip>
          <a:stretch>
            <a:fillRect/>
          </a:stretch>
        </p:blipFill>
        <p:spPr>
          <a:xfrm>
            <a:off x="0" y="571500"/>
            <a:ext cx="9143998" cy="45719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zh-TW" sz="3600"/>
              <a:t>Experiments</a:t>
            </a:r>
            <a:endParaRPr sz="3600"/>
          </a:p>
        </p:txBody>
      </p:sp>
      <p:pic>
        <p:nvPicPr>
          <p:cNvPr id="194" name="Google Shape;194;p34" title="Figure_1.png"/>
          <p:cNvPicPr preferRelativeResize="0"/>
          <p:nvPr/>
        </p:nvPicPr>
        <p:blipFill>
          <a:blip r:embed="rId3">
            <a:alphaModFix/>
          </a:blip>
          <a:stretch>
            <a:fillRect/>
          </a:stretch>
        </p:blipFill>
        <p:spPr>
          <a:xfrm>
            <a:off x="152400" y="1170125"/>
            <a:ext cx="8839200" cy="344608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1800"/>
              <a:t>Conclusion and Analysis</a:t>
            </a:r>
            <a:endParaRPr/>
          </a:p>
        </p:txBody>
      </p:sp>
      <p:graphicFrame>
        <p:nvGraphicFramePr>
          <p:cNvPr id="200" name="Google Shape;200;p35"/>
          <p:cNvGraphicFramePr/>
          <p:nvPr/>
        </p:nvGraphicFramePr>
        <p:xfrm>
          <a:off x="952500" y="960975"/>
          <a:ext cx="3000000" cy="3000000"/>
        </p:xfrm>
        <a:graphic>
          <a:graphicData uri="http://schemas.openxmlformats.org/drawingml/2006/table">
            <a:tbl>
              <a:tblPr>
                <a:noFill/>
                <a:tableStyleId>{0139891B-DBC0-4DAB-9BA9-325B1C9457D1}</a:tableStyleId>
              </a:tblPr>
              <a:tblGrid>
                <a:gridCol w="2590800"/>
                <a:gridCol w="4648200"/>
              </a:tblGrid>
              <a:tr h="381000">
                <a:tc>
                  <a:txBody>
                    <a:bodyPr/>
                    <a:lstStyle/>
                    <a:p>
                      <a:pPr indent="0" lvl="0" marL="0" rtl="0" algn="l">
                        <a:lnSpc>
                          <a:spcPct val="115000"/>
                        </a:lnSpc>
                        <a:spcBef>
                          <a:spcPts val="0"/>
                        </a:spcBef>
                        <a:spcAft>
                          <a:spcPts val="1200"/>
                        </a:spcAft>
                        <a:buClr>
                          <a:schemeClr val="dk1"/>
                        </a:buClr>
                        <a:buSzPts val="1100"/>
                        <a:buFont typeface="Arial"/>
                        <a:buNone/>
                      </a:pPr>
                      <a:r>
                        <a:rPr lang="zh-TW" sz="1800">
                          <a:solidFill>
                            <a:schemeClr val="dk1"/>
                          </a:solidFill>
                        </a:rPr>
                        <a:t>D</a:t>
                      </a:r>
                      <a:r>
                        <a:rPr lang="zh-TW" sz="1800">
                          <a:solidFill>
                            <a:schemeClr val="dk1"/>
                          </a:solidFill>
                        </a:rPr>
                        <a:t>ifficulties</a:t>
                      </a:r>
                      <a:endParaRPr/>
                    </a:p>
                  </a:txBody>
                  <a:tcPr marT="91425" marB="91425" marR="91425" marL="91425"/>
                </a:tc>
                <a:tc>
                  <a:txBody>
                    <a:bodyPr/>
                    <a:lstStyle/>
                    <a:p>
                      <a:pPr indent="0" lvl="0" marL="0" rtl="0" algn="l">
                        <a:spcBef>
                          <a:spcPts val="0"/>
                        </a:spcBef>
                        <a:spcAft>
                          <a:spcPts val="0"/>
                        </a:spcAft>
                        <a:buNone/>
                      </a:pPr>
                      <a:r>
                        <a:rPr lang="zh-TW"/>
                        <a:t>Solution</a:t>
                      </a:r>
                      <a:endParaRPr/>
                    </a:p>
                  </a:txBody>
                  <a:tcPr marT="91425" marB="91425" marR="91425" marL="91425"/>
                </a:tc>
              </a:tr>
              <a:tr h="381000">
                <a:tc>
                  <a:txBody>
                    <a:bodyPr/>
                    <a:lstStyle/>
                    <a:p>
                      <a:pPr indent="0" lvl="0" marL="0" rtl="0" algn="l">
                        <a:lnSpc>
                          <a:spcPct val="115000"/>
                        </a:lnSpc>
                        <a:spcBef>
                          <a:spcPts val="0"/>
                        </a:spcBef>
                        <a:spcAft>
                          <a:spcPts val="1200"/>
                        </a:spcAft>
                        <a:buClr>
                          <a:schemeClr val="dk1"/>
                        </a:buClr>
                        <a:buSzPts val="1100"/>
                        <a:buFont typeface="Arial"/>
                        <a:buNone/>
                      </a:pPr>
                      <a:r>
                        <a:rPr lang="zh-TW" sz="1800">
                          <a:solidFill>
                            <a:schemeClr val="dk1"/>
                          </a:solidFill>
                        </a:rPr>
                        <a:t>T</a:t>
                      </a:r>
                      <a:r>
                        <a:rPr lang="zh-TW" sz="1800">
                          <a:solidFill>
                            <a:schemeClr val="dk1"/>
                          </a:solidFill>
                        </a:rPr>
                        <a:t>oo slow (xbg and cat)</a:t>
                      </a:r>
                      <a:endParaRPr/>
                    </a:p>
                  </a:txBody>
                  <a:tcPr marT="91425" marB="91425" marR="91425" marL="91425"/>
                </a:tc>
                <a:tc>
                  <a:txBody>
                    <a:bodyPr/>
                    <a:lstStyle/>
                    <a:p>
                      <a:pPr indent="0" lvl="0" marL="0" rtl="0" algn="l">
                        <a:lnSpc>
                          <a:spcPct val="115000"/>
                        </a:lnSpc>
                        <a:spcBef>
                          <a:spcPts val="0"/>
                        </a:spcBef>
                        <a:spcAft>
                          <a:spcPts val="1200"/>
                        </a:spcAft>
                        <a:buClr>
                          <a:schemeClr val="dk1"/>
                        </a:buClr>
                        <a:buSzPts val="1100"/>
                        <a:buFont typeface="Arial"/>
                        <a:buNone/>
                      </a:pPr>
                      <a:r>
                        <a:rPr lang="zh-TW" sz="1800">
                          <a:solidFill>
                            <a:schemeClr val="dk1"/>
                          </a:solidFill>
                        </a:rPr>
                        <a:t>U</a:t>
                      </a:r>
                      <a:r>
                        <a:rPr lang="zh-TW" sz="1800">
                          <a:solidFill>
                            <a:schemeClr val="dk1"/>
                          </a:solidFill>
                        </a:rPr>
                        <a:t>se gpu, increase learning rate and reduce max depth</a:t>
                      </a:r>
                      <a:endParaRPr/>
                    </a:p>
                  </a:txBody>
                  <a:tcPr marT="91425" marB="91425" marR="91425" marL="91425"/>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1800"/>
              <a:t>Conclusion and Analysis</a:t>
            </a:r>
            <a:endParaRPr/>
          </a:p>
        </p:txBody>
      </p:sp>
      <p:sp>
        <p:nvSpPr>
          <p:cNvPr id="206" name="Google Shape;206;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solidFill>
                  <a:schemeClr val="dk1"/>
                </a:solidFill>
              </a:rPr>
              <a:t>discussion</a:t>
            </a:r>
            <a:r>
              <a:rPr lang="zh-TW">
                <a:solidFill>
                  <a:schemeClr val="dk1"/>
                </a:solidFill>
              </a:rPr>
              <a:t>:</a:t>
            </a:r>
            <a:endParaRPr>
              <a:solidFill>
                <a:schemeClr val="dk1"/>
              </a:solidFill>
            </a:endParaRPr>
          </a:p>
          <a:p>
            <a:pPr indent="0" lvl="0" marL="0" rtl="0" algn="l">
              <a:spcBef>
                <a:spcPts val="1200"/>
              </a:spcBef>
              <a:spcAft>
                <a:spcPts val="0"/>
              </a:spcAft>
              <a:buNone/>
            </a:pPr>
            <a:r>
              <a:rPr lang="zh-TW">
                <a:solidFill>
                  <a:schemeClr val="dk1"/>
                </a:solidFill>
              </a:rPr>
              <a:t>score after feature reduction always increase</a:t>
            </a:r>
            <a:endParaRPr>
              <a:solidFill>
                <a:schemeClr val="dk1"/>
              </a:solidFill>
            </a:endParaRPr>
          </a:p>
          <a:p>
            <a:pPr indent="0" lvl="0" marL="0" rtl="0" algn="l">
              <a:spcBef>
                <a:spcPts val="1200"/>
              </a:spcBef>
              <a:spcAft>
                <a:spcPts val="0"/>
              </a:spcAft>
              <a:buNone/>
            </a:pPr>
            <a:r>
              <a:rPr lang="zh-TW">
                <a:solidFill>
                  <a:schemeClr val="dk1"/>
                </a:solidFill>
              </a:rPr>
              <a:t>the weight of blending found by </a:t>
            </a:r>
            <a:r>
              <a:rPr lang="zh-TW">
                <a:solidFill>
                  <a:schemeClr val="dk1"/>
                </a:solidFill>
              </a:rPr>
              <a:t>Optuna</a:t>
            </a:r>
            <a:r>
              <a:rPr lang="zh-TW">
                <a:solidFill>
                  <a:schemeClr val="dk1"/>
                </a:solidFill>
              </a:rPr>
              <a:t> not always the same</a:t>
            </a:r>
            <a:endParaRPr>
              <a:solidFill>
                <a:schemeClr val="dk1"/>
              </a:solidFill>
            </a:endParaRPr>
          </a:p>
          <a:p>
            <a:pPr indent="0" lvl="0" marL="0" rtl="0" algn="l">
              <a:spcBef>
                <a:spcPts val="1200"/>
              </a:spcBef>
              <a:spcAft>
                <a:spcPts val="0"/>
              </a:spcAft>
              <a:buNone/>
            </a:pPr>
            <a:r>
              <a:rPr lang="zh-TW">
                <a:solidFill>
                  <a:schemeClr val="dk1"/>
                </a:solidFill>
              </a:rPr>
              <a:t>the score of </a:t>
            </a:r>
            <a:r>
              <a:rPr lang="zh-TW">
                <a:solidFill>
                  <a:schemeClr val="dk1"/>
                </a:solidFill>
              </a:rPr>
              <a:t>Stacking is lower than </a:t>
            </a:r>
            <a:r>
              <a:rPr lang="zh-TW">
                <a:solidFill>
                  <a:schemeClr val="dk1"/>
                </a:solidFill>
              </a:rPr>
              <a:t>Optuna</a:t>
            </a:r>
            <a:endParaRPr>
              <a:solidFill>
                <a:schemeClr val="dk1"/>
              </a:solidFill>
            </a:endParaRPr>
          </a:p>
          <a:p>
            <a:pPr indent="0" lvl="0" marL="0" rtl="0" algn="l">
              <a:spcBef>
                <a:spcPts val="1200"/>
              </a:spcBef>
              <a:spcAft>
                <a:spcPts val="0"/>
              </a:spcAft>
              <a:buNone/>
            </a:pPr>
            <a:r>
              <a:rPr lang="zh-TW">
                <a:solidFill>
                  <a:schemeClr val="dk1"/>
                </a:solidFill>
              </a:rPr>
              <a:t>high ROC-AUC combined with low PR-AUC</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