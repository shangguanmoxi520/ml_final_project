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41291EA-2813-4315-AF45-5C8EC8A76987}">
  <a:tblStyle styleId="{741291EA-2813-4315-AF45-5C8EC8A7698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kaggle.com/code/jsaguiar/lightgbm-7th-place-solution" TargetMode="Externa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kaggle.com/code/jsaguiar/lightgbm-7th-place-solution"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kaggle.com/code/jsaguiar/lightgbm-7th-place-solution"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kaggle.com/code/jamesdellinger/home-credit-putting-all-the-steps-together"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kaggle.com/code/jamesdellinger/home-credit-putting-all-the-steps-together"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e5df6356a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e5df6356a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e5df6356af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e5df6356af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e5df6356af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e5df6356af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df6356af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g3e5df6356af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e5df6356a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e5df6356a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e5df6356af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e5df6356af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e5df6356af_0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e5df6356af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zh-TW" sz="1900">
                <a:solidFill>
                  <a:schemeClr val="dk1"/>
                </a:solidFill>
              </a:rPr>
              <a:t>Combine features in all of the tables</a:t>
            </a:r>
            <a:endParaRPr sz="19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TW" sz="1900">
                <a:solidFill>
                  <a:schemeClr val="dk1"/>
                </a:solidFill>
              </a:rPr>
              <a:t>Adding magic features</a:t>
            </a:r>
            <a:endParaRPr sz="19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TW" sz="1900">
                <a:solidFill>
                  <a:schemeClr val="dk1"/>
                </a:solidFill>
              </a:rPr>
              <a:t>Stratified K-Fold (</a:t>
            </a:r>
            <a:r>
              <a:rPr lang="zh-TW">
                <a:solidFill>
                  <a:schemeClr val="dk1"/>
                </a:solidFill>
              </a:rPr>
              <a:t>你採用了 </a:t>
            </a:r>
            <a:r>
              <a:rPr b="1" lang="zh-TW">
                <a:solidFill>
                  <a:schemeClr val="dk1"/>
                </a:solidFill>
              </a:rPr>
              <a:t>Stratified K-Fold</a:t>
            </a:r>
            <a:r>
              <a:rPr lang="zh-TW">
                <a:solidFill>
                  <a:schemeClr val="dk1"/>
                </a:solidFill>
              </a:rPr>
              <a:t>（分層交叉驗證），就是為了在極度不平衡的標籤下，維持本地驗證（CV）的穩定度，這方向完全正確。 )</a:t>
            </a:r>
            <a:endParaRPr sz="19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TW" sz="1900">
                <a:solidFill>
                  <a:schemeClr val="dk1"/>
                </a:solidFill>
              </a:rPr>
              <a:t>Dimension Reduction (Top 99% cumulated importance)</a:t>
            </a:r>
            <a:endParaRPr sz="19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TW" sz="1900">
                <a:solidFill>
                  <a:schemeClr val="dk1"/>
                </a:solidFill>
              </a:rPr>
              <a:t>Second round: 3 models (LightGBM, xgboost, catboost)</a:t>
            </a:r>
            <a:endParaRPr sz="1900">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zh-TW" sz="1900">
                <a:solidFill>
                  <a:schemeClr val="dk1"/>
                </a:solidFill>
              </a:rPr>
              <a:t>Blending models (Optuna)</a:t>
            </a:r>
            <a:endParaRPr sz="1900">
              <a:solidFill>
                <a:schemeClr val="dk1"/>
              </a:solidFill>
            </a:endParaRPr>
          </a:p>
          <a:p>
            <a:pPr indent="0" lvl="0" marL="0" rtl="0" algn="l">
              <a:lnSpc>
                <a:spcPct val="115000"/>
              </a:lnSpc>
              <a:spcBef>
                <a:spcPts val="1200"/>
              </a:spcBef>
              <a:spcAft>
                <a:spcPts val="1200"/>
              </a:spcAft>
              <a:buClr>
                <a:schemeClr val="dk1"/>
              </a:buClr>
              <a:buSzPts val="1100"/>
              <a:buFont typeface="Arial"/>
              <a:buNone/>
            </a:pPr>
            <a:r>
              <a:rPr lang="zh-TW" sz="1900">
                <a:solidFill>
                  <a:schemeClr val="dk1"/>
                </a:solidFill>
              </a:rPr>
              <a:t>Evaluation: ROC curve (AUC),same as Home Credit Default Risk competition. In addition, performing PR curve since the labels in original dataset are extremely imbalanced.</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g3e5df6356af_5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 name="Google Shape;101;g3e5df6356af_5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TW" sz="1900">
                <a:solidFill>
                  <a:schemeClr val="dk1"/>
                </a:solidFill>
              </a:rPr>
              <a:t>Combine features in all of the tables</a:t>
            </a:r>
            <a:endParaRPr sz="1900">
              <a:solidFill>
                <a:schemeClr val="dk1"/>
              </a:solidFill>
            </a:endParaRPr>
          </a:p>
          <a:p>
            <a:pPr indent="0" lvl="0" marL="0" rtl="0" algn="l">
              <a:lnSpc>
                <a:spcPct val="115000"/>
              </a:lnSpc>
              <a:spcBef>
                <a:spcPts val="1200"/>
              </a:spcBef>
              <a:spcAft>
                <a:spcPts val="0"/>
              </a:spcAft>
              <a:buNone/>
            </a:pPr>
            <a:r>
              <a:rPr lang="zh-TW" sz="1900">
                <a:solidFill>
                  <a:schemeClr val="dk1"/>
                </a:solidFill>
              </a:rPr>
              <a:t>Adding magic features</a:t>
            </a:r>
            <a:endParaRPr sz="1900">
              <a:solidFill>
                <a:schemeClr val="dk1"/>
              </a:solidFill>
            </a:endParaRPr>
          </a:p>
          <a:p>
            <a:pPr indent="0" lvl="0" marL="0" rtl="0" algn="l">
              <a:lnSpc>
                <a:spcPct val="115000"/>
              </a:lnSpc>
              <a:spcBef>
                <a:spcPts val="1200"/>
              </a:spcBef>
              <a:spcAft>
                <a:spcPts val="0"/>
              </a:spcAft>
              <a:buNone/>
            </a:pPr>
            <a:r>
              <a:rPr lang="zh-TW" sz="1900">
                <a:solidFill>
                  <a:schemeClr val="dk1"/>
                </a:solidFill>
              </a:rPr>
              <a:t>Stratified K-Fold (</a:t>
            </a:r>
            <a:r>
              <a:rPr lang="zh-TW">
                <a:solidFill>
                  <a:schemeClr val="dk1"/>
                </a:solidFill>
              </a:rPr>
              <a:t>你採用了 </a:t>
            </a:r>
            <a:r>
              <a:rPr b="1" lang="zh-TW">
                <a:solidFill>
                  <a:schemeClr val="dk1"/>
                </a:solidFill>
              </a:rPr>
              <a:t>Stratified K-Fold</a:t>
            </a:r>
            <a:r>
              <a:rPr lang="zh-TW">
                <a:solidFill>
                  <a:schemeClr val="dk1"/>
                </a:solidFill>
              </a:rPr>
              <a:t>（分層交叉驗證），就是為了在極度不平衡的標籤下，維持本地驗證（CV）的穩定度，這方向完全正確。 )</a:t>
            </a:r>
            <a:endParaRPr>
              <a:solidFill>
                <a:schemeClr val="dk1"/>
              </a:solidFill>
            </a:endParaRPr>
          </a:p>
          <a:p>
            <a:pPr indent="0" lvl="0" marL="0" rtl="0" algn="l">
              <a:lnSpc>
                <a:spcPct val="115000"/>
              </a:lnSpc>
              <a:spcBef>
                <a:spcPts val="1200"/>
              </a:spcBef>
              <a:spcAft>
                <a:spcPts val="0"/>
              </a:spcAft>
              <a:buNone/>
            </a:pPr>
            <a:r>
              <a:rPr lang="zh-TW">
                <a:solidFill>
                  <a:schemeClr val="dk1"/>
                </a:solidFill>
              </a:rPr>
              <a:t>簡單直接地說：</a:t>
            </a:r>
            <a:r>
              <a:rPr b="1" lang="zh-TW">
                <a:solidFill>
                  <a:schemeClr val="dk1"/>
                </a:solidFill>
              </a:rPr>
              <a:t>Fold 數（折數）直接影響的是模型「看資料的完整度」以及「最終預測的穩定度」。</a:t>
            </a:r>
            <a:endParaRPr b="1">
              <a:solidFill>
                <a:schemeClr val="dk1"/>
              </a:solidFill>
            </a:endParaRPr>
          </a:p>
          <a:p>
            <a:pPr indent="0" lvl="0" marL="0" rtl="0" algn="l">
              <a:lnSpc>
                <a:spcPct val="115000"/>
              </a:lnSpc>
              <a:spcBef>
                <a:spcPts val="1200"/>
              </a:spcBef>
              <a:spcAft>
                <a:spcPts val="0"/>
              </a:spcAft>
              <a:buNone/>
            </a:pPr>
            <a:r>
              <a:rPr lang="zh-TW">
                <a:solidFill>
                  <a:schemeClr val="dk1"/>
                </a:solidFill>
              </a:rPr>
              <a:t>在機器學習中，我們常聽到的 </a:t>
            </a:r>
            <a:r>
              <a:rPr b="1" lang="zh-TW">
                <a:solidFill>
                  <a:schemeClr val="dk1"/>
                </a:solidFill>
              </a:rPr>
              <a:t>K-Fold 交叉驗證（Cross Validation）</a:t>
            </a:r>
            <a:r>
              <a:rPr lang="zh-TW">
                <a:solidFill>
                  <a:schemeClr val="dk1"/>
                </a:solidFill>
              </a:rPr>
              <a:t>，就是把訓練資料像切蛋糕一樣，平均切成 $K$ 塊（Folds）。</a:t>
            </a:r>
            <a:endParaRPr>
              <a:solidFill>
                <a:schemeClr val="dk1"/>
              </a:solidFill>
            </a:endParaRPr>
          </a:p>
          <a:p>
            <a:pPr indent="0" lvl="0" marL="0" rtl="0" algn="l">
              <a:lnSpc>
                <a:spcPct val="115000"/>
              </a:lnSpc>
              <a:spcBef>
                <a:spcPts val="1200"/>
              </a:spcBef>
              <a:spcAft>
                <a:spcPts val="0"/>
              </a:spcAft>
              <a:buNone/>
            </a:pPr>
            <a:r>
              <a:rPr lang="zh-TW">
                <a:solidFill>
                  <a:schemeClr val="dk1"/>
                </a:solidFill>
              </a:rPr>
              <a:t>當你把 Fold 數從 </a:t>
            </a:r>
            <a:r>
              <a:rPr b="1" lang="zh-TW">
                <a:solidFill>
                  <a:schemeClr val="dk1"/>
                </a:solidFill>
              </a:rPr>
              <a:t>5-Fold 調整到 10-Fold</a:t>
            </a:r>
            <a:r>
              <a:rPr lang="zh-TW">
                <a:solidFill>
                  <a:schemeClr val="dk1"/>
                </a:solidFill>
              </a:rPr>
              <a:t> 時，會在底層引發以下三大核心轉變：</a:t>
            </a:r>
            <a:endParaRPr>
              <a:solidFill>
                <a:schemeClr val="dk1"/>
              </a:solidFill>
            </a:endParaRPr>
          </a:p>
          <a:p>
            <a:pPr indent="0" lvl="0" marL="0" rtl="0" algn="l">
              <a:lnSpc>
                <a:spcPct val="115000"/>
              </a:lnSpc>
              <a:spcBef>
                <a:spcPts val="1200"/>
              </a:spcBef>
              <a:spcAft>
                <a:spcPts val="0"/>
              </a:spcAft>
              <a:buNone/>
            </a:pPr>
            <a:r>
              <a:rPr b="1" lang="zh-TW" sz="1700">
                <a:solidFill>
                  <a:schemeClr val="dk1"/>
                </a:solidFill>
              </a:rPr>
              <a:t>1. 模型單次訓練「看過的資料量」變多了（更聰明）</a:t>
            </a:r>
            <a:endParaRPr b="1" sz="1700">
              <a:solidFill>
                <a:schemeClr val="dk1"/>
              </a:solidFill>
            </a:endParaRPr>
          </a:p>
          <a:p>
            <a:pPr indent="-298450" lvl="0" marL="457200" rtl="0" algn="l">
              <a:lnSpc>
                <a:spcPct val="115000"/>
              </a:lnSpc>
              <a:spcBef>
                <a:spcPts val="400"/>
              </a:spcBef>
              <a:spcAft>
                <a:spcPts val="0"/>
              </a:spcAft>
              <a:buClr>
                <a:schemeClr val="dk1"/>
              </a:buClr>
              <a:buSzPts val="1100"/>
              <a:buChar char="●"/>
            </a:pPr>
            <a:r>
              <a:rPr b="1" lang="zh-TW">
                <a:solidFill>
                  <a:schemeClr val="dk1"/>
                </a:solidFill>
              </a:rPr>
              <a:t>5-Fold</a:t>
            </a:r>
            <a:r>
              <a:rPr lang="zh-TW">
                <a:solidFill>
                  <a:schemeClr val="dk1"/>
                </a:solidFill>
              </a:rPr>
              <a:t>：每次訓練時，模型拿 </a:t>
            </a:r>
            <a:r>
              <a:rPr b="1" lang="zh-TW">
                <a:solidFill>
                  <a:schemeClr val="dk1"/>
                </a:solidFill>
              </a:rPr>
              <a:t>80%</a:t>
            </a:r>
            <a:r>
              <a:rPr lang="zh-TW">
                <a:solidFill>
                  <a:schemeClr val="dk1"/>
                </a:solidFill>
              </a:rPr>
              <a:t> 的資料來學習，留 20% 當驗證集。</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zh-TW">
                <a:solidFill>
                  <a:schemeClr val="dk1"/>
                </a:solidFill>
              </a:rPr>
              <a:t>10-Fold</a:t>
            </a:r>
            <a:r>
              <a:rPr lang="zh-TW">
                <a:solidFill>
                  <a:schemeClr val="dk1"/>
                </a:solidFill>
              </a:rPr>
              <a:t>：每次訓練時，模型拿高達 </a:t>
            </a:r>
            <a:r>
              <a:rPr b="1" lang="zh-TW">
                <a:solidFill>
                  <a:schemeClr val="dk1"/>
                </a:solidFill>
              </a:rPr>
              <a:t>90%</a:t>
            </a:r>
            <a:r>
              <a:rPr lang="zh-TW">
                <a:solidFill>
                  <a:schemeClr val="dk1"/>
                </a:solidFill>
              </a:rPr>
              <a:t> 的資料來學習，只留 10% 當驗證集。</a:t>
            </a:r>
            <a:endParaRPr>
              <a:solidFill>
                <a:schemeClr val="dk1"/>
              </a:solidFill>
            </a:endParaRPr>
          </a:p>
          <a:p>
            <a:pPr indent="0" lvl="0" marL="0" rtl="0" algn="l">
              <a:lnSpc>
                <a:spcPct val="115000"/>
              </a:lnSpc>
              <a:spcBef>
                <a:spcPts val="1200"/>
              </a:spcBef>
              <a:spcAft>
                <a:spcPts val="0"/>
              </a:spcAft>
              <a:buNone/>
            </a:pPr>
            <a:r>
              <a:rPr b="1" lang="zh-TW">
                <a:solidFill>
                  <a:schemeClr val="dk1"/>
                </a:solidFill>
              </a:rPr>
              <a:t>💡 風控賽事的硬核邏輯</a:t>
            </a:r>
            <a:r>
              <a:rPr lang="zh-TW">
                <a:solidFill>
                  <a:schemeClr val="dk1"/>
                </a:solidFill>
              </a:rPr>
              <a:t>：</a:t>
            </a:r>
            <a:endParaRPr>
              <a:solidFill>
                <a:schemeClr val="dk1"/>
              </a:solidFill>
            </a:endParaRPr>
          </a:p>
          <a:p>
            <a:pPr indent="0" lvl="0" marL="0" rtl="0" algn="l">
              <a:lnSpc>
                <a:spcPct val="115000"/>
              </a:lnSpc>
              <a:spcBef>
                <a:spcPts val="1200"/>
              </a:spcBef>
              <a:spcAft>
                <a:spcPts val="0"/>
              </a:spcAft>
              <a:buNone/>
            </a:pPr>
            <a:r>
              <a:rPr lang="zh-TW">
                <a:solidFill>
                  <a:schemeClr val="dk1"/>
                </a:solidFill>
              </a:rPr>
              <a:t>在 Home Credit 這種高度不平衡的資料集中（違約的人極少，大約僅 8%），資料量越大，模型能抓到的「極端壞蛋特徵」就越精準。當你讓模型單次訓練多看 10% 的資料，它對黑天鵝事件的防禦力就會顯著提升。</a:t>
            </a:r>
            <a:endParaRPr>
              <a:solidFill>
                <a:schemeClr val="dk1"/>
              </a:solidFill>
            </a:endParaRPr>
          </a:p>
          <a:p>
            <a:pPr indent="0" lvl="0" marL="0" rtl="0" algn="l">
              <a:lnSpc>
                <a:spcPct val="115000"/>
              </a:lnSpc>
              <a:spcBef>
                <a:spcPts val="1200"/>
              </a:spcBef>
              <a:spcAft>
                <a:spcPts val="0"/>
              </a:spcAft>
              <a:buNone/>
            </a:pPr>
            <a:r>
              <a:t/>
            </a:r>
            <a:endParaRPr>
              <a:solidFill>
                <a:schemeClr val="dk1"/>
              </a:solidFill>
            </a:endParaRPr>
          </a:p>
          <a:p>
            <a:pPr indent="0" lvl="0" marL="0" rtl="0" algn="l">
              <a:lnSpc>
                <a:spcPct val="115000"/>
              </a:lnSpc>
              <a:spcBef>
                <a:spcPts val="1200"/>
              </a:spcBef>
              <a:spcAft>
                <a:spcPts val="0"/>
              </a:spcAft>
              <a:buNone/>
            </a:pPr>
            <a:r>
              <a:rPr lang="zh-TW" sz="1900">
                <a:solidFill>
                  <a:schemeClr val="dk1"/>
                </a:solidFill>
              </a:rPr>
              <a:t>Dimension Reduction (Top 99% cumulated importance)</a:t>
            </a:r>
            <a:endParaRPr sz="1900">
              <a:solidFill>
                <a:schemeClr val="dk1"/>
              </a:solidFill>
            </a:endParaRPr>
          </a:p>
          <a:p>
            <a:pPr indent="0" lvl="0" marL="0" rtl="0" algn="l">
              <a:lnSpc>
                <a:spcPct val="115000"/>
              </a:lnSpc>
              <a:spcBef>
                <a:spcPts val="1200"/>
              </a:spcBef>
              <a:spcAft>
                <a:spcPts val="0"/>
              </a:spcAft>
              <a:buNone/>
            </a:pPr>
            <a:r>
              <a:rPr lang="zh-TW" sz="1900">
                <a:solidFill>
                  <a:schemeClr val="dk1"/>
                </a:solidFill>
              </a:rPr>
              <a:t>Second round: 3 models (LightGBM, xgboost, catboost)</a:t>
            </a:r>
            <a:endParaRPr sz="1900">
              <a:solidFill>
                <a:schemeClr val="dk1"/>
              </a:solidFill>
            </a:endParaRPr>
          </a:p>
          <a:p>
            <a:pPr indent="0" lvl="0" marL="0" rtl="0" algn="l">
              <a:lnSpc>
                <a:spcPct val="115000"/>
              </a:lnSpc>
              <a:spcBef>
                <a:spcPts val="1200"/>
              </a:spcBef>
              <a:spcAft>
                <a:spcPts val="0"/>
              </a:spcAft>
              <a:buNone/>
            </a:pPr>
            <a:r>
              <a:rPr lang="zh-TW" sz="1900">
                <a:solidFill>
                  <a:schemeClr val="dk1"/>
                </a:solidFill>
              </a:rPr>
              <a:t>Blending models (Optuna)</a:t>
            </a:r>
            <a:endParaRPr sz="1900">
              <a:solidFill>
                <a:schemeClr val="dk1"/>
              </a:solidFill>
            </a:endParaRPr>
          </a:p>
          <a:p>
            <a:pPr indent="0" lvl="0" marL="0" rtl="0" algn="l">
              <a:lnSpc>
                <a:spcPct val="115000"/>
              </a:lnSpc>
              <a:spcBef>
                <a:spcPts val="1200"/>
              </a:spcBef>
              <a:spcAft>
                <a:spcPts val="1200"/>
              </a:spcAft>
              <a:buNone/>
            </a:pPr>
            <a:r>
              <a:rPr lang="zh-TW" sz="1900">
                <a:solidFill>
                  <a:schemeClr val="dk1"/>
                </a:solidFill>
              </a:rPr>
              <a:t>Evaluation: ROC curve (AUC),same as Home Credit Default Risk competition. In addition, performing PR curve since the labels in original dataset are extremely imbalanced.</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e5df6356af_5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e5df6356af_5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e5df6356af_3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e5df6356af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zh-TW" sz="1400">
                <a:solidFill>
                  <a:srgbClr val="595959"/>
                </a:solidFill>
              </a:rPr>
              <a:t>核心數據：這是最主要的檔案。每一行代表一個貸款申請案。</a:t>
            </a:r>
            <a:br>
              <a:rPr lang="zh-TW" sz="1400">
                <a:solidFill>
                  <a:srgbClr val="595959"/>
                </a:solidFill>
              </a:rPr>
            </a:br>
            <a:r>
              <a:rPr lang="zh-TW" sz="1400">
                <a:solidFill>
                  <a:srgbClr val="595959"/>
                </a:solidFill>
              </a:rPr>
              <a:t>目標變數 (TARGET)：1 代表違約（有還款困難），0 代表正常按時還款。</a:t>
            </a:r>
            <a:br>
              <a:rPr lang="zh-TW" sz="1400">
                <a:solidFill>
                  <a:srgbClr val="595959"/>
                </a:solidFill>
              </a:rPr>
            </a:br>
            <a:r>
              <a:rPr lang="zh-TW" sz="1400">
                <a:solidFill>
                  <a:srgbClr val="595959"/>
                </a:solidFill>
              </a:rPr>
              <a:t>內容：申請人的基本資料（年齡、性別、職業、收入）、貸款行為（貸款金額、年金）以及外部評分。</a:t>
            </a:r>
            <a:endParaRPr sz="1400">
              <a:solidFill>
                <a:schemeClr val="dk1"/>
              </a:solidFill>
            </a:endParaRPr>
          </a:p>
          <a:p>
            <a:pPr indent="0" lvl="0" marL="0" rtl="0" algn="l">
              <a:spcBef>
                <a:spcPts val="1200"/>
              </a:spcBef>
              <a:spcAft>
                <a:spcPts val="0"/>
              </a:spcAft>
              <a:buNone/>
            </a:pPr>
            <a:r>
              <a:t/>
            </a:r>
            <a:endParaRPr/>
          </a:p>
          <a:p>
            <a:pPr indent="0" lvl="0" marL="0" rtl="0" algn="l">
              <a:spcBef>
                <a:spcPts val="0"/>
              </a:spcBef>
              <a:spcAft>
                <a:spcPts val="0"/>
              </a:spcAft>
              <a:buNone/>
            </a:pPr>
            <a:r>
              <a:rPr lang="zh-TW" sz="1400">
                <a:solidFill>
                  <a:schemeClr val="dk1"/>
                </a:solidFill>
              </a:rPr>
              <a:t>包含申請人在其他金融機構過往的信用紀錄（來自信用局 Credit Bureau）</a:t>
            </a:r>
            <a:endParaRPr sz="1400">
              <a:solidFill>
                <a:schemeClr val="dk1"/>
              </a:solidFill>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rPr lang="zh-TW" sz="1400">
                <a:solidFill>
                  <a:schemeClr val="dk1"/>
                </a:solidFill>
              </a:rPr>
              <a:t>申請人過去在 Home Credit 的所有貸款申請歷史（不論最後是核准還是拒絕）。</a:t>
            </a:r>
            <a:endParaRPr sz="1400">
              <a:solidFill>
                <a:schemeClr val="dk1"/>
              </a:solidFill>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rPr lang="zh-TW" sz="1400">
                <a:solidFill>
                  <a:schemeClr val="dk1"/>
                </a:solidFill>
              </a:rPr>
              <a:t>過去貸款的每月通話費或銷售點（POS）現金餘額快照。</a:t>
            </a:r>
            <a:endParaRPr sz="1400">
              <a:solidFill>
                <a:schemeClr val="dk1"/>
              </a:solidFill>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None/>
            </a:pPr>
            <a:r>
              <a:rPr lang="zh-TW" sz="1400">
                <a:solidFill>
                  <a:schemeClr val="dk1"/>
                </a:solidFill>
              </a:rPr>
              <a:t>申請人過去在 Home Credit 持有的信用卡月度明細。</a:t>
            </a:r>
            <a:endParaRPr sz="1400">
              <a:solidFill>
                <a:schemeClr val="dk1"/>
              </a:solidFill>
            </a:endParaRPr>
          </a:p>
          <a:p>
            <a:pPr indent="0" lvl="0" marL="0" rtl="0" algn="l">
              <a:spcBef>
                <a:spcPts val="0"/>
              </a:spcBef>
              <a:spcAft>
                <a:spcPts val="0"/>
              </a:spcAft>
              <a:buNone/>
            </a:pPr>
            <a:r>
              <a:t/>
            </a:r>
            <a:endParaRPr sz="1400">
              <a:solidFill>
                <a:schemeClr val="dk1"/>
              </a:solidFill>
            </a:endParaRPr>
          </a:p>
          <a:p>
            <a:pPr indent="0" lvl="0" marL="0" rtl="0" algn="l">
              <a:spcBef>
                <a:spcPts val="0"/>
              </a:spcBef>
              <a:spcAft>
                <a:spcPts val="0"/>
              </a:spcAft>
              <a:buClr>
                <a:schemeClr val="dk1"/>
              </a:buClr>
              <a:buSzPts val="1100"/>
              <a:buFont typeface="Arial"/>
              <a:buNone/>
            </a:pPr>
            <a:r>
              <a:rPr lang="zh-TW" sz="1400">
                <a:solidFill>
                  <a:schemeClr val="dk1"/>
                </a:solidFill>
              </a:rPr>
              <a:t>過去貸款的實際還款紀錄（可以看出有沒有遲到、少給錢）。</a:t>
            </a:r>
            <a:endParaRPr sz="1400">
              <a:solidFill>
                <a:schemeClr val="dk1"/>
              </a:solidFil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e5df6356af_0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e5df6356af_0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g3e5df6356af_0_8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g3e5df6356af_0_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e5df6356af_3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e5df6356af_3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e5df6356af_5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e5df6356af_5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e5df6356af_3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e5df6356af_3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zh-TW" sz="1400" u="sng">
                <a:solidFill>
                  <a:srgbClr val="0097A7"/>
                </a:solidFill>
                <a:hlinkClick r:id="rId2">
                  <a:extLst>
                    <a:ext uri="{A12FA001-AC4F-418D-AE19-62706E023703}">
                      <ahyp:hlinkClr val="tx"/>
                    </a:ext>
                  </a:extLst>
                </a:hlinkClick>
              </a:rPr>
              <a:t>LightGBM 7th place solution</a:t>
            </a:r>
            <a:r>
              <a:rPr lang="zh-TW" sz="1400">
                <a:solidFill>
                  <a:schemeClr val="dk1"/>
                </a:solidFill>
              </a:rPr>
              <a:t>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e5df6356af_3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e5df6356af_3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TW" sz="1300">
                <a:solidFill>
                  <a:schemeClr val="dk1"/>
                </a:solidFill>
              </a:rPr>
              <a:t>金融邏輯：還款速率（相當於借款期數的倒數）。當這個比值越高，代表還款期數越短，每一期的還款壓力就越大。</a:t>
            </a:r>
            <a:br>
              <a:rPr lang="zh-TW" sz="1300">
                <a:solidFill>
                  <a:schemeClr val="dk1"/>
                </a:solidFill>
              </a:rPr>
            </a:br>
            <a:r>
              <a:rPr lang="zh-TW" sz="1400" u="sng">
                <a:solidFill>
                  <a:srgbClr val="0097A7"/>
                </a:solidFill>
                <a:hlinkClick r:id="rId2">
                  <a:extLst>
                    <a:ext uri="{A12FA001-AC4F-418D-AE19-62706E023703}">
                      <ahyp:hlinkClr val="tx"/>
                    </a:ext>
                  </a:extLst>
                </a:hlinkClick>
              </a:rPr>
              <a:t>LightGBM 7th place solution</a:t>
            </a:r>
            <a:r>
              <a:rPr lang="zh-TW" sz="1400">
                <a:solidFill>
                  <a:schemeClr val="dk1"/>
                </a:solidFill>
              </a:rPr>
              <a:t> </a:t>
            </a:r>
            <a:endParaRPr sz="1400">
              <a:solidFill>
                <a:schemeClr val="dk1"/>
              </a:solidFill>
            </a:endParaRPr>
          </a:p>
          <a:p>
            <a:pPr indent="0" lvl="0" marL="0" rtl="0" algn="l">
              <a:lnSpc>
                <a:spcPct val="115000"/>
              </a:lnSpc>
              <a:spcBef>
                <a:spcPts val="1200"/>
              </a:spcBef>
              <a:spcAft>
                <a:spcPts val="1200"/>
              </a:spcAft>
              <a:buNone/>
            </a:pPr>
            <a:r>
              <a:t/>
            </a:r>
            <a:endParaRPr sz="1300">
              <a:solidFill>
                <a:schemeClr val="dk1"/>
              </a:solidFil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df6356af_3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e5df6356af_3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TW" sz="1300">
                <a:solidFill>
                  <a:schemeClr val="dk1"/>
                </a:solidFill>
              </a:rPr>
              <a:t>衡量頭期款比例（Down Payment Ratio）。如果核貸金額大於商品價格（差額為正，比率 $&gt;1$），代表這筆貸款包含了其他消費性支出（信用套現）；若核貸金額低於商品價格，代表申請人自己出了一部分頭期款。願意出頭期款的客戶，違約意願通常顯著較低</a:t>
            </a:r>
            <a:endParaRPr sz="1300">
              <a:solidFill>
                <a:schemeClr val="dk1"/>
              </a:solidFill>
            </a:endParaRPr>
          </a:p>
          <a:p>
            <a:pPr indent="0" lvl="0" marL="0" rtl="0" algn="l">
              <a:lnSpc>
                <a:spcPct val="115000"/>
              </a:lnSpc>
              <a:spcBef>
                <a:spcPts val="1200"/>
              </a:spcBef>
              <a:spcAft>
                <a:spcPts val="0"/>
              </a:spcAft>
              <a:buNone/>
            </a:pPr>
            <a:r>
              <a:rPr lang="zh-TW" sz="1400" u="sng">
                <a:solidFill>
                  <a:srgbClr val="0097A7"/>
                </a:solidFill>
                <a:hlinkClick r:id="rId2">
                  <a:extLst>
                    <a:ext uri="{A12FA001-AC4F-418D-AE19-62706E023703}">
                      <ahyp:hlinkClr val="tx"/>
                    </a:ext>
                  </a:extLst>
                </a:hlinkClick>
              </a:rPr>
              <a:t>LightGBM 7th place solution</a:t>
            </a:r>
            <a:r>
              <a:rPr lang="zh-TW" sz="1400">
                <a:solidFill>
                  <a:schemeClr val="dk1"/>
                </a:solidFill>
              </a:rPr>
              <a:t> </a:t>
            </a:r>
            <a:endParaRPr sz="1400">
              <a:solidFill>
                <a:schemeClr val="dk1"/>
              </a:solidFill>
            </a:endParaRPr>
          </a:p>
          <a:p>
            <a:pPr indent="0" lvl="0" marL="0" rtl="0" algn="l">
              <a:lnSpc>
                <a:spcPct val="115000"/>
              </a:lnSpc>
              <a:spcBef>
                <a:spcPts val="1200"/>
              </a:spcBef>
              <a:spcAft>
                <a:spcPts val="1200"/>
              </a:spcAft>
              <a:buNone/>
            </a:pPr>
            <a:r>
              <a:t/>
            </a:r>
            <a:endParaRPr sz="1300">
              <a:solidFill>
                <a:schemeClr val="dk1"/>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e5df6356af_3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e5df6356af_3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TW" sz="1300">
                <a:solidFill>
                  <a:schemeClr val="dk1"/>
                </a:solidFill>
              </a:rPr>
              <a:t>在銀行眼裡，一個本來好好的客戶，如果近半年突然連續把信用卡額度用到極限，往往是失業、經商失敗、或財務即將崩潰的前兆（即將破產）。樹狀模型非常喜歡這個特徵，因為刷爆卡的瞬間，往往就是違約風險飆高的起點。</a:t>
            </a:r>
            <a:endParaRPr sz="1300">
              <a:solidFill>
                <a:schemeClr val="dk1"/>
              </a:solidFill>
            </a:endParaRPr>
          </a:p>
          <a:p>
            <a:pPr indent="0" lvl="0" marL="0" rtl="0" algn="l">
              <a:lnSpc>
                <a:spcPct val="115000"/>
              </a:lnSpc>
              <a:spcBef>
                <a:spcPts val="1200"/>
              </a:spcBef>
              <a:spcAft>
                <a:spcPts val="1200"/>
              </a:spcAft>
              <a:buNone/>
            </a:pPr>
            <a:r>
              <a:rPr lang="zh-TW" u="sng">
                <a:solidFill>
                  <a:schemeClr val="hlink"/>
                </a:solidFill>
                <a:hlinkClick r:id="rId2"/>
              </a:rPr>
              <a:t>Home Credit: Putting All the Steps Together</a:t>
            </a:r>
            <a:r>
              <a:rPr lang="zh-TW">
                <a:solidFill>
                  <a:schemeClr val="dk1"/>
                </a:solidFill>
              </a:rPr>
              <a:t> </a:t>
            </a:r>
            <a:endParaRPr sz="1300">
              <a:solidFill>
                <a:schemeClr val="dk1"/>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e5df6356af_3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e5df6356af_3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zh-TW" sz="1300">
                <a:solidFill>
                  <a:schemeClr val="dk1"/>
                </a:solidFill>
              </a:rPr>
              <a:t>如果這個平均值很大（例如高達 20 幾期）：代表這客戶在過去半年內，身上背滿了剛借不久、而且需要還很久的中長期債務。他的財務黏滯性極高，未來兩三年內每個月都必須雷打不動地掏出錢來還債，只要未來稍微遇到一點景氣風吹草動，違約機率就會大幅大增</a:t>
            </a:r>
            <a:endParaRPr sz="1300">
              <a:solidFill>
                <a:schemeClr val="dk1"/>
              </a:solidFill>
            </a:endParaRPr>
          </a:p>
          <a:p>
            <a:pPr indent="0" lvl="0" marL="0" rtl="0" algn="l">
              <a:lnSpc>
                <a:spcPct val="115000"/>
              </a:lnSpc>
              <a:spcBef>
                <a:spcPts val="1200"/>
              </a:spcBef>
              <a:spcAft>
                <a:spcPts val="1200"/>
              </a:spcAft>
              <a:buClr>
                <a:schemeClr val="dk1"/>
              </a:buClr>
              <a:buSzPts val="1100"/>
              <a:buFont typeface="Arial"/>
              <a:buNone/>
            </a:pPr>
            <a:r>
              <a:rPr lang="zh-TW" u="sng">
                <a:solidFill>
                  <a:schemeClr val="hlink"/>
                </a:solidFill>
                <a:hlinkClick r:id="rId2"/>
              </a:rPr>
              <a:t>Home Credit: Putting All the Steps Together</a:t>
            </a:r>
            <a:r>
              <a:rPr lang="zh-TW">
                <a:solidFill>
                  <a:schemeClr val="dk1"/>
                </a:solidFill>
              </a:rPr>
              <a:t> </a:t>
            </a:r>
            <a:endParaRPr sz="1300">
              <a:solidFill>
                <a:schemeClr val="dk1"/>
              </a:solidFil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e5df6356af_3_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e5df6356af_3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TW"/>
              <a:t>代表還款能力與社會穩定度：年齡是人口統計學中最關鍵的風控指標。</a:t>
            </a:r>
            <a:endParaRPr/>
          </a:p>
          <a:p>
            <a:pPr indent="0" lvl="0" marL="0" rtl="0" algn="l">
              <a:spcBef>
                <a:spcPts val="0"/>
              </a:spcBef>
              <a:spcAft>
                <a:spcPts val="0"/>
              </a:spcAft>
              <a:buNone/>
            </a:pPr>
            <a:r>
              <a:rPr lang="zh-TW"/>
              <a:t>年輕人（20-25歲）：通常工作不穩定、儲蓄較少、流動性高，且缺乏長期的信用紀錄，違約風險相對較高。</a:t>
            </a:r>
            <a:endParaRPr/>
          </a:p>
          <a:p>
            <a:pPr indent="0" lvl="0" marL="0" rtl="0" algn="l">
              <a:spcBef>
                <a:spcPts val="0"/>
              </a:spcBef>
              <a:spcAft>
                <a:spcPts val="0"/>
              </a:spcAft>
              <a:buNone/>
            </a:pPr>
            <a:r>
              <a:rPr lang="zh-TW"/>
              <a:t>中年人（35-50歲）：通常事業步入軌道、收入穩定、有家庭負擔，違約的機會成本（代價）非常高，因此還款意願最強、最穩定。</a:t>
            </a:r>
            <a:endParaRPr/>
          </a:p>
          <a:p>
            <a:pPr indent="0" lvl="0" marL="0" rtl="0" algn="l">
              <a:spcBef>
                <a:spcPts val="0"/>
              </a:spcBef>
              <a:spcAft>
                <a:spcPts val="0"/>
              </a:spcAft>
              <a:buNone/>
            </a:pPr>
            <a:r>
              <a:t/>
            </a:r>
            <a:endParaRPr/>
          </a:p>
          <a:p>
            <a:pPr indent="0" lvl="0" marL="0" rtl="0" algn="l">
              <a:spcBef>
                <a:spcPts val="0"/>
              </a:spcBef>
              <a:spcAft>
                <a:spcPts val="0"/>
              </a:spcAft>
              <a:buNone/>
            </a:pPr>
            <a:r>
              <a:rPr lang="zh-TW"/>
              <a:t>Represents repayment capacity and social stability: Age is one of the most important demographic variables in credit risk modeling.</a:t>
            </a:r>
            <a:endParaRPr/>
          </a:p>
          <a:p>
            <a:pPr indent="0" lvl="0" marL="0" rtl="0" algn="l">
              <a:spcBef>
                <a:spcPts val="0"/>
              </a:spcBef>
              <a:spcAft>
                <a:spcPts val="0"/>
              </a:spcAft>
              <a:buNone/>
            </a:pPr>
            <a:r>
              <a:rPr lang="zh-TW"/>
              <a:t>Borrowers aged 20–25 typically have less stable employment, limited savings, higher labor mobility, and short or thin credit histories, which are associated with a higher default risk.</a:t>
            </a:r>
            <a:endParaRPr/>
          </a:p>
          <a:p>
            <a:pPr indent="0" lvl="0" marL="0" rtl="0" algn="l">
              <a:spcBef>
                <a:spcPts val="0"/>
              </a:spcBef>
              <a:spcAft>
                <a:spcPts val="0"/>
              </a:spcAft>
              <a:buNone/>
            </a:pPr>
            <a:r>
              <a:rPr lang="zh-TW"/>
              <a:t>Borrowers aged 35–50 are generally more financially established, with stable income streams and family responsibilities. The opportunity cost of default is also higher for this group, leading to stronger repayment incentives and more stable credit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zh-TW"/>
              <a:t>How many days before current application did client apply for Credit Bureau credit (negative value)</a:t>
            </a:r>
            <a:endParaRPr/>
          </a:p>
          <a:p>
            <a:pPr indent="0" lvl="0" marL="0" rtl="0" algn="l">
              <a:spcBef>
                <a:spcPts val="0"/>
              </a:spcBef>
              <a:spcAft>
                <a:spcPts val="0"/>
              </a:spcAft>
              <a:buNone/>
            </a:pPr>
            <a:r>
              <a:rPr lang="zh-TW"/>
              <a:t>在信貸風控中，「最近一次申請貸款的時間」是一個極度敏感的危險指標。如果一個客戶在 7 天前或 2 星期前才剛在其他銀行申請過貸款（數值非常接近 0），今天又來申請，通常暗示了強烈風險: 資金鏈極度緊張：客戶此時此刻非常缺錢，才會短期內連續向不同機構申貸。</a:t>
            </a:r>
            <a:endParaRPr/>
          </a:p>
          <a:p>
            <a:pPr indent="0" lvl="0" marL="0" rtl="0" algn="l">
              <a:spcBef>
                <a:spcPts val="0"/>
              </a:spcBef>
              <a:spcAft>
                <a:spcPts val="0"/>
              </a:spcAft>
              <a:buNone/>
            </a:pPr>
            <a:r>
              <a:t/>
            </a:r>
            <a:endParaRPr/>
          </a:p>
          <a:p>
            <a:pPr indent="0" lvl="0" marL="0" rtl="0" algn="l">
              <a:spcBef>
                <a:spcPts val="0"/>
              </a:spcBef>
              <a:spcAft>
                <a:spcPts val="0"/>
              </a:spcAft>
              <a:buNone/>
            </a:pPr>
            <a:r>
              <a:rPr lang="zh-TW"/>
              <a:t>In credit risk modeling, the time since the most recent loan application is a highly sensitive risk indicator. If a customer applied for a loan at another financial institution just 7 days or 2 weeks ago (i.e., the value is very close to zero), and is applying again today, it often signals elevated risk. This pattern may indicate severe liquidity stress, where the borrower is actively seeking funds from multiple lenders within a short period due to urgent financial needs.</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e5df6356af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e5df6356af_0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TW"/>
              <a:t>model, score, score_reduction</a:t>
            </a:r>
            <a:endParaRPr/>
          </a:p>
          <a:p>
            <a:pPr indent="0" lvl="0" marL="0" rtl="0" algn="l">
              <a:spcBef>
                <a:spcPts val="0"/>
              </a:spcBef>
              <a:spcAft>
                <a:spcPts val="0"/>
              </a:spcAft>
              <a:buNone/>
            </a:pPr>
            <a:r>
              <a:rPr lang="zh-TW"/>
              <a:t>baseline, 0.75943,</a:t>
            </a:r>
            <a:endParaRPr/>
          </a:p>
          <a:p>
            <a:pPr indent="0" lvl="0" marL="0" rtl="0" algn="l">
              <a:spcBef>
                <a:spcPts val="0"/>
              </a:spcBef>
              <a:spcAft>
                <a:spcPts val="0"/>
              </a:spcAft>
              <a:buNone/>
            </a:pPr>
            <a:r>
              <a:rPr lang="zh-TW"/>
              <a:t>bureau, 0.76602, 0.76844</a:t>
            </a:r>
            <a:endParaRPr/>
          </a:p>
          <a:p>
            <a:pPr indent="0" lvl="0" marL="0" rtl="0" algn="l">
              <a:spcBef>
                <a:spcPts val="0"/>
              </a:spcBef>
              <a:spcAft>
                <a:spcPts val="0"/>
              </a:spcAft>
              <a:buNone/>
            </a:pPr>
            <a:r>
              <a:rPr lang="zh-TW"/>
              <a:t>bu+prev, 0.77540, 0.7764</a:t>
            </a:r>
            <a:endParaRPr/>
          </a:p>
          <a:p>
            <a:pPr indent="0" lvl="0" marL="0" rtl="0" algn="l">
              <a:spcBef>
                <a:spcPts val="0"/>
              </a:spcBef>
              <a:spcAft>
                <a:spcPts val="0"/>
              </a:spcAft>
              <a:buNone/>
            </a:pPr>
            <a:r>
              <a:rPr lang="zh-TW"/>
              <a:t>bu+prev_magic, 0.78415, 0.78439 (adding magic)</a:t>
            </a:r>
            <a:endParaRPr/>
          </a:p>
          <a:p>
            <a:pPr indent="0" lvl="0" marL="0" rtl="0" algn="l">
              <a:spcBef>
                <a:spcPts val="0"/>
              </a:spcBef>
              <a:spcAft>
                <a:spcPts val="0"/>
              </a:spcAft>
              <a:buNone/>
            </a:pPr>
            <a:r>
              <a:rPr lang="zh-TW"/>
              <a:t>bu+prev+install+credit, 0.78581, 0.78580</a:t>
            </a:r>
            <a:endParaRPr/>
          </a:p>
          <a:p>
            <a:pPr indent="0" lvl="0" marL="0" rtl="0" algn="l">
              <a:spcBef>
                <a:spcPts val="0"/>
              </a:spcBef>
              <a:spcAft>
                <a:spcPts val="0"/>
              </a:spcAft>
              <a:buNone/>
            </a:pPr>
            <a:r>
              <a:rPr lang="zh-TW"/>
              <a:t>bu+prev+install+credit+3model, 0.78480, 0.79010 (3 model with fixed blending weight)</a:t>
            </a:r>
            <a:endParaRPr/>
          </a:p>
          <a:p>
            <a:pPr indent="0" lvl="0" marL="0" rtl="0" algn="l">
              <a:spcBef>
                <a:spcPts val="0"/>
              </a:spcBef>
              <a:spcAft>
                <a:spcPts val="0"/>
              </a:spcAft>
              <a:buNone/>
            </a:pPr>
            <a:r>
              <a:rPr lang="zh-TW"/>
              <a:t>bu+prev+install+credit+3model+timewindow, 0.78590, 0.79171 (time window + Optuna)</a:t>
            </a:r>
            <a:endParaRPr/>
          </a:p>
          <a:p>
            <a:pPr indent="0" lvl="0" marL="0" rtl="0" algn="l">
              <a:spcBef>
                <a:spcPts val="0"/>
              </a:spcBef>
              <a:spcAft>
                <a:spcPts val="0"/>
              </a:spcAft>
              <a:buNone/>
            </a:pPr>
            <a:r>
              <a:rPr lang="zh-TW"/>
              <a:t>bu+prev+install+credit+3model+timewindow+stacking, 0.78590, 0.79147 </a:t>
            </a:r>
            <a:r>
              <a:rPr lang="zh-TW">
                <a:solidFill>
                  <a:schemeClr val="dk1"/>
                </a:solidFill>
              </a:rPr>
              <a:t> (time window + stacking)</a:t>
            </a:r>
            <a:endParaRPr/>
          </a:p>
          <a:p>
            <a:pPr indent="457200" lvl="0" marL="0" rtl="0" algn="l">
              <a:spcBef>
                <a:spcPts val="0"/>
              </a:spcBef>
              <a:spcAft>
                <a:spcPts val="0"/>
              </a:spcAft>
              <a:buNone/>
            </a:pPr>
            <a:r>
              <a:rPr lang="zh-TW"/>
              <a:t>(skip) bu+prev+install+credit+3model+timewindow+off, 0.78537, 0.79158</a:t>
            </a:r>
            <a:endParaRPr/>
          </a:p>
          <a:p>
            <a:pPr indent="0" lvl="0" marL="0" rtl="0" algn="l">
              <a:spcBef>
                <a:spcPts val="0"/>
              </a:spcBef>
              <a:spcAft>
                <a:spcPts val="0"/>
              </a:spcAft>
              <a:buNone/>
            </a:pPr>
            <a:r>
              <a:rPr lang="zh-TW"/>
              <a:t>bu+prev+install+credit+3model+timewindow+pos+bubalance, 0.78747, 0.79313</a:t>
            </a:r>
            <a:endParaRPr/>
          </a:p>
          <a:p>
            <a:pPr indent="0" lvl="0" marL="0" rtl="0" algn="l">
              <a:spcBef>
                <a:spcPts val="0"/>
              </a:spcBef>
              <a:spcAft>
                <a:spcPts val="0"/>
              </a:spcAft>
              <a:buNone/>
            </a:pPr>
            <a:r>
              <a:t/>
            </a:r>
            <a:endParaRPr/>
          </a:p>
          <a:p>
            <a:pPr indent="0" lvl="0" marL="0" rtl="0" algn="l">
              <a:spcBef>
                <a:spcPts val="0"/>
              </a:spcBef>
              <a:spcAft>
                <a:spcPts val="0"/>
              </a:spcAft>
              <a:buNone/>
            </a:pPr>
            <a:r>
              <a:rPr lang="zh-TW"/>
              <a:t>important step: more feature, magic, blending model</a:t>
            </a:r>
            <a:endParaRPr/>
          </a:p>
          <a:p>
            <a:pPr indent="0" lvl="0" marL="0" rtl="0" algn="l">
              <a:spcBef>
                <a:spcPts val="0"/>
              </a:spcBef>
              <a:spcAft>
                <a:spcPts val="0"/>
              </a:spcAft>
              <a:buNone/>
            </a:pPr>
            <a:r>
              <a:rPr lang="zh-TW"/>
              <a:t>final weight: LGB: 0.293, CAT: 0.397, XGB: 0.310, AUC: 0.79325</a:t>
            </a:r>
            <a:endParaRPr/>
          </a:p>
          <a:p>
            <a:pPr indent="0" lvl="0" marL="0" rtl="0" algn="l">
              <a:spcBef>
                <a:spcPts val="0"/>
              </a:spcBef>
              <a:spcAft>
                <a:spcPts val="0"/>
              </a:spcAft>
              <a:buNone/>
            </a:pPr>
            <a:r>
              <a:t/>
            </a:r>
            <a:endParaRPr/>
          </a:p>
          <a:p>
            <a:pPr indent="0" lvl="0" marL="0" rtl="0" algn="l">
              <a:spcBef>
                <a:spcPts val="0"/>
              </a:spcBef>
              <a:spcAft>
                <a:spcPts val="0"/>
              </a:spcAft>
              <a:buNone/>
            </a:pPr>
            <a:r>
              <a:rPr lang="zh-TW">
                <a:solidFill>
                  <a:schemeClr val="dk1"/>
                </a:solidFill>
              </a:rPr>
              <a:t>這完全符合預期！你觀察到了一個非常資深、只有老練的 Kaggle 玩家才會注意到的</a:t>
            </a:r>
            <a:r>
              <a:rPr b="1" lang="zh-TW">
                <a:solidFill>
                  <a:schemeClr val="dk1"/>
                </a:solidFill>
              </a:rPr>
              <a:t>硬核現象</a:t>
            </a:r>
            <a:r>
              <a:rPr lang="zh-TW">
                <a:solidFill>
                  <a:schemeClr val="dk1"/>
                </a:solidFill>
              </a:rPr>
              <a:t>：</a:t>
            </a:r>
            <a:r>
              <a:rPr b="1" lang="zh-TW">
                <a:solidFill>
                  <a:schemeClr val="dk1"/>
                </a:solidFill>
              </a:rPr>
              <a:t>在模型數量很少（只有 3 個）且模型彼此都非常強大的情況下，簡單的線性權重搜尋（Optuna/Scipy）往往會擊敗 Stacking（Logistic Regression）</a:t>
            </a:r>
            <a:r>
              <a:rPr lang="zh-TW">
                <a:solidFill>
                  <a:schemeClr val="dk1"/>
                </a:solidFill>
              </a:rPr>
              <a:t> </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zh-TW">
                <a:solidFill>
                  <a:schemeClr val="dk1"/>
                </a:solidFill>
              </a:rPr>
              <a:t>Optuna (SLSQP)</a:t>
            </a:r>
            <a:r>
              <a:rPr lang="zh-TW">
                <a:solidFill>
                  <a:schemeClr val="dk1"/>
                </a:solidFill>
              </a:rPr>
              <a:t>：它不是機器學習模型，它只是一個「純數學優化器」。它唯一的目標就是看著整體的 OOF AUC，去微調那三個數字。它</a:t>
            </a:r>
            <a:r>
              <a:rPr b="1" lang="zh-TW">
                <a:solidFill>
                  <a:schemeClr val="dk1"/>
                </a:solidFill>
              </a:rPr>
              <a:t>沒有截距（Bias）</a:t>
            </a:r>
            <a:r>
              <a:rPr lang="zh-TW">
                <a:solidFill>
                  <a:schemeClr val="dk1"/>
                </a:solidFill>
              </a:rPr>
              <a:t>，也沒有任何非線性的想像空間。</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zh-TW">
                <a:solidFill>
                  <a:schemeClr val="dk1"/>
                </a:solidFill>
              </a:rPr>
              <a:t>Logistic Regression</a:t>
            </a:r>
            <a:r>
              <a:rPr lang="zh-TW">
                <a:solidFill>
                  <a:schemeClr val="dk1"/>
                </a:solidFill>
              </a:rPr>
              <a:t>：它有截距項，而且它試圖去擬合極大似然估計（Maximum Likelihood）。當特徵只有 3 個（LGB, CAT, XGB 的預測值）時，這個模型太容易在 OOF 資料集的某些局部樣本上過度擬合（Overfitting），導致整體的泛化 AUC 反而下降。</a:t>
            </a:r>
            <a:endParaRPr>
              <a:solidFill>
                <a:schemeClr val="dk1"/>
              </a:solidFill>
            </a:endParaRPr>
          </a:p>
          <a:p>
            <a:pPr indent="0" lvl="0" marL="381000" marR="381000" rtl="0" algn="l">
              <a:lnSpc>
                <a:spcPct val="115000"/>
              </a:lnSpc>
              <a:spcBef>
                <a:spcPts val="1200"/>
              </a:spcBef>
              <a:spcAft>
                <a:spcPts val="0"/>
              </a:spcAft>
              <a:buClr>
                <a:schemeClr val="dk1"/>
              </a:buClr>
              <a:buSzPts val="1100"/>
              <a:buFont typeface="Arial"/>
              <a:buNone/>
            </a:pPr>
            <a:r>
              <a:rPr lang="zh-TW">
                <a:solidFill>
                  <a:schemeClr val="dk1"/>
                </a:solidFill>
              </a:rPr>
              <a:t>💡 </a:t>
            </a:r>
            <a:r>
              <a:rPr b="1" lang="zh-TW">
                <a:solidFill>
                  <a:schemeClr val="dk1"/>
                </a:solidFill>
              </a:rPr>
              <a:t>Kaggle 金律</a:t>
            </a:r>
            <a:r>
              <a:rPr lang="zh-TW">
                <a:solidFill>
                  <a:schemeClr val="dk1"/>
                </a:solidFill>
              </a:rPr>
              <a:t>：</a:t>
            </a:r>
            <a:endParaRPr>
              <a:solidFill>
                <a:schemeClr val="dk1"/>
              </a:solidFill>
            </a:endParaRPr>
          </a:p>
          <a:p>
            <a:pPr indent="-298450" lvl="0" marL="838200" marR="381000" rtl="0" algn="l">
              <a:lnSpc>
                <a:spcPct val="115000"/>
              </a:lnSpc>
              <a:spcBef>
                <a:spcPts val="1200"/>
              </a:spcBef>
              <a:spcAft>
                <a:spcPts val="0"/>
              </a:spcAft>
              <a:buClr>
                <a:schemeClr val="dk1"/>
              </a:buClr>
              <a:buSzPts val="1100"/>
              <a:buChar char="●"/>
            </a:pPr>
            <a:r>
              <a:rPr lang="zh-TW">
                <a:solidFill>
                  <a:schemeClr val="dk1"/>
                </a:solidFill>
              </a:rPr>
              <a:t>當你只有 </a:t>
            </a:r>
            <a:r>
              <a:rPr b="1" lang="zh-TW">
                <a:solidFill>
                  <a:schemeClr val="dk1"/>
                </a:solidFill>
              </a:rPr>
              <a:t>3~5 個模型</a:t>
            </a:r>
            <a:r>
              <a:rPr lang="zh-TW">
                <a:solidFill>
                  <a:schemeClr val="dk1"/>
                </a:solidFill>
              </a:rPr>
              <a:t>時 $\rightarrow$ 用 </a:t>
            </a:r>
            <a:r>
              <a:rPr b="1" lang="zh-TW">
                <a:solidFill>
                  <a:schemeClr val="dk1"/>
                </a:solidFill>
              </a:rPr>
              <a:t>Optuna 尋找權重 (Blending)</a:t>
            </a:r>
            <a:r>
              <a:rPr lang="zh-TW">
                <a:solidFill>
                  <a:schemeClr val="dk1"/>
                </a:solidFill>
              </a:rPr>
              <a:t> 是無敵的。</a:t>
            </a:r>
            <a:endParaRPr>
              <a:solidFill>
                <a:schemeClr val="dk1"/>
              </a:solidFill>
            </a:endParaRPr>
          </a:p>
          <a:p>
            <a:pPr indent="-298450" lvl="0" marL="838200" marR="381000" rtl="0" algn="l">
              <a:lnSpc>
                <a:spcPct val="115000"/>
              </a:lnSpc>
              <a:spcBef>
                <a:spcPts val="0"/>
              </a:spcBef>
              <a:spcAft>
                <a:spcPts val="0"/>
              </a:spcAft>
              <a:buClr>
                <a:schemeClr val="dk1"/>
              </a:buClr>
              <a:buSzPts val="1100"/>
              <a:buChar char="●"/>
            </a:pPr>
            <a:r>
              <a:rPr lang="zh-TW">
                <a:solidFill>
                  <a:schemeClr val="dk1"/>
                </a:solidFill>
              </a:rPr>
              <a:t>當你手頭有 </a:t>
            </a:r>
            <a:r>
              <a:rPr b="1" lang="zh-TW">
                <a:solidFill>
                  <a:schemeClr val="dk1"/>
                </a:solidFill>
              </a:rPr>
              <a:t>20~50 個模型</a:t>
            </a:r>
            <a:r>
              <a:rPr lang="zh-TW">
                <a:solidFill>
                  <a:schemeClr val="dk1"/>
                </a:solidFill>
              </a:rPr>
              <a:t>（包含各種不同隨機種子的橡樹、神經網路、SVM）時 $\rightarrow$ </a:t>
            </a:r>
            <a:r>
              <a:rPr b="1" lang="zh-TW">
                <a:solidFill>
                  <a:schemeClr val="dk1"/>
                </a:solidFill>
              </a:rPr>
              <a:t>Stacking</a:t>
            </a:r>
            <a:r>
              <a:rPr lang="zh-TW">
                <a:solidFill>
                  <a:schemeClr val="dk1"/>
                </a:solidFill>
              </a:rPr>
              <a:t> 才能展現威力。</a:t>
            </a:r>
            <a:endParaRPr>
              <a:solidFill>
                <a:schemeClr val="dk1"/>
              </a:solidFill>
            </a:endParaRPr>
          </a:p>
          <a:p>
            <a:pPr indent="0" lvl="0" marL="0" rtl="0" algn="l">
              <a:spcBef>
                <a:spcPts val="1200"/>
              </a:spcBef>
              <a:spcAft>
                <a:spcPts val="0"/>
              </a:spcAft>
              <a:buNone/>
            </a:pPr>
            <a:r>
              <a:t/>
            </a:r>
            <a:endParaRPr>
              <a:solidFill>
                <a:schemeClr val="dk1"/>
              </a:solidFil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3e5df6356af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8" name="Google Shape;198;g3e5df6356af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e5df6356af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e5df6356af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e5df6356af_0_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e5df6356af_0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e5df6356af_5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e5df6356af_5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TW"/>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zh-TW"/>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s://www.kaggle.com/competitions/home-credit-default-risk/writeups/dellinger-kernel-for-my-relative-beginner-s-561st-" TargetMode="External"/><Relationship Id="rId4" Type="http://schemas.openxmlformats.org/officeDocument/2006/relationships/hyperlink" Target="https://www.kaggle.com/code/derickndzi/dn-home-credit-default-risk" TargetMode="External"/><Relationship Id="rId5" Type="http://schemas.openxmlformats.org/officeDocument/2006/relationships/hyperlink" Target="https://www.kaggle.com/code/jsaguiar/lightgbm-7th-place-solution" TargetMode="External"/><Relationship Id="rId6" Type="http://schemas.openxmlformats.org/officeDocument/2006/relationships/hyperlink" Target="https://www.kaggle.com/code/willkoehrsen/introduction-to-manual-feature-engineering" TargetMode="External"/><Relationship Id="rId7" Type="http://schemas.openxmlformats.org/officeDocument/2006/relationships/hyperlink" Target="https://www.kaggle.com/code/jamesdellinger/home-credit-putting-all-the-steps-together"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zh-TW" sz="4400"/>
              <a:t>Early Warning System for Defaults</a:t>
            </a:r>
            <a:r>
              <a:rPr lang="zh-TW" sz="1100"/>
              <a:t> </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Autofit/>
          </a:bodyPr>
          <a:lstStyle/>
          <a:p>
            <a:pPr indent="0" lvl="0" marL="0" rtl="0" algn="ctr">
              <a:lnSpc>
                <a:spcPct val="115000"/>
              </a:lnSpc>
              <a:spcBef>
                <a:spcPts val="800"/>
              </a:spcBef>
              <a:spcAft>
                <a:spcPts val="0"/>
              </a:spcAft>
              <a:buClr>
                <a:schemeClr val="dk1"/>
              </a:buClr>
              <a:buSzPts val="1100"/>
              <a:buFont typeface="Arial"/>
              <a:buNone/>
            </a:pPr>
            <a:r>
              <a:rPr lang="zh-TW" sz="2000">
                <a:solidFill>
                  <a:schemeClr val="dk1"/>
                </a:solidFill>
              </a:rPr>
              <a:t>Group H</a:t>
            </a:r>
            <a:endParaRPr sz="2000">
              <a:solidFill>
                <a:schemeClr val="dk1"/>
              </a:solidFill>
            </a:endParaRPr>
          </a:p>
          <a:p>
            <a:pPr indent="0" lvl="0" marL="0" rtl="0" algn="ctr">
              <a:lnSpc>
                <a:spcPct val="115000"/>
              </a:lnSpc>
              <a:spcBef>
                <a:spcPts val="800"/>
              </a:spcBef>
              <a:spcAft>
                <a:spcPts val="0"/>
              </a:spcAft>
              <a:buClr>
                <a:schemeClr val="dk1"/>
              </a:buClr>
              <a:buSzPts val="1100"/>
              <a:buFont typeface="Arial"/>
              <a:buNone/>
            </a:pPr>
            <a:r>
              <a:rPr lang="zh-TW" sz="2000">
                <a:solidFill>
                  <a:srgbClr val="898989"/>
                </a:solidFill>
              </a:rPr>
              <a:t>呂辰祐412410075</a:t>
            </a:r>
            <a:endParaRPr sz="2000">
              <a:solidFill>
                <a:srgbClr val="898989"/>
              </a:solidFill>
            </a:endParaRPr>
          </a:p>
          <a:p>
            <a:pPr indent="0" lvl="0" marL="0" rtl="0" algn="ctr">
              <a:lnSpc>
                <a:spcPct val="115000"/>
              </a:lnSpc>
              <a:spcBef>
                <a:spcPts val="800"/>
              </a:spcBef>
              <a:spcAft>
                <a:spcPts val="0"/>
              </a:spcAft>
              <a:buClr>
                <a:schemeClr val="dk1"/>
              </a:buClr>
              <a:buSzPts val="1100"/>
              <a:buFont typeface="Arial"/>
              <a:buNone/>
            </a:pPr>
            <a:r>
              <a:rPr lang="zh-TW" sz="2000">
                <a:solidFill>
                  <a:srgbClr val="898989"/>
                </a:solidFill>
              </a:rPr>
              <a:t>易威丞410410090</a:t>
            </a:r>
            <a:endParaRPr sz="2000">
              <a:solidFill>
                <a:srgbClr val="898989"/>
              </a:solidFill>
            </a:endParaRPr>
          </a:p>
          <a:p>
            <a:pPr indent="0" lvl="0" marL="0" rtl="0" algn="ctr">
              <a:spcBef>
                <a:spcPts val="0"/>
              </a:spcBef>
              <a:spcAft>
                <a:spcPts val="0"/>
              </a:spcAft>
              <a:buNone/>
            </a:pPr>
            <a:r>
              <a:t/>
            </a:r>
            <a:endParaRPr sz="20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zh-TW" sz="4400"/>
              <a:t>Dataset</a:t>
            </a:r>
            <a:r>
              <a:rPr lang="zh-TW" sz="1100"/>
              <a:t> </a:t>
            </a:r>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47500" lnSpcReduction="10000"/>
          </a:bodyPr>
          <a:lstStyle/>
          <a:p>
            <a:pPr indent="0" lvl="0" marL="0" rtl="0" algn="l">
              <a:spcBef>
                <a:spcPts val="700"/>
              </a:spcBef>
              <a:spcAft>
                <a:spcPts val="0"/>
              </a:spcAft>
              <a:buClr>
                <a:schemeClr val="dk1"/>
              </a:buClr>
              <a:buSzPct val="36667"/>
              <a:buFont typeface="Arial"/>
              <a:buNone/>
            </a:pPr>
            <a:r>
              <a:rPr lang="zh-TW" sz="3000">
                <a:solidFill>
                  <a:schemeClr val="dk1"/>
                </a:solidFill>
              </a:rPr>
              <a:t>•</a:t>
            </a:r>
            <a:r>
              <a:rPr b="1" lang="zh-TW" sz="3000">
                <a:solidFill>
                  <a:schemeClr val="dk1"/>
                </a:solidFill>
              </a:rPr>
              <a:t>Dataset: Home Credit Default Risk (Kaggle)</a:t>
            </a:r>
            <a:endParaRPr b="1" sz="3000">
              <a:solidFill>
                <a:schemeClr val="dk1"/>
              </a:solidFill>
            </a:endParaRPr>
          </a:p>
          <a:p>
            <a:pPr indent="0" lvl="0" marL="0" rtl="0" algn="l">
              <a:spcBef>
                <a:spcPts val="700"/>
              </a:spcBef>
              <a:spcAft>
                <a:spcPts val="0"/>
              </a:spcAft>
              <a:buClr>
                <a:schemeClr val="dk1"/>
              </a:buClr>
              <a:buSzPct val="36667"/>
              <a:buFont typeface="Arial"/>
              <a:buNone/>
            </a:pPr>
            <a:r>
              <a:rPr lang="zh-TW" sz="3000">
                <a:solidFill>
                  <a:schemeClr val="dk1"/>
                </a:solidFill>
              </a:rPr>
              <a:t>•</a:t>
            </a:r>
            <a:r>
              <a:rPr b="1" lang="zh-TW" sz="3000">
                <a:solidFill>
                  <a:schemeClr val="dk1"/>
                </a:solidFill>
              </a:rPr>
              <a:t>Multi-table structure (7 tables)</a:t>
            </a:r>
            <a:endParaRPr b="1" sz="3000">
              <a:solidFill>
                <a:schemeClr val="dk1"/>
              </a:solidFill>
            </a:endParaRPr>
          </a:p>
          <a:p>
            <a:pPr indent="0" lvl="0" marL="12700" rtl="0" algn="l">
              <a:spcBef>
                <a:spcPts val="600"/>
              </a:spcBef>
              <a:spcAft>
                <a:spcPts val="0"/>
              </a:spcAft>
              <a:buClr>
                <a:schemeClr val="dk1"/>
              </a:buClr>
              <a:buSzPct val="42308"/>
              <a:buFont typeface="Arial"/>
              <a:buNone/>
            </a:pPr>
            <a:r>
              <a:rPr lang="zh-TW" sz="2600">
                <a:solidFill>
                  <a:schemeClr val="dk1"/>
                </a:solidFill>
              </a:rPr>
              <a:t>–application, bureau, credit_card_balance, etc.</a:t>
            </a:r>
            <a:endParaRPr sz="2600">
              <a:solidFill>
                <a:schemeClr val="dk1"/>
              </a:solidFill>
            </a:endParaRPr>
          </a:p>
          <a:p>
            <a:pPr indent="0" lvl="0" marL="0" rtl="0" algn="l">
              <a:spcBef>
                <a:spcPts val="700"/>
              </a:spcBef>
              <a:spcAft>
                <a:spcPts val="0"/>
              </a:spcAft>
              <a:buClr>
                <a:schemeClr val="dk1"/>
              </a:buClr>
              <a:buSzPct val="36667"/>
              <a:buFont typeface="Arial"/>
              <a:buNone/>
            </a:pPr>
            <a:r>
              <a:rPr lang="zh-TW" sz="3000">
                <a:solidFill>
                  <a:schemeClr val="dk1"/>
                </a:solidFill>
              </a:rPr>
              <a:t>•</a:t>
            </a:r>
            <a:r>
              <a:rPr b="1" lang="zh-TW" sz="3000">
                <a:solidFill>
                  <a:schemeClr val="dk1"/>
                </a:solidFill>
              </a:rPr>
              <a:t>Preprocessing</a:t>
            </a:r>
            <a:endParaRPr b="1" sz="3000">
              <a:solidFill>
                <a:schemeClr val="dk1"/>
              </a:solidFill>
            </a:endParaRPr>
          </a:p>
          <a:p>
            <a:pPr indent="0" lvl="0" marL="12700" rtl="0" algn="l">
              <a:spcBef>
                <a:spcPts val="600"/>
              </a:spcBef>
              <a:spcAft>
                <a:spcPts val="0"/>
              </a:spcAft>
              <a:buClr>
                <a:schemeClr val="dk1"/>
              </a:buClr>
              <a:buSzPct val="42308"/>
              <a:buFont typeface="Arial"/>
              <a:buNone/>
            </a:pPr>
            <a:r>
              <a:rPr lang="zh-TW" sz="2600">
                <a:solidFill>
                  <a:schemeClr val="dk1"/>
                </a:solidFill>
              </a:rPr>
              <a:t>–Multi-table join via </a:t>
            </a:r>
            <a:r>
              <a:rPr b="1" lang="zh-TW" sz="2600">
                <a:solidFill>
                  <a:schemeClr val="dk1"/>
                </a:solidFill>
              </a:rPr>
              <a:t>SK_ID_CURR</a:t>
            </a:r>
            <a:endParaRPr b="1" sz="2600">
              <a:solidFill>
                <a:schemeClr val="dk1"/>
              </a:solidFill>
            </a:endParaRPr>
          </a:p>
          <a:p>
            <a:pPr indent="0" lvl="0" marL="12700" rtl="0" algn="l">
              <a:spcBef>
                <a:spcPts val="600"/>
              </a:spcBef>
              <a:spcAft>
                <a:spcPts val="0"/>
              </a:spcAft>
              <a:buClr>
                <a:schemeClr val="dk1"/>
              </a:buClr>
              <a:buSzPct val="42308"/>
              <a:buFont typeface="Arial"/>
              <a:buNone/>
            </a:pPr>
            <a:r>
              <a:rPr lang="zh-TW" sz="2600">
                <a:solidFill>
                  <a:schemeClr val="dk1"/>
                </a:solidFill>
              </a:rPr>
              <a:t>–Feature construction:</a:t>
            </a:r>
            <a:endParaRPr sz="2600">
              <a:solidFill>
                <a:schemeClr val="dk1"/>
              </a:solidFill>
            </a:endParaRPr>
          </a:p>
          <a:p>
            <a:pPr indent="0" lvl="0" marL="12700" rtl="0" algn="l">
              <a:spcBef>
                <a:spcPts val="500"/>
              </a:spcBef>
              <a:spcAft>
                <a:spcPts val="0"/>
              </a:spcAft>
              <a:buClr>
                <a:schemeClr val="dk1"/>
              </a:buClr>
              <a:buSzPct val="50000"/>
              <a:buFont typeface="Arial"/>
              <a:buNone/>
            </a:pPr>
            <a:r>
              <a:rPr lang="zh-TW" sz="2200">
                <a:solidFill>
                  <a:schemeClr val="dk1"/>
                </a:solidFill>
              </a:rPr>
              <a:t>•Late payment rate (last 6 months)</a:t>
            </a:r>
            <a:endParaRPr sz="2200">
              <a:solidFill>
                <a:schemeClr val="dk1"/>
              </a:solidFill>
            </a:endParaRPr>
          </a:p>
          <a:p>
            <a:pPr indent="0" lvl="0" marL="12700" rtl="0" algn="l">
              <a:spcBef>
                <a:spcPts val="500"/>
              </a:spcBef>
              <a:spcAft>
                <a:spcPts val="0"/>
              </a:spcAft>
              <a:buClr>
                <a:schemeClr val="dk1"/>
              </a:buClr>
              <a:buSzPct val="50000"/>
              <a:buFont typeface="Arial"/>
              <a:buNone/>
            </a:pPr>
            <a:r>
              <a:rPr lang="zh-TW" sz="2200">
                <a:solidFill>
                  <a:schemeClr val="dk1"/>
                </a:solidFill>
              </a:rPr>
              <a:t>•Credit usage trend (slope)</a:t>
            </a:r>
            <a:endParaRPr sz="2200">
              <a:solidFill>
                <a:schemeClr val="dk1"/>
              </a:solidFill>
            </a:endParaRPr>
          </a:p>
          <a:p>
            <a:pPr indent="0" lvl="0" marL="0" rtl="0" algn="l">
              <a:spcBef>
                <a:spcPts val="700"/>
              </a:spcBef>
              <a:spcAft>
                <a:spcPts val="0"/>
              </a:spcAft>
              <a:buClr>
                <a:schemeClr val="dk1"/>
              </a:buClr>
              <a:buSzPct val="36667"/>
              <a:buFont typeface="Arial"/>
              <a:buNone/>
            </a:pPr>
            <a:r>
              <a:rPr lang="zh-TW" sz="3000">
                <a:solidFill>
                  <a:schemeClr val="dk1"/>
                </a:solidFill>
              </a:rPr>
              <a:t>•</a:t>
            </a:r>
            <a:r>
              <a:rPr b="1" lang="zh-TW" sz="3000">
                <a:solidFill>
                  <a:schemeClr val="dk1"/>
                </a:solidFill>
              </a:rPr>
              <a:t>Data cleaning</a:t>
            </a:r>
            <a:endParaRPr b="1" sz="3000">
              <a:solidFill>
                <a:schemeClr val="dk1"/>
              </a:solidFill>
            </a:endParaRPr>
          </a:p>
          <a:p>
            <a:pPr indent="0" lvl="0" marL="12700" rtl="0" algn="l">
              <a:spcBef>
                <a:spcPts val="600"/>
              </a:spcBef>
              <a:spcAft>
                <a:spcPts val="0"/>
              </a:spcAft>
              <a:buClr>
                <a:schemeClr val="dk1"/>
              </a:buClr>
              <a:buSzPct val="42308"/>
              <a:buFont typeface="Arial"/>
              <a:buNone/>
            </a:pPr>
            <a:r>
              <a:rPr lang="zh-TW" sz="2600">
                <a:solidFill>
                  <a:schemeClr val="dk1"/>
                </a:solidFill>
              </a:rPr>
              <a:t>–Handle anomalies (e.g., DAYS_EMPLOYED = 365243)</a:t>
            </a:r>
            <a:endParaRPr sz="2600">
              <a:solidFill>
                <a:schemeClr val="dk1"/>
              </a:solidFill>
            </a:endParaRPr>
          </a:p>
          <a:p>
            <a:pPr indent="0" lvl="0" marL="12700" rtl="0" algn="l">
              <a:spcBef>
                <a:spcPts val="600"/>
              </a:spcBef>
              <a:spcAft>
                <a:spcPts val="0"/>
              </a:spcAft>
              <a:buClr>
                <a:schemeClr val="dk1"/>
              </a:buClr>
              <a:buSzPct val="42308"/>
              <a:buFont typeface="Arial"/>
              <a:buNone/>
            </a:pPr>
            <a:r>
              <a:rPr lang="zh-TW" sz="2600">
                <a:solidFill>
                  <a:schemeClr val="dk1"/>
                </a:solidFill>
              </a:rPr>
              <a:t>–Missing value imputation</a:t>
            </a:r>
            <a:endParaRPr sz="2600">
              <a:solidFill>
                <a:schemeClr val="dk1"/>
              </a:solidFill>
            </a:endParaRPr>
          </a:p>
          <a:p>
            <a:pPr indent="0" lvl="0" marL="0" rtl="0" algn="l">
              <a:spcBef>
                <a:spcPts val="0"/>
              </a:spcBef>
              <a:spcAft>
                <a:spcPts val="120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zh-TW" sz="4400"/>
              <a:t>Techniques &amp; methods</a:t>
            </a:r>
            <a:r>
              <a:rPr lang="zh-TW" sz="1100"/>
              <a:t> </a:t>
            </a:r>
            <a:endParaRPr/>
          </a:p>
        </p:txBody>
      </p:sp>
      <p:sp>
        <p:nvSpPr>
          <p:cNvPr id="67" name="Google Shape;67;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419100" lvl="0" marL="457200" rtl="0" algn="l">
              <a:spcBef>
                <a:spcPts val="800"/>
              </a:spcBef>
              <a:spcAft>
                <a:spcPts val="0"/>
              </a:spcAft>
              <a:buClr>
                <a:schemeClr val="dk1"/>
              </a:buClr>
              <a:buSzPts val="3000"/>
              <a:buChar char="●"/>
            </a:pPr>
            <a:r>
              <a:rPr lang="zh-TW" sz="3000">
                <a:solidFill>
                  <a:schemeClr val="dk1"/>
                </a:solidFill>
              </a:rPr>
              <a:t>LightGBM</a:t>
            </a:r>
            <a:endParaRPr sz="3000">
              <a:solidFill>
                <a:schemeClr val="dk1"/>
              </a:solidFill>
            </a:endParaRPr>
          </a:p>
          <a:p>
            <a:pPr indent="-419100" lvl="0" marL="457200" rtl="0" algn="l">
              <a:spcBef>
                <a:spcPts val="0"/>
              </a:spcBef>
              <a:spcAft>
                <a:spcPts val="0"/>
              </a:spcAft>
              <a:buClr>
                <a:schemeClr val="dk1"/>
              </a:buClr>
              <a:buSzPts val="3000"/>
              <a:buChar char="●"/>
            </a:pPr>
            <a:r>
              <a:rPr lang="zh-TW" sz="3000">
                <a:solidFill>
                  <a:schemeClr val="dk1"/>
                </a:solidFill>
              </a:rPr>
              <a:t>XGBoost</a:t>
            </a:r>
            <a:endParaRPr sz="3000">
              <a:solidFill>
                <a:schemeClr val="dk1"/>
              </a:solidFill>
            </a:endParaRPr>
          </a:p>
          <a:p>
            <a:pPr indent="-419100" lvl="0" marL="457200" rtl="0" algn="l">
              <a:spcBef>
                <a:spcPts val="0"/>
              </a:spcBef>
              <a:spcAft>
                <a:spcPts val="0"/>
              </a:spcAft>
              <a:buClr>
                <a:schemeClr val="dk1"/>
              </a:buClr>
              <a:buSzPts val="3000"/>
              <a:buChar char="●"/>
            </a:pPr>
            <a:r>
              <a:rPr lang="zh-TW" sz="3000">
                <a:solidFill>
                  <a:schemeClr val="dk1"/>
                </a:solidFill>
              </a:rPr>
              <a:t>CatBoost</a:t>
            </a:r>
            <a:endParaRPr sz="3000">
              <a:solidFill>
                <a:schemeClr val="dk1"/>
              </a:solidFill>
            </a:endParaRPr>
          </a:p>
          <a:p>
            <a:pPr indent="0" lvl="0" marL="0" rtl="0" algn="l">
              <a:spcBef>
                <a:spcPts val="0"/>
              </a:spcBef>
              <a:spcAft>
                <a:spcPts val="120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zh-TW" sz="4400"/>
              <a:t>Expect experimental results</a:t>
            </a:r>
            <a:r>
              <a:rPr lang="zh-TW" sz="1100"/>
              <a:t> </a:t>
            </a:r>
            <a:endParaRPr/>
          </a:p>
        </p:txBody>
      </p:sp>
      <p:sp>
        <p:nvSpPr>
          <p:cNvPr id="73" name="Google Shape;73;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800"/>
              </a:spcBef>
              <a:spcAft>
                <a:spcPts val="0"/>
              </a:spcAft>
              <a:buClr>
                <a:schemeClr val="dk1"/>
              </a:buClr>
              <a:buSzPts val="1100"/>
              <a:buFont typeface="Arial"/>
              <a:buNone/>
            </a:pPr>
            <a:r>
              <a:rPr lang="zh-TW" sz="3200">
                <a:solidFill>
                  <a:schemeClr val="dk1"/>
                </a:solidFill>
              </a:rPr>
              <a:t>•</a:t>
            </a:r>
            <a:r>
              <a:rPr b="1" lang="zh-TW" sz="3200">
                <a:solidFill>
                  <a:schemeClr val="dk1"/>
                </a:solidFill>
              </a:rPr>
              <a:t>Evaluation Metrics</a:t>
            </a:r>
            <a:endParaRPr b="1" sz="3200">
              <a:solidFill>
                <a:schemeClr val="dk1"/>
              </a:solidFill>
            </a:endParaRPr>
          </a:p>
          <a:p>
            <a:pPr indent="0" lvl="0" marL="0" rtl="0" algn="l">
              <a:spcBef>
                <a:spcPts val="800"/>
              </a:spcBef>
              <a:spcAft>
                <a:spcPts val="0"/>
              </a:spcAft>
              <a:buClr>
                <a:schemeClr val="dk1"/>
              </a:buClr>
              <a:buSzPts val="1100"/>
              <a:buFont typeface="Arial"/>
              <a:buNone/>
            </a:pPr>
            <a:r>
              <a:rPr lang="zh-TW" sz="3200">
                <a:solidFill>
                  <a:schemeClr val="dk1"/>
                </a:solidFill>
              </a:rPr>
              <a:t>•Confusion Matrix</a:t>
            </a:r>
            <a:endParaRPr sz="3200">
              <a:solidFill>
                <a:schemeClr val="dk1"/>
              </a:solidFill>
            </a:endParaRPr>
          </a:p>
          <a:p>
            <a:pPr indent="0" lvl="0" marL="0" rtl="0" algn="l">
              <a:spcBef>
                <a:spcPts val="800"/>
              </a:spcBef>
              <a:spcAft>
                <a:spcPts val="0"/>
              </a:spcAft>
              <a:buClr>
                <a:schemeClr val="dk1"/>
              </a:buClr>
              <a:buSzPts val="1100"/>
              <a:buFont typeface="Arial"/>
              <a:buNone/>
            </a:pPr>
            <a:r>
              <a:rPr lang="zh-TW" sz="3200">
                <a:solidFill>
                  <a:schemeClr val="dk1"/>
                </a:solidFill>
              </a:rPr>
              <a:t>•ROC Curve (AUC)</a:t>
            </a:r>
            <a:endParaRPr sz="3200">
              <a:solidFill>
                <a:schemeClr val="dk1"/>
              </a:solidFill>
            </a:endParaRPr>
          </a:p>
          <a:p>
            <a:pPr indent="0" lvl="0" marL="0" rtl="0" algn="l">
              <a:spcBef>
                <a:spcPts val="800"/>
              </a:spcBef>
              <a:spcAft>
                <a:spcPts val="0"/>
              </a:spcAft>
              <a:buClr>
                <a:schemeClr val="dk1"/>
              </a:buClr>
              <a:buSzPts val="1100"/>
              <a:buFont typeface="Arial"/>
              <a:buNone/>
            </a:pPr>
            <a:r>
              <a:rPr lang="zh-TW" sz="3200">
                <a:solidFill>
                  <a:schemeClr val="dk1"/>
                </a:solidFill>
              </a:rPr>
              <a:t>•Precision-Recall Curve (focus on Recall)</a:t>
            </a:r>
            <a:endParaRPr sz="3200">
              <a:solidFill>
                <a:schemeClr val="dk1"/>
              </a:solidFill>
            </a:endParaRPr>
          </a:p>
          <a:p>
            <a:pPr indent="0" lvl="0" marL="0" rtl="0" algn="l">
              <a:spcBef>
                <a:spcPts val="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7" name="Shape 77"/>
        <p:cNvGrpSpPr/>
        <p:nvPr/>
      </p:nvGrpSpPr>
      <p:grpSpPr>
        <a:xfrm>
          <a:off x="0" y="0"/>
          <a:ext cx="0" cy="0"/>
          <a:chOff x="0" y="0"/>
          <a:chExt cx="0" cy="0"/>
        </a:xfrm>
      </p:grpSpPr>
      <p:sp>
        <p:nvSpPr>
          <p:cNvPr id="78" name="Google Shape;78;p1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Clr>
                <a:schemeClr val="dk1"/>
              </a:buClr>
              <a:buSzPts val="1100"/>
              <a:buFont typeface="Arial"/>
              <a:buNone/>
            </a:pPr>
            <a:r>
              <a:rPr lang="zh-TW" sz="1800">
                <a:solidFill>
                  <a:schemeClr val="dk2"/>
                </a:solidFill>
              </a:rPr>
              <a:t>Final Project 25%</a:t>
            </a:r>
            <a:endParaRPr/>
          </a:p>
        </p:txBody>
      </p:sp>
      <p:sp>
        <p:nvSpPr>
          <p:cNvPr id="79" name="Google Shape;79;p1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zh-TW"/>
              <a:t>• Motivation (10%) • Original and Innovation • Practical Application</a:t>
            </a:r>
            <a:endParaRPr/>
          </a:p>
          <a:p>
            <a:pPr indent="0" lvl="0" marL="0" rtl="0" algn="l">
              <a:spcBef>
                <a:spcPts val="1200"/>
              </a:spcBef>
              <a:spcAft>
                <a:spcPts val="0"/>
              </a:spcAft>
              <a:buNone/>
            </a:pPr>
            <a:r>
              <a:rPr lang="zh-TW"/>
              <a:t>• </a:t>
            </a:r>
            <a:r>
              <a:rPr lang="zh-TW"/>
              <a:t>Method (20%) • Suitability of the Method for the Data • Completeness of the Approach</a:t>
            </a:r>
            <a:endParaRPr/>
          </a:p>
          <a:p>
            <a:pPr indent="0" lvl="0" marL="0" rtl="0" algn="l">
              <a:spcBef>
                <a:spcPts val="1200"/>
              </a:spcBef>
              <a:spcAft>
                <a:spcPts val="0"/>
              </a:spcAft>
              <a:buNone/>
            </a:pPr>
            <a:r>
              <a:rPr lang="zh-TW"/>
              <a:t>• </a:t>
            </a:r>
            <a:r>
              <a:rPr lang="zh-TW"/>
              <a:t>Experiments (20%) • Completeness of Experimental Data • Visualization of Experimental Results </a:t>
            </a:r>
            <a:endParaRPr/>
          </a:p>
          <a:p>
            <a:pPr indent="0" lvl="0" marL="0" rtl="0" algn="l">
              <a:spcBef>
                <a:spcPts val="1200"/>
              </a:spcBef>
              <a:spcAft>
                <a:spcPts val="0"/>
              </a:spcAft>
              <a:buNone/>
            </a:pPr>
            <a:r>
              <a:rPr lang="zh-TW"/>
              <a:t>• </a:t>
            </a:r>
            <a:r>
              <a:rPr lang="zh-TW"/>
              <a:t>Conclusion and Analysis (20%) • Reasonable discussion • How to overcome difficulties</a:t>
            </a:r>
            <a:endParaRPr/>
          </a:p>
          <a:p>
            <a:pPr indent="0" lvl="0" marL="0" rtl="0" algn="l">
              <a:spcBef>
                <a:spcPts val="1200"/>
              </a:spcBef>
              <a:spcAft>
                <a:spcPts val="0"/>
              </a:spcAft>
              <a:buNone/>
            </a:pPr>
            <a:r>
              <a:rPr lang="zh-TW"/>
              <a:t>• </a:t>
            </a:r>
            <a:r>
              <a:rPr lang="zh-TW"/>
              <a:t>Presentation (20%) • Completeness of Report Content • Clarity of Presentation </a:t>
            </a:r>
            <a:endParaRPr/>
          </a:p>
          <a:p>
            <a:pPr indent="0" lvl="0" marL="0" rtl="0" algn="l">
              <a:spcBef>
                <a:spcPts val="1200"/>
              </a:spcBef>
              <a:spcAft>
                <a:spcPts val="0"/>
              </a:spcAft>
              <a:buNone/>
            </a:pPr>
            <a:r>
              <a:rPr lang="zh-TW"/>
              <a:t>• </a:t>
            </a:r>
            <a:r>
              <a:rPr lang="zh-TW"/>
              <a:t>Others (10%) • Alignment with the Proposal • Answer question clearly</a:t>
            </a:r>
            <a:endParaRPr/>
          </a:p>
          <a:p>
            <a:pPr indent="0" lvl="0" marL="0" rtl="0" algn="l">
              <a:spcBef>
                <a:spcPts val="1200"/>
              </a:spcBef>
              <a:spcAft>
                <a:spcPts val="0"/>
              </a:spcAft>
              <a:buNone/>
            </a:pPr>
            <a:r>
              <a:rPr lang="zh-TW"/>
              <a:t>• </a:t>
            </a:r>
            <a:r>
              <a:rPr lang="zh-TW"/>
              <a:t>Dataset (20%) • Dataset Complexity • Data Preprocessing </a:t>
            </a:r>
            <a:endParaRPr/>
          </a:p>
          <a:p>
            <a:pPr indent="0" lvl="0" marL="0" rtl="0" algn="l">
              <a:spcBef>
                <a:spcPts val="1200"/>
              </a:spcBef>
              <a:spcAft>
                <a:spcPts val="1200"/>
              </a:spcAft>
              <a:buNone/>
            </a:pPr>
            <a:r>
              <a:rPr lang="zh-TW"/>
              <a:t>Total 120%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Clr>
                <a:schemeClr val="dk1"/>
              </a:buClr>
              <a:buSzPts val="1100"/>
              <a:buFont typeface="Arial"/>
              <a:buNone/>
            </a:pPr>
            <a:r>
              <a:rPr lang="zh-TW" sz="3600"/>
              <a:t>Motivation</a:t>
            </a:r>
            <a:endParaRPr sz="3600"/>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700"/>
              </a:spcBef>
              <a:spcAft>
                <a:spcPts val="0"/>
              </a:spcAft>
              <a:buNone/>
            </a:pPr>
            <a:r>
              <a:rPr lang="zh-TW" sz="2400">
                <a:solidFill>
                  <a:schemeClr val="dk1"/>
                </a:solidFill>
              </a:rPr>
              <a:t>Credit default risk prediction is an important problem in financial decision-making. </a:t>
            </a:r>
            <a:endParaRPr sz="2400">
              <a:solidFill>
                <a:schemeClr val="dk1"/>
              </a:solidFill>
            </a:endParaRPr>
          </a:p>
          <a:p>
            <a:pPr indent="0" lvl="0" marL="0" rtl="0" algn="l">
              <a:spcBef>
                <a:spcPts val="700"/>
              </a:spcBef>
              <a:spcAft>
                <a:spcPts val="0"/>
              </a:spcAft>
              <a:buNone/>
            </a:pPr>
            <a:r>
              <a:t/>
            </a:r>
            <a:endParaRPr sz="2400">
              <a:solidFill>
                <a:schemeClr val="dk1"/>
              </a:solidFill>
            </a:endParaRPr>
          </a:p>
          <a:p>
            <a:pPr indent="0" lvl="0" marL="0" rtl="0" algn="l">
              <a:spcBef>
                <a:spcPts val="700"/>
              </a:spcBef>
              <a:spcAft>
                <a:spcPts val="0"/>
              </a:spcAft>
              <a:buNone/>
            </a:pPr>
            <a:r>
              <a:rPr lang="zh-TW" sz="2400">
                <a:solidFill>
                  <a:schemeClr val="dk1"/>
                </a:solidFill>
              </a:rPr>
              <a:t>Home Credit Default Risk: This dataset is complex(7 tables), realistic, and suitable for a complete ML pipeline. </a:t>
            </a:r>
            <a:endParaRPr sz="2400">
              <a:solidFill>
                <a:schemeClr val="dk1"/>
              </a:solidFill>
            </a:endParaRPr>
          </a:p>
          <a:p>
            <a:pPr indent="0" lvl="0" marL="0" rtl="0" algn="l">
              <a:spcBef>
                <a:spcPts val="700"/>
              </a:spcBef>
              <a:spcAft>
                <a:spcPts val="0"/>
              </a:spcAft>
              <a:buClr>
                <a:schemeClr val="dk1"/>
              </a:buClr>
              <a:buSzPts val="1100"/>
              <a:buFont typeface="Arial"/>
              <a:buNone/>
            </a:pPr>
            <a:r>
              <a:t/>
            </a:r>
            <a:endParaRPr sz="2400">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9"/>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zh-TW" sz="3600"/>
              <a:t>Method</a:t>
            </a:r>
            <a:endParaRPr sz="3600"/>
          </a:p>
        </p:txBody>
      </p:sp>
      <p:sp>
        <p:nvSpPr>
          <p:cNvPr id="91" name="Google Shape;91;p19"/>
          <p:cNvSpPr txBox="1"/>
          <p:nvPr>
            <p:ph idx="1" type="body"/>
          </p:nvPr>
        </p:nvSpPr>
        <p:spPr>
          <a:xfrm>
            <a:off x="311700" y="1152475"/>
            <a:ext cx="8520600" cy="3863400"/>
          </a:xfrm>
          <a:prstGeom prst="rect">
            <a:avLst/>
          </a:prstGeom>
        </p:spPr>
        <p:txBody>
          <a:bodyPr anchorCtr="0" anchor="t" bIns="91425" lIns="91425" spcFirstLastPara="1" rIns="91425" wrap="square" tIns="91425">
            <a:normAutofit fontScale="77500" lnSpcReduction="20000"/>
          </a:bodyPr>
          <a:lstStyle/>
          <a:p>
            <a:pPr indent="0" lvl="0" marL="0" rtl="0" algn="l">
              <a:spcBef>
                <a:spcPts val="800"/>
              </a:spcBef>
              <a:spcAft>
                <a:spcPts val="0"/>
              </a:spcAft>
              <a:buNone/>
            </a:pPr>
            <a:r>
              <a:rPr lang="zh-TW" sz="2400">
                <a:solidFill>
                  <a:schemeClr val="dk1"/>
                </a:solidFill>
              </a:rPr>
              <a:t>model :</a:t>
            </a:r>
            <a:endParaRPr sz="2400">
              <a:solidFill>
                <a:schemeClr val="dk1"/>
              </a:solidFill>
            </a:endParaRPr>
          </a:p>
          <a:p>
            <a:pPr indent="0" lvl="0" marL="0" rtl="0" algn="l">
              <a:spcBef>
                <a:spcPts val="800"/>
              </a:spcBef>
              <a:spcAft>
                <a:spcPts val="0"/>
              </a:spcAft>
              <a:buNone/>
            </a:pPr>
            <a:r>
              <a:rPr lang="zh-TW" sz="2400">
                <a:solidFill>
                  <a:schemeClr val="dk1"/>
                </a:solidFill>
              </a:rPr>
              <a:t>LightGBM</a:t>
            </a:r>
            <a:endParaRPr sz="2400">
              <a:solidFill>
                <a:schemeClr val="dk1"/>
              </a:solidFill>
            </a:endParaRPr>
          </a:p>
          <a:p>
            <a:pPr indent="0" lvl="0" marL="0" rtl="0" algn="l">
              <a:spcBef>
                <a:spcPts val="800"/>
              </a:spcBef>
              <a:spcAft>
                <a:spcPts val="0"/>
              </a:spcAft>
              <a:buNone/>
            </a:pPr>
            <a:r>
              <a:rPr lang="zh-TW" sz="2400">
                <a:solidFill>
                  <a:schemeClr val="dk1"/>
                </a:solidFill>
              </a:rPr>
              <a:t>XGBoost</a:t>
            </a:r>
            <a:endParaRPr sz="2400">
              <a:solidFill>
                <a:schemeClr val="dk1"/>
              </a:solidFill>
            </a:endParaRPr>
          </a:p>
          <a:p>
            <a:pPr indent="0" lvl="0" marL="0" rtl="0" algn="l">
              <a:spcBef>
                <a:spcPts val="800"/>
              </a:spcBef>
              <a:spcAft>
                <a:spcPts val="0"/>
              </a:spcAft>
              <a:buNone/>
            </a:pPr>
            <a:r>
              <a:rPr lang="zh-TW" sz="2400">
                <a:solidFill>
                  <a:schemeClr val="dk1"/>
                </a:solidFill>
              </a:rPr>
              <a:t>CatBoost</a:t>
            </a:r>
            <a:endParaRPr sz="2400">
              <a:solidFill>
                <a:schemeClr val="dk1"/>
              </a:solidFill>
            </a:endParaRPr>
          </a:p>
          <a:p>
            <a:pPr indent="0" lvl="0" marL="0" rtl="0" algn="l">
              <a:spcBef>
                <a:spcPts val="800"/>
              </a:spcBef>
              <a:spcAft>
                <a:spcPts val="0"/>
              </a:spcAft>
              <a:buNone/>
            </a:pPr>
            <a:r>
              <a:t/>
            </a:r>
            <a:endParaRPr sz="2400">
              <a:solidFill>
                <a:schemeClr val="dk1"/>
              </a:solidFill>
            </a:endParaRPr>
          </a:p>
          <a:p>
            <a:pPr indent="0" lvl="0" marL="0" rtl="0" algn="l">
              <a:spcBef>
                <a:spcPts val="0"/>
              </a:spcBef>
              <a:spcAft>
                <a:spcPts val="0"/>
              </a:spcAft>
              <a:buNone/>
            </a:pPr>
            <a:r>
              <a:rPr lang="zh-TW" sz="2400">
                <a:solidFill>
                  <a:schemeClr val="dk1"/>
                </a:solidFill>
              </a:rPr>
              <a:t>baseline: only main table (application_train)</a:t>
            </a:r>
            <a:endParaRPr sz="2400">
              <a:solidFill>
                <a:schemeClr val="dk1"/>
              </a:solidFill>
            </a:endParaRPr>
          </a:p>
          <a:p>
            <a:pPr indent="0" lvl="0" marL="0" rtl="0" algn="l">
              <a:spcBef>
                <a:spcPts val="1200"/>
              </a:spcBef>
              <a:spcAft>
                <a:spcPts val="0"/>
              </a:spcAft>
              <a:buNone/>
            </a:pPr>
            <a:r>
              <a:rPr lang="zh-TW" sz="2400">
                <a:solidFill>
                  <a:schemeClr val="dk1"/>
                </a:solidFill>
              </a:rPr>
              <a:t>keep asking Gemini how to reach AUC score 0.8 (first place on kaggle leaderboard)</a:t>
            </a:r>
            <a:endParaRPr sz="2400">
              <a:solidFill>
                <a:schemeClr val="dk1"/>
              </a:solidFill>
            </a:endParaRPr>
          </a:p>
          <a:p>
            <a:pPr indent="0" lvl="0" marL="0" rtl="0" algn="l">
              <a:spcBef>
                <a:spcPts val="1200"/>
              </a:spcBef>
              <a:spcAft>
                <a:spcPts val="0"/>
              </a:spcAft>
              <a:buNone/>
            </a:pPr>
            <a:r>
              <a:rPr lang="zh-TW" sz="2400">
                <a:solidFill>
                  <a:schemeClr val="dk1"/>
                </a:solidFill>
              </a:rPr>
              <a:t>adding more feature step by step</a:t>
            </a:r>
            <a:endParaRPr sz="2400">
              <a:solidFill>
                <a:schemeClr val="dk1"/>
              </a:solidFill>
            </a:endParaRPr>
          </a:p>
          <a:p>
            <a:pPr indent="0" lvl="0" marL="0" rtl="0" algn="l">
              <a:spcBef>
                <a:spcPts val="1200"/>
              </a:spcBef>
              <a:spcAft>
                <a:spcPts val="1200"/>
              </a:spcAft>
              <a:buNone/>
            </a:pPr>
            <a:r>
              <a:rPr lang="zh-TW" sz="2400">
                <a:solidFill>
                  <a:schemeClr val="dk1"/>
                </a:solidFill>
              </a:rPr>
              <a:t>check the AUC-ROC score</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pic>
        <p:nvPicPr>
          <p:cNvPr id="96" name="Google Shape;96;p20" title="ChatGPT Image 2026年6月2日 上午01_13_24.png"/>
          <p:cNvPicPr preferRelativeResize="0"/>
          <p:nvPr/>
        </p:nvPicPr>
        <p:blipFill rotWithShape="1">
          <a:blip r:embed="rId3">
            <a:alphaModFix/>
          </a:blip>
          <a:srcRect b="48810" l="17989" r="17855" t="0"/>
          <a:stretch/>
        </p:blipFill>
        <p:spPr>
          <a:xfrm>
            <a:off x="839525" y="407012"/>
            <a:ext cx="3617349" cy="4329473"/>
          </a:xfrm>
          <a:prstGeom prst="rect">
            <a:avLst/>
          </a:prstGeom>
          <a:noFill/>
          <a:ln>
            <a:noFill/>
          </a:ln>
        </p:spPr>
      </p:pic>
      <p:pic>
        <p:nvPicPr>
          <p:cNvPr id="97" name="Google Shape;97;p20" title="ChatGPT Image 2026年6月2日 上午01_13_24.png"/>
          <p:cNvPicPr preferRelativeResize="0"/>
          <p:nvPr/>
        </p:nvPicPr>
        <p:blipFill rotWithShape="1">
          <a:blip r:embed="rId3">
            <a:alphaModFix/>
          </a:blip>
          <a:srcRect b="0" l="18033" r="18155" t="51522"/>
          <a:stretch/>
        </p:blipFill>
        <p:spPr>
          <a:xfrm>
            <a:off x="4530125" y="707249"/>
            <a:ext cx="3799562" cy="4329473"/>
          </a:xfrm>
          <a:prstGeom prst="rect">
            <a:avLst/>
          </a:prstGeom>
          <a:noFill/>
          <a:ln>
            <a:noFill/>
          </a:ln>
        </p:spPr>
      </p:pic>
      <p:sp>
        <p:nvSpPr>
          <p:cNvPr id="98" name="Google Shape;98;p20"/>
          <p:cNvSpPr txBox="1"/>
          <p:nvPr>
            <p:ph type="title"/>
          </p:nvPr>
        </p:nvSpPr>
        <p:spPr>
          <a:xfrm>
            <a:off x="0" y="0"/>
            <a:ext cx="1770900" cy="5727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zh-TW" sz="3600"/>
              <a:t>Method</a:t>
            </a:r>
            <a:endParaRPr sz="36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2" name="Shape 102"/>
        <p:cNvGrpSpPr/>
        <p:nvPr/>
      </p:nvGrpSpPr>
      <p:grpSpPr>
        <a:xfrm>
          <a:off x="0" y="0"/>
          <a:ext cx="0" cy="0"/>
          <a:chOff x="0" y="0"/>
          <a:chExt cx="0" cy="0"/>
        </a:xfrm>
      </p:grpSpPr>
      <p:sp>
        <p:nvSpPr>
          <p:cNvPr id="103" name="Google Shape;103;p21"/>
          <p:cNvSpPr txBox="1"/>
          <p:nvPr>
            <p:ph type="title"/>
          </p:nvPr>
        </p:nvSpPr>
        <p:spPr>
          <a:xfrm>
            <a:off x="0" y="0"/>
            <a:ext cx="8520600" cy="5727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zh-TW" sz="3600"/>
              <a:t>Method</a:t>
            </a:r>
            <a:endParaRPr sz="3600"/>
          </a:p>
        </p:txBody>
      </p:sp>
      <p:sp>
        <p:nvSpPr>
          <p:cNvPr id="104" name="Google Shape;104;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zh-TW" sz="1900">
                <a:solidFill>
                  <a:schemeClr val="dk1"/>
                </a:solidFill>
              </a:rPr>
              <a:t>Combine features in all of the tables</a:t>
            </a:r>
            <a:endParaRPr sz="1900">
              <a:solidFill>
                <a:schemeClr val="dk1"/>
              </a:solidFill>
            </a:endParaRPr>
          </a:p>
          <a:p>
            <a:pPr indent="0" lvl="0" marL="0" rtl="0" algn="l">
              <a:spcBef>
                <a:spcPts val="1200"/>
              </a:spcBef>
              <a:spcAft>
                <a:spcPts val="0"/>
              </a:spcAft>
              <a:buNone/>
            </a:pPr>
            <a:r>
              <a:rPr lang="zh-TW" sz="1900">
                <a:solidFill>
                  <a:schemeClr val="dk1"/>
                </a:solidFill>
              </a:rPr>
              <a:t>Adding magic features</a:t>
            </a:r>
            <a:endParaRPr sz="1900">
              <a:solidFill>
                <a:schemeClr val="dk1"/>
              </a:solidFill>
            </a:endParaRPr>
          </a:p>
          <a:p>
            <a:pPr indent="0" lvl="0" marL="0" rtl="0" algn="l">
              <a:spcBef>
                <a:spcPts val="1200"/>
              </a:spcBef>
              <a:spcAft>
                <a:spcPts val="0"/>
              </a:spcAft>
              <a:buNone/>
            </a:pPr>
            <a:r>
              <a:rPr lang="zh-TW" sz="1900">
                <a:solidFill>
                  <a:schemeClr val="dk1"/>
                </a:solidFill>
              </a:rPr>
              <a:t>Stratified K-Fold</a:t>
            </a:r>
            <a:endParaRPr sz="1900">
              <a:solidFill>
                <a:schemeClr val="dk1"/>
              </a:solidFill>
            </a:endParaRPr>
          </a:p>
          <a:p>
            <a:pPr indent="0" lvl="0" marL="0" rtl="0" algn="l">
              <a:spcBef>
                <a:spcPts val="1200"/>
              </a:spcBef>
              <a:spcAft>
                <a:spcPts val="0"/>
              </a:spcAft>
              <a:buNone/>
            </a:pPr>
            <a:r>
              <a:rPr lang="zh-TW" sz="1900">
                <a:solidFill>
                  <a:schemeClr val="dk1"/>
                </a:solidFill>
              </a:rPr>
              <a:t>Dimension Reduction (Top 99% cumulated importance)</a:t>
            </a:r>
            <a:endParaRPr sz="1900">
              <a:solidFill>
                <a:schemeClr val="dk1"/>
              </a:solidFill>
            </a:endParaRPr>
          </a:p>
          <a:p>
            <a:pPr indent="0" lvl="0" marL="0" rtl="0" algn="l">
              <a:spcBef>
                <a:spcPts val="1200"/>
              </a:spcBef>
              <a:spcAft>
                <a:spcPts val="0"/>
              </a:spcAft>
              <a:buNone/>
            </a:pPr>
            <a:r>
              <a:rPr lang="zh-TW" sz="1900">
                <a:solidFill>
                  <a:schemeClr val="dk1"/>
                </a:solidFill>
              </a:rPr>
              <a:t>Second round: 3 models (LightGBM, xgboost, catboost)</a:t>
            </a:r>
            <a:endParaRPr sz="1900">
              <a:solidFill>
                <a:schemeClr val="dk1"/>
              </a:solidFill>
            </a:endParaRPr>
          </a:p>
          <a:p>
            <a:pPr indent="0" lvl="0" marL="0" rtl="0" algn="l">
              <a:spcBef>
                <a:spcPts val="1200"/>
              </a:spcBef>
              <a:spcAft>
                <a:spcPts val="0"/>
              </a:spcAft>
              <a:buNone/>
            </a:pPr>
            <a:r>
              <a:rPr lang="zh-TW" sz="1900">
                <a:solidFill>
                  <a:schemeClr val="dk1"/>
                </a:solidFill>
              </a:rPr>
              <a:t>Blending models (Optuna)</a:t>
            </a:r>
            <a:endParaRPr sz="1900">
              <a:solidFill>
                <a:schemeClr val="dk1"/>
              </a:solidFill>
            </a:endParaRPr>
          </a:p>
          <a:p>
            <a:pPr indent="0" lvl="0" marL="0" rtl="0" algn="l">
              <a:spcBef>
                <a:spcPts val="1200"/>
              </a:spcBef>
              <a:spcAft>
                <a:spcPts val="1200"/>
              </a:spcAft>
              <a:buNone/>
            </a:pPr>
            <a:r>
              <a:rPr lang="zh-TW" sz="1900">
                <a:solidFill>
                  <a:schemeClr val="dk1"/>
                </a:solidFill>
              </a:rPr>
              <a:t>Evaluation: ROC curve (AUC),same as Home Credit Default Risk competition. In addition, performing PR curve since the labels in original dataset are extremely imbalanced.</a:t>
            </a:r>
            <a:endParaRPr/>
          </a:p>
        </p:txBody>
      </p:sp>
      <p:pic>
        <p:nvPicPr>
          <p:cNvPr id="105" name="Google Shape;105;p21" title="Gemini_Generated_Image_5ui5fe5ui5fe5ui5.png"/>
          <p:cNvPicPr preferRelativeResize="0"/>
          <p:nvPr/>
        </p:nvPicPr>
        <p:blipFill>
          <a:blip r:embed="rId3">
            <a:alphaModFix/>
          </a:blip>
          <a:stretch>
            <a:fillRect/>
          </a:stretch>
        </p:blipFill>
        <p:spPr>
          <a:xfrm>
            <a:off x="365325" y="536875"/>
            <a:ext cx="8520600" cy="4647598"/>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0" y="0"/>
            <a:ext cx="8520600" cy="5727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zh-TW" sz="3600"/>
              <a:t>Method</a:t>
            </a:r>
            <a:endParaRPr sz="3600"/>
          </a:p>
        </p:txBody>
      </p:sp>
      <p:sp>
        <p:nvSpPr>
          <p:cNvPr id="111" name="Google Shape;111;p2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zh-TW" sz="1900">
                <a:solidFill>
                  <a:schemeClr val="dk1"/>
                </a:solidFill>
              </a:rPr>
              <a:t>Combine features in all of the tables</a:t>
            </a:r>
            <a:endParaRPr sz="1900">
              <a:solidFill>
                <a:schemeClr val="dk1"/>
              </a:solidFill>
            </a:endParaRPr>
          </a:p>
          <a:p>
            <a:pPr indent="0" lvl="0" marL="0" rtl="0" algn="l">
              <a:spcBef>
                <a:spcPts val="1200"/>
              </a:spcBef>
              <a:spcAft>
                <a:spcPts val="0"/>
              </a:spcAft>
              <a:buNone/>
            </a:pPr>
            <a:r>
              <a:rPr lang="zh-TW" sz="1900">
                <a:solidFill>
                  <a:schemeClr val="dk1"/>
                </a:solidFill>
              </a:rPr>
              <a:t>Adding magic features</a:t>
            </a:r>
            <a:endParaRPr sz="1900">
              <a:solidFill>
                <a:schemeClr val="dk1"/>
              </a:solidFill>
            </a:endParaRPr>
          </a:p>
          <a:p>
            <a:pPr indent="0" lvl="0" marL="0" rtl="0" algn="l">
              <a:spcBef>
                <a:spcPts val="1200"/>
              </a:spcBef>
              <a:spcAft>
                <a:spcPts val="0"/>
              </a:spcAft>
              <a:buNone/>
            </a:pPr>
            <a:r>
              <a:rPr lang="zh-TW" sz="1900">
                <a:solidFill>
                  <a:schemeClr val="dk1"/>
                </a:solidFill>
              </a:rPr>
              <a:t>Stratified K-Fold</a:t>
            </a:r>
            <a:endParaRPr sz="1900">
              <a:solidFill>
                <a:schemeClr val="dk1"/>
              </a:solidFill>
            </a:endParaRPr>
          </a:p>
          <a:p>
            <a:pPr indent="0" lvl="0" marL="0" rtl="0" algn="l">
              <a:spcBef>
                <a:spcPts val="1200"/>
              </a:spcBef>
              <a:spcAft>
                <a:spcPts val="0"/>
              </a:spcAft>
              <a:buNone/>
            </a:pPr>
            <a:r>
              <a:rPr lang="zh-TW" sz="1900">
                <a:solidFill>
                  <a:schemeClr val="dk1"/>
                </a:solidFill>
              </a:rPr>
              <a:t>Dimension Reduction (Top 99% cumulated importance)</a:t>
            </a:r>
            <a:endParaRPr sz="1900">
              <a:solidFill>
                <a:schemeClr val="dk1"/>
              </a:solidFill>
            </a:endParaRPr>
          </a:p>
          <a:p>
            <a:pPr indent="0" lvl="0" marL="0" rtl="0" algn="l">
              <a:spcBef>
                <a:spcPts val="1200"/>
              </a:spcBef>
              <a:spcAft>
                <a:spcPts val="0"/>
              </a:spcAft>
              <a:buNone/>
            </a:pPr>
            <a:r>
              <a:rPr lang="zh-TW" sz="1900">
                <a:solidFill>
                  <a:schemeClr val="dk1"/>
                </a:solidFill>
              </a:rPr>
              <a:t>Second round: 3 models (LightGBM, xgboost, catboost)</a:t>
            </a:r>
            <a:endParaRPr sz="1900">
              <a:solidFill>
                <a:schemeClr val="dk1"/>
              </a:solidFill>
            </a:endParaRPr>
          </a:p>
          <a:p>
            <a:pPr indent="0" lvl="0" marL="0" rtl="0" algn="l">
              <a:spcBef>
                <a:spcPts val="1200"/>
              </a:spcBef>
              <a:spcAft>
                <a:spcPts val="0"/>
              </a:spcAft>
              <a:buNone/>
            </a:pPr>
            <a:r>
              <a:rPr lang="zh-TW" sz="1900">
                <a:solidFill>
                  <a:schemeClr val="dk1"/>
                </a:solidFill>
              </a:rPr>
              <a:t>Blending models (Optuna)</a:t>
            </a:r>
            <a:endParaRPr sz="1900">
              <a:solidFill>
                <a:schemeClr val="dk1"/>
              </a:solidFill>
            </a:endParaRPr>
          </a:p>
          <a:p>
            <a:pPr indent="0" lvl="0" marL="0" rtl="0" algn="l">
              <a:spcBef>
                <a:spcPts val="1200"/>
              </a:spcBef>
              <a:spcAft>
                <a:spcPts val="1200"/>
              </a:spcAft>
              <a:buNone/>
            </a:pPr>
            <a:r>
              <a:rPr lang="zh-TW" sz="1900">
                <a:solidFill>
                  <a:schemeClr val="dk1"/>
                </a:solidFill>
              </a:rPr>
              <a:t>Evaluation: ROC curve (AUC),same as Home Credit Default Risk competition. In addition, performing PR curve since the labels in original dataset are extremely imbalanced.</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graphicFrame>
        <p:nvGraphicFramePr>
          <p:cNvPr id="116" name="Google Shape;116;p23"/>
          <p:cNvGraphicFramePr/>
          <p:nvPr/>
        </p:nvGraphicFramePr>
        <p:xfrm>
          <a:off x="188375" y="117950"/>
          <a:ext cx="3000000" cy="3000000"/>
        </p:xfrm>
        <a:graphic>
          <a:graphicData uri="http://schemas.openxmlformats.org/drawingml/2006/table">
            <a:tbl>
              <a:tblPr>
                <a:noFill/>
                <a:tableStyleId>{741291EA-2813-4315-AF45-5C8EC8A76987}</a:tableStyleId>
              </a:tblPr>
              <a:tblGrid>
                <a:gridCol w="1973525"/>
                <a:gridCol w="6793725"/>
              </a:tblGrid>
              <a:tr h="150675">
                <a:tc>
                  <a:txBody>
                    <a:bodyPr/>
                    <a:lstStyle/>
                    <a:p>
                      <a:pPr indent="0" lvl="0" marL="0" rtl="0" algn="l">
                        <a:lnSpc>
                          <a:spcPct val="115000"/>
                        </a:lnSpc>
                        <a:spcBef>
                          <a:spcPts val="0"/>
                        </a:spcBef>
                        <a:spcAft>
                          <a:spcPts val="1200"/>
                        </a:spcAft>
                        <a:buNone/>
                      </a:pPr>
                      <a:r>
                        <a:rPr lang="zh-TW" sz="1300">
                          <a:solidFill>
                            <a:schemeClr val="dk2"/>
                          </a:solidFill>
                        </a:rPr>
                        <a:t>Chart name</a:t>
                      </a:r>
                      <a:endParaRPr sz="1300">
                        <a:solidFill>
                          <a:schemeClr val="dk2"/>
                        </a:solidFill>
                      </a:endParaRPr>
                    </a:p>
                  </a:txBody>
                  <a:tcPr marT="91425" marB="91425" marR="91425" marL="91425">
                    <a:solidFill>
                      <a:schemeClr val="lt2"/>
                    </a:solidFill>
                  </a:tcPr>
                </a:tc>
                <a:tc>
                  <a:txBody>
                    <a:bodyPr/>
                    <a:lstStyle/>
                    <a:p>
                      <a:pPr indent="0" lvl="0" marL="0" rtl="0" algn="l">
                        <a:lnSpc>
                          <a:spcPct val="115000"/>
                        </a:lnSpc>
                        <a:spcBef>
                          <a:spcPts val="0"/>
                        </a:spcBef>
                        <a:spcAft>
                          <a:spcPts val="1200"/>
                        </a:spcAft>
                        <a:buNone/>
                      </a:pPr>
                      <a:r>
                        <a:rPr lang="zh-TW" sz="1300">
                          <a:solidFill>
                            <a:schemeClr val="dk2"/>
                          </a:solidFill>
                        </a:rPr>
                        <a:t>Description</a:t>
                      </a:r>
                      <a:endParaRPr sz="1300">
                        <a:solidFill>
                          <a:schemeClr val="dk2"/>
                        </a:solidFill>
                      </a:endParaRPr>
                    </a:p>
                  </a:txBody>
                  <a:tcPr marT="91425" marB="91425" marR="91425" marL="91425">
                    <a:solidFill>
                      <a:schemeClr val="lt2"/>
                    </a:solidFill>
                  </a:tcPr>
                </a:tc>
              </a:tr>
              <a:tr h="694600">
                <a:tc>
                  <a:txBody>
                    <a:bodyPr/>
                    <a:lstStyle/>
                    <a:p>
                      <a:pPr indent="0" lvl="0" marL="0" rtl="0" algn="l">
                        <a:lnSpc>
                          <a:spcPct val="115000"/>
                        </a:lnSpc>
                        <a:spcBef>
                          <a:spcPts val="0"/>
                        </a:spcBef>
                        <a:spcAft>
                          <a:spcPts val="0"/>
                        </a:spcAft>
                        <a:buClr>
                          <a:schemeClr val="dk1"/>
                        </a:buClr>
                        <a:buSzPts val="1100"/>
                        <a:buFont typeface="Arial"/>
                        <a:buNone/>
                      </a:pPr>
                      <a:r>
                        <a:rPr lang="zh-TW" sz="1300">
                          <a:solidFill>
                            <a:schemeClr val="dk2"/>
                          </a:solidFill>
                        </a:rPr>
                        <a:t>application_{train|test}</a:t>
                      </a:r>
                      <a:endParaRPr sz="1300">
                        <a:solidFill>
                          <a:schemeClr val="dk2"/>
                        </a:solidFill>
                      </a:endParaRPr>
                    </a:p>
                    <a:p>
                      <a:pPr indent="0" lvl="0" marL="0" rtl="0" algn="l">
                        <a:lnSpc>
                          <a:spcPct val="115000"/>
                        </a:lnSpc>
                        <a:spcBef>
                          <a:spcPts val="1200"/>
                        </a:spcBef>
                        <a:spcAft>
                          <a:spcPts val="1200"/>
                        </a:spcAft>
                        <a:buClr>
                          <a:schemeClr val="dk1"/>
                        </a:buClr>
                        <a:buSzPts val="1100"/>
                        <a:buFont typeface="Arial"/>
                        <a:buNone/>
                      </a:pPr>
                      <a:r>
                        <a:rPr lang="zh-TW" sz="1300">
                          <a:solidFill>
                            <a:schemeClr val="dk2"/>
                          </a:solidFill>
                        </a:rPr>
                        <a:t>(main chart)</a:t>
                      </a:r>
                      <a:endParaRPr sz="1300">
                        <a:solidFill>
                          <a:schemeClr val="dk2"/>
                        </a:solidFill>
                      </a:endParaRPr>
                    </a:p>
                  </a:txBody>
                  <a:tcPr marT="91425" marB="91425" marR="91425" marL="91425"/>
                </a:tc>
                <a:tc>
                  <a:txBody>
                    <a:bodyPr/>
                    <a:lstStyle/>
                    <a:p>
                      <a:pPr indent="0" lvl="0" marL="0" rtl="0" algn="l">
                        <a:lnSpc>
                          <a:spcPct val="115000"/>
                        </a:lnSpc>
                        <a:spcBef>
                          <a:spcPts val="0"/>
                        </a:spcBef>
                        <a:spcAft>
                          <a:spcPts val="0"/>
                        </a:spcAft>
                        <a:buClr>
                          <a:schemeClr val="dk1"/>
                        </a:buClr>
                        <a:buSzPts val="1100"/>
                        <a:buFont typeface="Arial"/>
                        <a:buNone/>
                      </a:pPr>
                      <a:r>
                        <a:rPr lang="zh-TW" sz="1300"/>
                        <a:t>This is the primary data file, where each row represents a loan application.</a:t>
                      </a:r>
                      <a:endParaRPr sz="1300"/>
                    </a:p>
                    <a:p>
                      <a:pPr indent="0" lvl="0" marL="0" rtl="0" algn="l">
                        <a:lnSpc>
                          <a:spcPct val="115000"/>
                        </a:lnSpc>
                        <a:spcBef>
                          <a:spcPts val="1200"/>
                        </a:spcBef>
                        <a:spcAft>
                          <a:spcPts val="0"/>
                        </a:spcAft>
                        <a:buClr>
                          <a:schemeClr val="dk1"/>
                        </a:buClr>
                        <a:buSzPts val="1100"/>
                        <a:buFont typeface="Arial"/>
                        <a:buNone/>
                      </a:pPr>
                      <a:r>
                        <a:rPr b="1" lang="zh-TW" sz="1300"/>
                        <a:t>Target Variable (TARGET):</a:t>
                      </a:r>
                      <a:br>
                        <a:rPr lang="zh-TW" sz="1300"/>
                      </a:br>
                      <a:r>
                        <a:rPr lang="zh-TW" sz="1300"/>
                        <a:t>A value of 1 indicates default, while 0 indicates that the borrower repaid on time without issues.</a:t>
                      </a:r>
                      <a:endParaRPr sz="1300"/>
                    </a:p>
                    <a:p>
                      <a:pPr indent="0" lvl="0" marL="0" rtl="0" algn="l">
                        <a:lnSpc>
                          <a:spcPct val="115000"/>
                        </a:lnSpc>
                        <a:spcBef>
                          <a:spcPts val="1200"/>
                        </a:spcBef>
                        <a:spcAft>
                          <a:spcPts val="1200"/>
                        </a:spcAft>
                        <a:buClr>
                          <a:schemeClr val="dk1"/>
                        </a:buClr>
                        <a:buSzPts val="1100"/>
                        <a:buFont typeface="Arial"/>
                        <a:buNone/>
                      </a:pPr>
                      <a:r>
                        <a:rPr b="1" lang="zh-TW" sz="1300"/>
                        <a:t>Contents:</a:t>
                      </a:r>
                      <a:br>
                        <a:rPr lang="zh-TW" sz="1300"/>
                      </a:br>
                      <a:r>
                        <a:rPr lang="zh-TW" sz="1300"/>
                        <a:t>The dataset includes the applicant’s demographic and financial information, loan-related characteristics, and external credit assessment scores.</a:t>
                      </a:r>
                      <a:endParaRPr sz="1300"/>
                    </a:p>
                  </a:txBody>
                  <a:tcPr marT="91425" marB="91425" marR="91425" marL="91425"/>
                </a:tc>
              </a:tr>
              <a:tr h="438575">
                <a:tc>
                  <a:txBody>
                    <a:bodyPr/>
                    <a:lstStyle/>
                    <a:p>
                      <a:pPr indent="0" lvl="0" marL="0" rtl="0" algn="l">
                        <a:spcBef>
                          <a:spcPts val="0"/>
                        </a:spcBef>
                        <a:spcAft>
                          <a:spcPts val="0"/>
                        </a:spcAft>
                        <a:buNone/>
                      </a:pPr>
                      <a:r>
                        <a:rPr lang="zh-TW" sz="1300"/>
                        <a:t>bureau &amp;</a:t>
                      </a:r>
                      <a:br>
                        <a:rPr lang="zh-TW" sz="1300"/>
                      </a:br>
                      <a:r>
                        <a:rPr lang="zh-TW" sz="1300"/>
                        <a:t>bureau_balance</a:t>
                      </a:r>
                      <a:endParaRPr sz="1300"/>
                    </a:p>
                  </a:txBody>
                  <a:tcPr marT="91425" marB="91425" marR="91425" marL="91425"/>
                </a:tc>
                <a:tc>
                  <a:txBody>
                    <a:bodyPr/>
                    <a:lstStyle/>
                    <a:p>
                      <a:pPr indent="0" lvl="0" marL="0" rtl="0" algn="l">
                        <a:spcBef>
                          <a:spcPts val="0"/>
                        </a:spcBef>
                        <a:spcAft>
                          <a:spcPts val="0"/>
                        </a:spcAft>
                        <a:buNone/>
                      </a:pPr>
                      <a:r>
                        <a:rPr lang="zh-TW" sz="1300"/>
                        <a:t>H</a:t>
                      </a:r>
                      <a:r>
                        <a:rPr lang="zh-TW" sz="1300"/>
                        <a:t>istorical credit records from other financial institutions, obtained from the credit bureau. </a:t>
                      </a:r>
                      <a:endParaRPr sz="1300"/>
                    </a:p>
                  </a:txBody>
                  <a:tcPr marT="91425" marB="91425" marR="91425" marL="91425"/>
                </a:tc>
              </a:tr>
              <a:tr h="438575">
                <a:tc>
                  <a:txBody>
                    <a:bodyPr/>
                    <a:lstStyle/>
                    <a:p>
                      <a:pPr indent="0" lvl="0" marL="0" rtl="0" algn="l">
                        <a:spcBef>
                          <a:spcPts val="0"/>
                        </a:spcBef>
                        <a:spcAft>
                          <a:spcPts val="0"/>
                        </a:spcAft>
                        <a:buNone/>
                      </a:pPr>
                      <a:r>
                        <a:rPr lang="zh-TW" sz="1300"/>
                        <a:t>previous_application</a:t>
                      </a:r>
                      <a:endParaRPr sz="1300"/>
                    </a:p>
                  </a:txBody>
                  <a:tcPr marT="91425" marB="91425" marR="91425" marL="91425"/>
                </a:tc>
                <a:tc>
                  <a:txBody>
                    <a:bodyPr/>
                    <a:lstStyle/>
                    <a:p>
                      <a:pPr indent="0" lvl="0" marL="0" rtl="0" algn="l">
                        <a:spcBef>
                          <a:spcPts val="0"/>
                        </a:spcBef>
                        <a:spcAft>
                          <a:spcPts val="0"/>
                        </a:spcAft>
                        <a:buNone/>
                      </a:pPr>
                      <a:r>
                        <a:rPr lang="zh-TW" sz="1300"/>
                        <a:t>L</a:t>
                      </a:r>
                      <a:r>
                        <a:rPr lang="zh-TW" sz="1300"/>
                        <a:t>oan application history with Home Credit, including both approved and rejected.</a:t>
                      </a:r>
                      <a:endParaRPr sz="1300"/>
                    </a:p>
                  </a:txBody>
                  <a:tcPr marT="91425" marB="91425" marR="91425" marL="91425"/>
                </a:tc>
              </a:tr>
              <a:tr h="438575">
                <a:tc>
                  <a:txBody>
                    <a:bodyPr/>
                    <a:lstStyle/>
                    <a:p>
                      <a:pPr indent="0" lvl="0" marL="0" rtl="0" algn="l">
                        <a:spcBef>
                          <a:spcPts val="0"/>
                        </a:spcBef>
                        <a:spcAft>
                          <a:spcPts val="0"/>
                        </a:spcAft>
                        <a:buNone/>
                      </a:pPr>
                      <a:r>
                        <a:rPr lang="zh-TW" sz="1300"/>
                        <a:t>POS_CASH_balance</a:t>
                      </a:r>
                      <a:endParaRPr sz="1300"/>
                    </a:p>
                  </a:txBody>
                  <a:tcPr marT="91425" marB="91425" marR="91425" marL="91425"/>
                </a:tc>
                <a:tc>
                  <a:txBody>
                    <a:bodyPr/>
                    <a:lstStyle/>
                    <a:p>
                      <a:pPr indent="0" lvl="0" marL="0" rtl="0" algn="l">
                        <a:spcBef>
                          <a:spcPts val="0"/>
                        </a:spcBef>
                        <a:spcAft>
                          <a:spcPts val="0"/>
                        </a:spcAft>
                        <a:buNone/>
                      </a:pPr>
                      <a:r>
                        <a:rPr lang="zh-TW" sz="1300"/>
                        <a:t>M</a:t>
                      </a:r>
                      <a:r>
                        <a:rPr lang="zh-TW" sz="1300"/>
                        <a:t>onthly phone bill usage or point-of-sale (POS) cash balances from past loans. </a:t>
                      </a:r>
                      <a:endParaRPr sz="1300"/>
                    </a:p>
                  </a:txBody>
                  <a:tcPr marT="91425" marB="91425" marR="91425" marL="91425"/>
                </a:tc>
              </a:tr>
              <a:tr h="438575">
                <a:tc>
                  <a:txBody>
                    <a:bodyPr/>
                    <a:lstStyle/>
                    <a:p>
                      <a:pPr indent="0" lvl="0" marL="0" rtl="0" algn="l">
                        <a:spcBef>
                          <a:spcPts val="0"/>
                        </a:spcBef>
                        <a:spcAft>
                          <a:spcPts val="0"/>
                        </a:spcAft>
                        <a:buNone/>
                      </a:pPr>
                      <a:r>
                        <a:rPr lang="zh-TW" sz="1300"/>
                        <a:t>credit_card_balance</a:t>
                      </a:r>
                      <a:endParaRPr sz="1300"/>
                    </a:p>
                  </a:txBody>
                  <a:tcPr marT="91425" marB="91425" marR="91425" marL="91425"/>
                </a:tc>
                <a:tc>
                  <a:txBody>
                    <a:bodyPr/>
                    <a:lstStyle/>
                    <a:p>
                      <a:pPr indent="0" lvl="0" marL="0" rtl="0" algn="l">
                        <a:spcBef>
                          <a:spcPts val="0"/>
                        </a:spcBef>
                        <a:spcAft>
                          <a:spcPts val="0"/>
                        </a:spcAft>
                        <a:buNone/>
                      </a:pPr>
                      <a:r>
                        <a:rPr lang="zh-TW" sz="1300"/>
                        <a:t>Monthly statements of credit card activity previously held by the applicant at Home Credit. </a:t>
                      </a:r>
                      <a:endParaRPr sz="1300"/>
                    </a:p>
                  </a:txBody>
                  <a:tcPr marT="91425" marB="91425" marR="91425" marL="91425"/>
                </a:tc>
              </a:tr>
              <a:tr h="438575">
                <a:tc>
                  <a:txBody>
                    <a:bodyPr/>
                    <a:lstStyle/>
                    <a:p>
                      <a:pPr indent="0" lvl="0" marL="0" rtl="0" algn="l">
                        <a:spcBef>
                          <a:spcPts val="0"/>
                        </a:spcBef>
                        <a:spcAft>
                          <a:spcPts val="0"/>
                        </a:spcAft>
                        <a:buNone/>
                      </a:pPr>
                      <a:r>
                        <a:rPr lang="zh-TW" sz="1300"/>
                        <a:t>installments_payments</a:t>
                      </a:r>
                      <a:endParaRPr sz="1300"/>
                    </a:p>
                  </a:txBody>
                  <a:tcPr marT="91425" marB="91425" marR="91425" marL="91425"/>
                </a:tc>
                <a:tc>
                  <a:txBody>
                    <a:bodyPr/>
                    <a:lstStyle/>
                    <a:p>
                      <a:pPr indent="0" lvl="0" marL="0" rtl="0" algn="l">
                        <a:spcBef>
                          <a:spcPts val="0"/>
                        </a:spcBef>
                        <a:spcAft>
                          <a:spcPts val="0"/>
                        </a:spcAft>
                        <a:buNone/>
                      </a:pPr>
                      <a:r>
                        <a:rPr lang="zh-TW" sz="1300"/>
                        <a:t>Actual repayment records of past loans, which can be used to determine whether payments were made late or partially (i.e., underpaid). </a:t>
                      </a:r>
                      <a:endParaRPr sz="1300"/>
                    </a:p>
                  </a:txBody>
                  <a:tcPr marT="91425" marB="91425" marR="91425" marL="91425"/>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None/>
            </a:pPr>
            <a:r>
              <a:rPr lang="zh-TW" sz="1800">
                <a:solidFill>
                  <a:schemeClr val="dk2"/>
                </a:solidFill>
              </a:rPr>
              <a:t>Experiments</a:t>
            </a:r>
            <a:endParaRPr/>
          </a:p>
        </p:txBody>
      </p:sp>
      <p:sp>
        <p:nvSpPr>
          <p:cNvPr id="122" name="Google Shape;122;p24"/>
          <p:cNvSpPr txBox="1"/>
          <p:nvPr/>
        </p:nvSpPr>
        <p:spPr>
          <a:xfrm>
            <a:off x="2564550" y="487475"/>
            <a:ext cx="8520600" cy="3848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zh-TW"/>
              <a:t>=== 開始進行特徵重要性篩選 ===</a:t>
            </a:r>
            <a:endParaRPr/>
          </a:p>
          <a:p>
            <a:pPr indent="0" lvl="0" marL="0" rtl="0" algn="l">
              <a:spcBef>
                <a:spcPts val="0"/>
              </a:spcBef>
              <a:spcAft>
                <a:spcPts val="0"/>
              </a:spcAft>
              <a:buNone/>
            </a:pPr>
            <a:r>
              <a:rPr lang="zh-TW"/>
              <a:t>--- 前 10 大核心特徵 (對預測違約最關鍵) ---</a:t>
            </a:r>
            <a:endParaRPr/>
          </a:p>
          <a:p>
            <a:pPr indent="0" lvl="0" marL="0" rtl="0" algn="l">
              <a:spcBef>
                <a:spcPts val="0"/>
              </a:spcBef>
              <a:spcAft>
                <a:spcPts val="0"/>
              </a:spcAft>
              <a:buNone/>
            </a:pPr>
            <a:r>
              <a:rPr lang="zh-TW"/>
              <a:t>                                  feature    importance  cumulative_importance</a:t>
            </a:r>
            <a:endParaRPr/>
          </a:p>
          <a:p>
            <a:pPr indent="0" lvl="0" marL="0" rtl="0" algn="l">
              <a:spcBef>
                <a:spcPts val="0"/>
              </a:spcBef>
              <a:spcAft>
                <a:spcPts val="0"/>
              </a:spcAft>
              <a:buNone/>
            </a:pPr>
            <a:r>
              <a:rPr lang="zh-TW">
                <a:highlight>
                  <a:schemeClr val="accent6"/>
                </a:highlight>
              </a:rPr>
              <a:t>0                            EXT_SOURCE_3  44885.387609               0.132849</a:t>
            </a:r>
            <a:endParaRPr>
              <a:highlight>
                <a:schemeClr val="accent6"/>
              </a:highlight>
            </a:endParaRPr>
          </a:p>
          <a:p>
            <a:pPr indent="0" lvl="0" marL="0" rtl="0" algn="l">
              <a:spcBef>
                <a:spcPts val="0"/>
              </a:spcBef>
              <a:spcAft>
                <a:spcPts val="0"/>
              </a:spcAft>
              <a:buNone/>
            </a:pPr>
            <a:r>
              <a:rPr lang="zh-TW">
                <a:highlight>
                  <a:schemeClr val="accent6"/>
                </a:highlight>
              </a:rPr>
              <a:t>1                            EXT_SOURCE_2  43382.461914               0.261249</a:t>
            </a:r>
            <a:endParaRPr>
              <a:highlight>
                <a:schemeClr val="accent6"/>
              </a:highlight>
            </a:endParaRPr>
          </a:p>
          <a:p>
            <a:pPr indent="0" lvl="0" marL="0" rtl="0" algn="l">
              <a:spcBef>
                <a:spcPts val="0"/>
              </a:spcBef>
              <a:spcAft>
                <a:spcPts val="0"/>
              </a:spcAft>
              <a:buNone/>
            </a:pPr>
            <a:r>
              <a:rPr lang="zh-TW">
                <a:highlight>
                  <a:schemeClr val="accent6"/>
                </a:highlight>
              </a:rPr>
              <a:t>2                            EXT_SOURCE_1  15710.935300               0.307749</a:t>
            </a:r>
            <a:endParaRPr>
              <a:highlight>
                <a:schemeClr val="accent6"/>
              </a:highlight>
            </a:endParaRPr>
          </a:p>
          <a:p>
            <a:pPr indent="0" lvl="0" marL="0" rtl="0" algn="l">
              <a:spcBef>
                <a:spcPts val="0"/>
              </a:spcBef>
              <a:spcAft>
                <a:spcPts val="0"/>
              </a:spcAft>
              <a:buNone/>
            </a:pPr>
            <a:r>
              <a:rPr lang="zh-TW"/>
              <a:t>3                              DAYS_BIRTH   8791.091294               0.333768</a:t>
            </a:r>
            <a:endParaRPr/>
          </a:p>
          <a:p>
            <a:pPr indent="0" lvl="0" marL="0" rtl="0" algn="l">
              <a:spcBef>
                <a:spcPts val="0"/>
              </a:spcBef>
              <a:spcAft>
                <a:spcPts val="0"/>
              </a:spcAft>
              <a:buNone/>
            </a:pPr>
            <a:r>
              <a:rPr lang="zh-TW"/>
              <a:t>4                   PREV_CNT_PAYMENT_MEAN   5534.621908               0.350149</a:t>
            </a:r>
            <a:endParaRPr/>
          </a:p>
          <a:p>
            <a:pPr indent="0" lvl="0" marL="0" rtl="0" algn="l">
              <a:spcBef>
                <a:spcPts val="0"/>
              </a:spcBef>
              <a:spcAft>
                <a:spcPts val="0"/>
              </a:spcAft>
              <a:buNone/>
            </a:pPr>
            <a:r>
              <a:rPr lang="zh-TW"/>
              <a:t>5                             AMT_ANNUITY   5298.297277               0.365831</a:t>
            </a:r>
            <a:endParaRPr/>
          </a:p>
          <a:p>
            <a:pPr indent="0" lvl="0" marL="0" rtl="0" algn="l">
              <a:spcBef>
                <a:spcPts val="0"/>
              </a:spcBef>
              <a:spcAft>
                <a:spcPts val="0"/>
              </a:spcAft>
              <a:buNone/>
            </a:pPr>
            <a:r>
              <a:rPr lang="zh-TW"/>
              <a:t>6                              AMT_CREDIT   5248.410231               0.381365</a:t>
            </a:r>
            <a:endParaRPr/>
          </a:p>
          <a:p>
            <a:pPr indent="0" lvl="0" marL="0" rtl="0" algn="l">
              <a:spcBef>
                <a:spcPts val="0"/>
              </a:spcBef>
              <a:spcAft>
                <a:spcPts val="0"/>
              </a:spcAft>
              <a:buNone/>
            </a:pPr>
            <a:r>
              <a:rPr lang="zh-TW"/>
              <a:t>7                         AMT_GOODS_PRICE   4988.308230               0.396129</a:t>
            </a:r>
            <a:endParaRPr/>
          </a:p>
          <a:p>
            <a:pPr indent="0" lvl="0" marL="0" rtl="0" algn="l">
              <a:spcBef>
                <a:spcPts val="0"/>
              </a:spcBef>
              <a:spcAft>
                <a:spcPts val="0"/>
              </a:spcAft>
              <a:buNone/>
            </a:pPr>
            <a:r>
              <a:rPr lang="zh-TW"/>
              <a:t>8                           DAYS_EMPLOYED   4647.467375               0.409884</a:t>
            </a:r>
            <a:endParaRPr/>
          </a:p>
          <a:p>
            <a:pPr indent="0" lvl="0" marL="0" rtl="0" algn="l">
              <a:spcBef>
                <a:spcPts val="0"/>
              </a:spcBef>
              <a:spcAft>
                <a:spcPts val="0"/>
              </a:spcAft>
              <a:buNone/>
            </a:pPr>
            <a:r>
              <a:rPr lang="zh-TW"/>
              <a:t>9  PREV_NAME_CONTRACT_STATUS_Refused_MEAN   4565.145148               0.423395</a:t>
            </a:r>
            <a:endParaRPr/>
          </a:p>
          <a:p>
            <a:pPr indent="0" lvl="0" marL="0" rtl="0" algn="l">
              <a:spcBef>
                <a:spcPts val="0"/>
              </a:spcBef>
              <a:spcAft>
                <a:spcPts val="0"/>
              </a:spcAft>
              <a:buNone/>
            </a:pPr>
            <a:r>
              <a:t/>
            </a:r>
            <a:endParaRPr/>
          </a:p>
          <a:p>
            <a:pPr indent="0" lvl="0" marL="0" rtl="0" algn="l">
              <a:spcBef>
                <a:spcPts val="0"/>
              </a:spcBef>
              <a:spcAft>
                <a:spcPts val="0"/>
              </a:spcAft>
              <a:buNone/>
            </a:pPr>
            <a:r>
              <a:rPr lang="zh-TW"/>
              <a:t>總共有 72 個特徵的貢獻度完全為 0。</a:t>
            </a:r>
            <a:endParaRPr/>
          </a:p>
          <a:p>
            <a:pPr indent="0" lvl="0" marL="0" rtl="0" algn="l">
              <a:spcBef>
                <a:spcPts val="0"/>
              </a:spcBef>
              <a:spcAft>
                <a:spcPts val="0"/>
              </a:spcAft>
              <a:buNone/>
            </a:pPr>
            <a:r>
              <a:rPr lang="zh-TW"/>
              <a:t>🎉 降維成功！特徵欄位數從 632 個 成功精簡至 406 個！</a:t>
            </a:r>
            <a:endParaRPr/>
          </a:p>
          <a:p>
            <a:pPr indent="0" lvl="0" marL="0" rtl="0" algn="l">
              <a:spcBef>
                <a:spcPts val="0"/>
              </a:spcBef>
              <a:spcAft>
                <a:spcPts val="0"/>
              </a:spcAft>
              <a:buNone/>
            </a:pPr>
            <a:r>
              <a:rPr lang="zh-TW"/>
              <a:t>下一輪準備就緒！特徵形狀: (307511, 406)</a:t>
            </a:r>
            <a:endParaRPr/>
          </a:p>
        </p:txBody>
      </p:sp>
      <p:sp>
        <p:nvSpPr>
          <p:cNvPr id="123" name="Google Shape;123;p24"/>
          <p:cNvSpPr txBox="1"/>
          <p:nvPr/>
        </p:nvSpPr>
        <p:spPr>
          <a:xfrm>
            <a:off x="206600" y="1633300"/>
            <a:ext cx="2253000" cy="756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800">
                <a:solidFill>
                  <a:schemeClr val="dk2"/>
                </a:solidFill>
              </a:rPr>
              <a:t>bu+prev </a:t>
            </a:r>
            <a:endParaRPr sz="1800">
              <a:solidFill>
                <a:schemeClr val="dk2"/>
              </a:solidFill>
            </a:endParaRPr>
          </a:p>
          <a:p>
            <a:pPr indent="0" lvl="0" marL="0" rtl="0" algn="l">
              <a:spcBef>
                <a:spcPts val="0"/>
              </a:spcBef>
              <a:spcAft>
                <a:spcPts val="0"/>
              </a:spcAft>
              <a:buNone/>
            </a:pPr>
            <a:r>
              <a:rPr lang="zh-TW" sz="1800">
                <a:solidFill>
                  <a:schemeClr val="dk2"/>
                </a:solidFill>
              </a:rPr>
              <a:t>(bureau + previous application before adding magic feature)</a:t>
            </a:r>
            <a:endParaRPr sz="1800">
              <a:solidFill>
                <a:schemeClr val="dk2"/>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27" name="Shape 127"/>
        <p:cNvGrpSpPr/>
        <p:nvPr/>
      </p:nvGrpSpPr>
      <p:grpSpPr>
        <a:xfrm>
          <a:off x="0" y="0"/>
          <a:ext cx="0" cy="0"/>
          <a:chOff x="0" y="0"/>
          <a:chExt cx="0" cy="0"/>
        </a:xfrm>
      </p:grpSpPr>
      <p:sp>
        <p:nvSpPr>
          <p:cNvPr id="128" name="Google Shape;128;p25"/>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zh-TW" sz="2700"/>
              <a:t>Experiments</a:t>
            </a:r>
            <a:endParaRPr sz="2700"/>
          </a:p>
        </p:txBody>
      </p:sp>
      <p:sp>
        <p:nvSpPr>
          <p:cNvPr id="129" name="Google Shape;129;p25"/>
          <p:cNvSpPr txBox="1"/>
          <p:nvPr/>
        </p:nvSpPr>
        <p:spPr>
          <a:xfrm>
            <a:off x="168125" y="941750"/>
            <a:ext cx="4710600" cy="1908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zh-TW"/>
              <a:t>訓練集形狀: (307511, 632),</a:t>
            </a:r>
            <a:endParaRPr/>
          </a:p>
          <a:p>
            <a:pPr indent="0" lvl="0" marL="0" rtl="0" algn="l">
              <a:spcBef>
                <a:spcPts val="0"/>
              </a:spcBef>
              <a:spcAft>
                <a:spcPts val="0"/>
              </a:spcAft>
              <a:buNone/>
            </a:pPr>
            <a:r>
              <a:rPr lang="zh-TW"/>
              <a:t>測試集形狀: (48744, 632)</a:t>
            </a:r>
            <a:endParaRPr/>
          </a:p>
          <a:p>
            <a:pPr indent="0" lvl="0" marL="0" rtl="0" algn="l">
              <a:spcBef>
                <a:spcPts val="0"/>
              </a:spcBef>
              <a:spcAft>
                <a:spcPts val="0"/>
              </a:spcAft>
              <a:buNone/>
            </a:pPr>
            <a:r>
              <a:rPr lang="zh-TW"/>
              <a:t>Fold 1 AUC: 0.78487</a:t>
            </a:r>
            <a:endParaRPr/>
          </a:p>
          <a:p>
            <a:pPr indent="0" lvl="0" marL="0" rtl="0" algn="l">
              <a:spcBef>
                <a:spcPts val="0"/>
              </a:spcBef>
              <a:spcAft>
                <a:spcPts val="0"/>
              </a:spcAft>
              <a:buNone/>
            </a:pPr>
            <a:r>
              <a:rPr lang="zh-TW"/>
              <a:t>Fold 2 AUC: 0.79321</a:t>
            </a:r>
            <a:endParaRPr/>
          </a:p>
          <a:p>
            <a:pPr indent="0" lvl="0" marL="0" rtl="0" algn="l">
              <a:spcBef>
                <a:spcPts val="0"/>
              </a:spcBef>
              <a:spcAft>
                <a:spcPts val="0"/>
              </a:spcAft>
              <a:buNone/>
            </a:pPr>
            <a:r>
              <a:rPr lang="zh-TW"/>
              <a:t>Fold 3 AUC: 0.78543</a:t>
            </a:r>
            <a:endParaRPr/>
          </a:p>
          <a:p>
            <a:pPr indent="0" lvl="0" marL="0" rtl="0" algn="l">
              <a:spcBef>
                <a:spcPts val="0"/>
              </a:spcBef>
              <a:spcAft>
                <a:spcPts val="0"/>
              </a:spcAft>
              <a:buNone/>
            </a:pPr>
            <a:r>
              <a:rPr lang="zh-TW"/>
              <a:t>Fold 4 AUC: 0.79072</a:t>
            </a:r>
            <a:endParaRPr/>
          </a:p>
          <a:p>
            <a:pPr indent="0" lvl="0" marL="0" rtl="0" algn="l">
              <a:spcBef>
                <a:spcPts val="0"/>
              </a:spcBef>
              <a:spcAft>
                <a:spcPts val="0"/>
              </a:spcAft>
              <a:buNone/>
            </a:pPr>
            <a:r>
              <a:rPr lang="zh-TW"/>
              <a:t>Fold 5 AUC: 0.78362</a:t>
            </a:r>
            <a:endParaRPr/>
          </a:p>
          <a:p>
            <a:pPr indent="0" lvl="0" marL="0" rtl="0" algn="l">
              <a:spcBef>
                <a:spcPts val="0"/>
              </a:spcBef>
              <a:spcAft>
                <a:spcPts val="0"/>
              </a:spcAft>
              <a:buNone/>
            </a:pPr>
            <a:r>
              <a:rPr lang="zh-TW"/>
              <a:t>整體 OOF AUC: 0.78747</a:t>
            </a:r>
            <a:endParaRPr/>
          </a:p>
        </p:txBody>
      </p:sp>
      <p:sp>
        <p:nvSpPr>
          <p:cNvPr id="130" name="Google Shape;130;p25"/>
          <p:cNvSpPr txBox="1"/>
          <p:nvPr/>
        </p:nvSpPr>
        <p:spPr>
          <a:xfrm>
            <a:off x="2564550" y="487475"/>
            <a:ext cx="8520600" cy="3848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zh-TW"/>
              <a:t>=== 開始進行特徵重要性篩選 ===</a:t>
            </a:r>
            <a:endParaRPr/>
          </a:p>
          <a:p>
            <a:pPr indent="0" lvl="0" marL="0" rtl="0" algn="l">
              <a:spcBef>
                <a:spcPts val="0"/>
              </a:spcBef>
              <a:spcAft>
                <a:spcPts val="0"/>
              </a:spcAft>
              <a:buNone/>
            </a:pPr>
            <a:r>
              <a:rPr lang="zh-TW"/>
              <a:t>--- 前 10 大核心特徵 (對預測違約最關鍵) ---</a:t>
            </a:r>
            <a:endParaRPr/>
          </a:p>
          <a:p>
            <a:pPr indent="0" lvl="0" marL="0" rtl="0" algn="l">
              <a:spcBef>
                <a:spcPts val="0"/>
              </a:spcBef>
              <a:spcAft>
                <a:spcPts val="0"/>
              </a:spcAft>
              <a:buNone/>
            </a:pPr>
            <a:r>
              <a:rPr lang="zh-TW"/>
              <a:t>                             feature    importance  cumulative_importance</a:t>
            </a:r>
            <a:endParaRPr/>
          </a:p>
          <a:p>
            <a:pPr indent="0" lvl="0" marL="0" rtl="0" algn="l">
              <a:spcBef>
                <a:spcPts val="0"/>
              </a:spcBef>
              <a:spcAft>
                <a:spcPts val="0"/>
              </a:spcAft>
              <a:buNone/>
            </a:pPr>
            <a:r>
              <a:rPr lang="zh-TW">
                <a:solidFill>
                  <a:schemeClr val="dk1"/>
                </a:solidFill>
                <a:highlight>
                  <a:schemeClr val="accent6"/>
                </a:highlight>
              </a:rPr>
              <a:t>0             MAGIC_EXT_SOURCES_MEAN  44577.958178               0.164677</a:t>
            </a:r>
            <a:endParaRPr>
              <a:solidFill>
                <a:schemeClr val="dk1"/>
              </a:solidFill>
              <a:highlight>
                <a:schemeClr val="accent6"/>
              </a:highlight>
            </a:endParaRPr>
          </a:p>
          <a:p>
            <a:pPr indent="0" lvl="0" marL="0" rtl="0" algn="l">
              <a:spcBef>
                <a:spcPts val="0"/>
              </a:spcBef>
              <a:spcAft>
                <a:spcPts val="0"/>
              </a:spcAft>
              <a:buNone/>
            </a:pPr>
            <a:r>
              <a:rPr lang="zh-TW">
                <a:solidFill>
                  <a:schemeClr val="dk1"/>
                </a:solidFill>
                <a:highlight>
                  <a:schemeClr val="accent6"/>
                </a:highlight>
              </a:rPr>
              <a:t>1              MAGIC_EXT_SOURCES_MIN  16465.286496               0.225502</a:t>
            </a:r>
            <a:endParaRPr>
              <a:solidFill>
                <a:schemeClr val="dk1"/>
              </a:solidFill>
              <a:highlight>
                <a:schemeClr val="accent6"/>
              </a:highlight>
            </a:endParaRPr>
          </a:p>
          <a:p>
            <a:pPr indent="0" lvl="0" marL="0" rtl="0" algn="l">
              <a:spcBef>
                <a:spcPts val="0"/>
              </a:spcBef>
              <a:spcAft>
                <a:spcPts val="0"/>
              </a:spcAft>
              <a:buNone/>
            </a:pPr>
            <a:r>
              <a:rPr lang="zh-TW">
                <a:solidFill>
                  <a:schemeClr val="dk1"/>
                </a:solidFill>
                <a:highlight>
                  <a:schemeClr val="accent6"/>
                </a:highlight>
              </a:rPr>
              <a:t>2              MAGIC_EXT_SOURCES_MAX   7913.668931               0.254736</a:t>
            </a:r>
            <a:endParaRPr>
              <a:solidFill>
                <a:schemeClr val="dk1"/>
              </a:solidFill>
              <a:highlight>
                <a:schemeClr val="accent6"/>
              </a:highlight>
            </a:endParaRPr>
          </a:p>
          <a:p>
            <a:pPr indent="0" lvl="0" marL="0" rtl="0" algn="l">
              <a:spcBef>
                <a:spcPts val="0"/>
              </a:spcBef>
              <a:spcAft>
                <a:spcPts val="0"/>
              </a:spcAft>
              <a:buNone/>
            </a:pPr>
            <a:r>
              <a:rPr lang="zh-TW"/>
              <a:t>3      MAGIC_ANNUITY_TO_CREDIT_RATIO   6087.959786               0.277225</a:t>
            </a:r>
            <a:endParaRPr/>
          </a:p>
          <a:p>
            <a:pPr indent="0" lvl="0" marL="0" rtl="0" algn="l">
              <a:spcBef>
                <a:spcPts val="0"/>
              </a:spcBef>
              <a:spcAft>
                <a:spcPts val="0"/>
              </a:spcAft>
              <a:buNone/>
            </a:pPr>
            <a:r>
              <a:rPr lang="zh-TW"/>
              <a:t>4                       EXT_SOURCE_3   4385.693044               0.293427</a:t>
            </a:r>
            <a:endParaRPr/>
          </a:p>
          <a:p>
            <a:pPr indent="0" lvl="0" marL="0" rtl="0" algn="l">
              <a:spcBef>
                <a:spcPts val="0"/>
              </a:spcBef>
              <a:spcAft>
                <a:spcPts val="0"/>
              </a:spcAft>
              <a:buNone/>
            </a:pPr>
            <a:r>
              <a:rPr lang="zh-TW"/>
              <a:t>5       CC_6M_CC_LIMIT_USE_RATIO_MAX   4226.744103               0.309041</a:t>
            </a:r>
            <a:endParaRPr/>
          </a:p>
          <a:p>
            <a:pPr indent="0" lvl="0" marL="0" rtl="0" algn="l">
              <a:spcBef>
                <a:spcPts val="0"/>
              </a:spcBef>
              <a:spcAft>
                <a:spcPts val="0"/>
              </a:spcAft>
              <a:buNone/>
            </a:pPr>
            <a:r>
              <a:rPr lang="zh-TW"/>
              <a:t>6                         DAYS_BIRTH   4204.079051               0.324571</a:t>
            </a:r>
            <a:endParaRPr/>
          </a:p>
          <a:p>
            <a:pPr indent="0" lvl="0" marL="0" rtl="0" algn="l">
              <a:spcBef>
                <a:spcPts val="0"/>
              </a:spcBef>
              <a:spcAft>
                <a:spcPts val="0"/>
              </a:spcAft>
              <a:buNone/>
            </a:pPr>
            <a:r>
              <a:rPr lang="zh-TW"/>
              <a:t>7        MAGIC_CREDIT_TO_GOODS_RATIO   4030.467817               0.339460</a:t>
            </a:r>
            <a:endParaRPr/>
          </a:p>
          <a:p>
            <a:pPr indent="0" lvl="0" marL="0" rtl="0" algn="l">
              <a:spcBef>
                <a:spcPts val="0"/>
              </a:spcBef>
              <a:spcAft>
                <a:spcPts val="0"/>
              </a:spcAft>
              <a:buNone/>
            </a:pPr>
            <a:r>
              <a:rPr lang="zh-TW"/>
              <a:t>8  POS_6M_CNT_INSTALMENT_FUTURE_MEAN   3492.832447       0.352363</a:t>
            </a:r>
            <a:endParaRPr/>
          </a:p>
          <a:p>
            <a:pPr indent="0" lvl="0" marL="0" rtl="0" algn="l">
              <a:spcBef>
                <a:spcPts val="0"/>
              </a:spcBef>
              <a:spcAft>
                <a:spcPts val="0"/>
              </a:spcAft>
              <a:buNone/>
            </a:pPr>
            <a:r>
              <a:rPr lang="zh-TW"/>
              <a:t>9           BUREAU_DAYS_CREDIT_MAX_y   2504.324166               0.361615</a:t>
            </a:r>
            <a:endParaRPr/>
          </a:p>
          <a:p>
            <a:pPr indent="0" lvl="0" marL="0" rtl="0" algn="l">
              <a:spcBef>
                <a:spcPts val="0"/>
              </a:spcBef>
              <a:spcAft>
                <a:spcPts val="0"/>
              </a:spcAft>
              <a:buNone/>
            </a:pPr>
            <a:r>
              <a:t/>
            </a:r>
            <a:endParaRPr/>
          </a:p>
          <a:p>
            <a:pPr indent="0" lvl="0" marL="0" rtl="0" algn="l">
              <a:spcBef>
                <a:spcPts val="0"/>
              </a:spcBef>
              <a:spcAft>
                <a:spcPts val="0"/>
              </a:spcAft>
              <a:buNone/>
            </a:pPr>
            <a:r>
              <a:rPr lang="zh-TW"/>
              <a:t>總共有 72 個特徵的貢獻度完全為 0。</a:t>
            </a:r>
            <a:endParaRPr/>
          </a:p>
          <a:p>
            <a:pPr indent="0" lvl="0" marL="0" rtl="0" algn="l">
              <a:spcBef>
                <a:spcPts val="0"/>
              </a:spcBef>
              <a:spcAft>
                <a:spcPts val="0"/>
              </a:spcAft>
              <a:buNone/>
            </a:pPr>
            <a:r>
              <a:rPr lang="zh-TW"/>
              <a:t>🎉 降維成功！特徵欄位數從 632 個 成功精簡至 406 個！</a:t>
            </a:r>
            <a:endParaRPr/>
          </a:p>
          <a:p>
            <a:pPr indent="0" lvl="0" marL="0" rtl="0" algn="l">
              <a:spcBef>
                <a:spcPts val="0"/>
              </a:spcBef>
              <a:spcAft>
                <a:spcPts val="0"/>
              </a:spcAft>
              <a:buNone/>
            </a:pPr>
            <a:r>
              <a:rPr lang="zh-TW"/>
              <a:t>下一輪準備就緒！特徵形狀: (307511, 406)</a:t>
            </a:r>
            <a:endParaRPr/>
          </a:p>
        </p:txBody>
      </p:sp>
      <p:sp>
        <p:nvSpPr>
          <p:cNvPr id="131" name="Google Shape;131;p25"/>
          <p:cNvSpPr txBox="1"/>
          <p:nvPr/>
        </p:nvSpPr>
        <p:spPr>
          <a:xfrm>
            <a:off x="1809875" y="140850"/>
            <a:ext cx="2848200" cy="294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zh-TW" sz="1800">
                <a:solidFill>
                  <a:schemeClr val="dk2"/>
                </a:solidFill>
              </a:rPr>
              <a:t>final version</a:t>
            </a:r>
            <a:endParaRPr sz="180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35" name="Shape 135"/>
        <p:cNvGrpSpPr/>
        <p:nvPr/>
      </p:nvGrpSpPr>
      <p:grpSpPr>
        <a:xfrm>
          <a:off x="0" y="0"/>
          <a:ext cx="0" cy="0"/>
          <a:chOff x="0" y="0"/>
          <a:chExt cx="0" cy="0"/>
        </a:xfrm>
      </p:grpSpPr>
      <p:graphicFrame>
        <p:nvGraphicFramePr>
          <p:cNvPr id="136" name="Google Shape;136;p26"/>
          <p:cNvGraphicFramePr/>
          <p:nvPr/>
        </p:nvGraphicFramePr>
        <p:xfrm>
          <a:off x="0" y="626463"/>
          <a:ext cx="3000000" cy="3000000"/>
        </p:xfrm>
        <a:graphic>
          <a:graphicData uri="http://schemas.openxmlformats.org/drawingml/2006/table">
            <a:tbl>
              <a:tblPr>
                <a:noFill/>
                <a:tableStyleId>{741291EA-2813-4315-AF45-5C8EC8A76987}</a:tableStyleId>
              </a:tblPr>
              <a:tblGrid>
                <a:gridCol w="3506825"/>
                <a:gridCol w="4356750"/>
                <a:gridCol w="1280425"/>
              </a:tblGrid>
              <a:tr h="391025">
                <a:tc>
                  <a:txBody>
                    <a:bodyPr/>
                    <a:lstStyle/>
                    <a:p>
                      <a:pPr indent="0" lvl="0" marL="0" rtl="0" algn="l">
                        <a:spcBef>
                          <a:spcPts val="0"/>
                        </a:spcBef>
                        <a:spcAft>
                          <a:spcPts val="0"/>
                        </a:spcAft>
                        <a:buNone/>
                      </a:pPr>
                      <a:r>
                        <a:rPr lang="zh-TW" sz="1200"/>
                        <a:t>Feature</a:t>
                      </a:r>
                      <a:endParaRPr sz="1200"/>
                    </a:p>
                  </a:txBody>
                  <a:tcPr marT="91425" marB="91425" marR="91425" marL="91425">
                    <a:solidFill>
                      <a:schemeClr val="lt2"/>
                    </a:solidFill>
                  </a:tcPr>
                </a:tc>
                <a:tc>
                  <a:txBody>
                    <a:bodyPr/>
                    <a:lstStyle/>
                    <a:p>
                      <a:pPr indent="0" lvl="0" marL="0" rtl="0" algn="l">
                        <a:spcBef>
                          <a:spcPts val="0"/>
                        </a:spcBef>
                        <a:spcAft>
                          <a:spcPts val="0"/>
                        </a:spcAft>
                        <a:buNone/>
                      </a:pPr>
                      <a:r>
                        <a:rPr lang="zh-TW" sz="1200"/>
                        <a:t>Meaning</a:t>
                      </a:r>
                      <a:endParaRPr sz="1200"/>
                    </a:p>
                  </a:txBody>
                  <a:tcPr marT="91425" marB="91425" marR="91425" marL="91425">
                    <a:solidFill>
                      <a:schemeClr val="lt2"/>
                    </a:solidFill>
                  </a:tcPr>
                </a:tc>
                <a:tc>
                  <a:txBody>
                    <a:bodyPr/>
                    <a:lstStyle/>
                    <a:p>
                      <a:pPr indent="0" lvl="0" marL="0" rtl="0" algn="r">
                        <a:spcBef>
                          <a:spcPts val="0"/>
                        </a:spcBef>
                        <a:spcAft>
                          <a:spcPts val="0"/>
                        </a:spcAft>
                        <a:buNone/>
                      </a:pPr>
                      <a:r>
                        <a:rPr lang="zh-TW" sz="1200"/>
                        <a:t>Importance</a:t>
                      </a:r>
                      <a:endParaRPr sz="1200"/>
                    </a:p>
                  </a:txBody>
                  <a:tcPr marT="91425" marB="91425" marR="91425" marL="91425">
                    <a:solidFill>
                      <a:schemeClr val="lt2"/>
                    </a:solidFill>
                  </a:tcPr>
                </a:tc>
              </a:tr>
              <a:tr h="391025">
                <a:tc>
                  <a:txBody>
                    <a:bodyPr/>
                    <a:lstStyle/>
                    <a:p>
                      <a:pPr indent="0" lvl="0" marL="0" rtl="0" algn="l">
                        <a:spcBef>
                          <a:spcPts val="0"/>
                        </a:spcBef>
                        <a:spcAft>
                          <a:spcPts val="0"/>
                        </a:spcAft>
                        <a:buNone/>
                      </a:pPr>
                      <a:r>
                        <a:rPr lang="zh-TW" sz="1200"/>
                        <a:t>MAGIC_EXT_SOURCES_MEAN</a:t>
                      </a:r>
                      <a:endParaRPr sz="1200"/>
                    </a:p>
                  </a:txBody>
                  <a:tcPr marT="91425" marB="91425" marR="91425" marL="91425"/>
                </a:tc>
                <a:tc>
                  <a:txBody>
                    <a:bodyPr/>
                    <a:lstStyle/>
                    <a:p>
                      <a:pPr indent="0" lvl="0" marL="0" rtl="0" algn="l">
                        <a:spcBef>
                          <a:spcPts val="0"/>
                        </a:spcBef>
                        <a:spcAft>
                          <a:spcPts val="0"/>
                        </a:spcAft>
                        <a:buNone/>
                      </a:pPr>
                      <a:r>
                        <a:rPr lang="zh-TW" sz="1200"/>
                        <a:t>Mean score from external data sources</a:t>
                      </a:r>
                      <a:endParaRPr sz="1200"/>
                    </a:p>
                  </a:txBody>
                  <a:tcPr marT="91425" marB="91425" marR="91425" marL="91425"/>
                </a:tc>
                <a:tc>
                  <a:txBody>
                    <a:bodyPr/>
                    <a:lstStyle/>
                    <a:p>
                      <a:pPr indent="0" lvl="0" marL="0" rtl="0" algn="r">
                        <a:spcBef>
                          <a:spcPts val="0"/>
                        </a:spcBef>
                        <a:spcAft>
                          <a:spcPts val="0"/>
                        </a:spcAft>
                        <a:buClr>
                          <a:schemeClr val="dk1"/>
                        </a:buClr>
                        <a:buSzPts val="1100"/>
                        <a:buFont typeface="Arial"/>
                        <a:buNone/>
                      </a:pPr>
                      <a:r>
                        <a:rPr lang="zh-TW" sz="1200">
                          <a:solidFill>
                            <a:schemeClr val="dk1"/>
                          </a:solidFill>
                        </a:rPr>
                        <a:t>44577.958178</a:t>
                      </a:r>
                      <a:endParaRPr sz="1200"/>
                    </a:p>
                  </a:txBody>
                  <a:tcPr marT="91425" marB="91425" marR="91425" marL="91425"/>
                </a:tc>
              </a:tr>
              <a:tr h="391025">
                <a:tc>
                  <a:txBody>
                    <a:bodyPr/>
                    <a:lstStyle/>
                    <a:p>
                      <a:pPr indent="0" lvl="0" marL="0" rtl="0" algn="l">
                        <a:spcBef>
                          <a:spcPts val="0"/>
                        </a:spcBef>
                        <a:spcAft>
                          <a:spcPts val="0"/>
                        </a:spcAft>
                        <a:buClr>
                          <a:schemeClr val="dk1"/>
                        </a:buClr>
                        <a:buSzPts val="1100"/>
                        <a:buFont typeface="Arial"/>
                        <a:buNone/>
                      </a:pPr>
                      <a:r>
                        <a:rPr lang="zh-TW" sz="1200">
                          <a:solidFill>
                            <a:schemeClr val="dk1"/>
                          </a:solidFill>
                        </a:rPr>
                        <a:t>MAGIC_EXT_SOURCES_MIN</a:t>
                      </a:r>
                      <a:endParaRPr sz="1200"/>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zh-TW" sz="1200">
                          <a:solidFill>
                            <a:schemeClr val="dk1"/>
                          </a:solidFill>
                        </a:rPr>
                        <a:t>Min score from external data sources</a:t>
                      </a:r>
                      <a:endParaRPr sz="1200"/>
                    </a:p>
                  </a:txBody>
                  <a:tcPr marT="91425" marB="91425" marR="91425" marL="91425"/>
                </a:tc>
                <a:tc>
                  <a:txBody>
                    <a:bodyPr/>
                    <a:lstStyle/>
                    <a:p>
                      <a:pPr indent="0" lvl="0" marL="0" rtl="0" algn="r">
                        <a:spcBef>
                          <a:spcPts val="0"/>
                        </a:spcBef>
                        <a:spcAft>
                          <a:spcPts val="0"/>
                        </a:spcAft>
                        <a:buClr>
                          <a:schemeClr val="dk1"/>
                        </a:buClr>
                        <a:buSzPts val="1100"/>
                        <a:buFont typeface="Arial"/>
                        <a:buNone/>
                      </a:pPr>
                      <a:r>
                        <a:rPr lang="zh-TW" sz="1200">
                          <a:solidFill>
                            <a:schemeClr val="dk1"/>
                          </a:solidFill>
                        </a:rPr>
                        <a:t>16465.286496</a:t>
                      </a:r>
                      <a:endParaRPr sz="1200"/>
                    </a:p>
                  </a:txBody>
                  <a:tcPr marT="91425" marB="91425" marR="91425" marL="91425"/>
                </a:tc>
              </a:tr>
              <a:tr h="391025">
                <a:tc>
                  <a:txBody>
                    <a:bodyPr/>
                    <a:lstStyle/>
                    <a:p>
                      <a:pPr indent="0" lvl="0" marL="0" rtl="0" algn="l">
                        <a:spcBef>
                          <a:spcPts val="0"/>
                        </a:spcBef>
                        <a:spcAft>
                          <a:spcPts val="0"/>
                        </a:spcAft>
                        <a:buClr>
                          <a:schemeClr val="dk1"/>
                        </a:buClr>
                        <a:buSzPts val="1100"/>
                        <a:buFont typeface="Arial"/>
                        <a:buNone/>
                      </a:pPr>
                      <a:r>
                        <a:rPr lang="zh-TW" sz="1200">
                          <a:solidFill>
                            <a:schemeClr val="dk1"/>
                          </a:solidFill>
                        </a:rPr>
                        <a:t>MAGIC_EXT_SOURCES_MAX</a:t>
                      </a:r>
                      <a:endParaRPr sz="1200"/>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zh-TW" sz="1200">
                          <a:solidFill>
                            <a:schemeClr val="dk1"/>
                          </a:solidFill>
                        </a:rPr>
                        <a:t>Max score from external data sources</a:t>
                      </a:r>
                      <a:endParaRPr sz="1200"/>
                    </a:p>
                  </a:txBody>
                  <a:tcPr marT="91425" marB="91425" marR="91425" marL="91425"/>
                </a:tc>
                <a:tc>
                  <a:txBody>
                    <a:bodyPr/>
                    <a:lstStyle/>
                    <a:p>
                      <a:pPr indent="0" lvl="0" marL="0" rtl="0" algn="r">
                        <a:spcBef>
                          <a:spcPts val="0"/>
                        </a:spcBef>
                        <a:spcAft>
                          <a:spcPts val="0"/>
                        </a:spcAft>
                        <a:buClr>
                          <a:schemeClr val="dk1"/>
                        </a:buClr>
                        <a:buSzPts val="1100"/>
                        <a:buFont typeface="Arial"/>
                        <a:buNone/>
                      </a:pPr>
                      <a:r>
                        <a:rPr lang="zh-TW" sz="1200">
                          <a:solidFill>
                            <a:schemeClr val="dk1"/>
                          </a:solidFill>
                        </a:rPr>
                        <a:t>7913.668931</a:t>
                      </a:r>
                      <a:endParaRPr sz="1200"/>
                    </a:p>
                  </a:txBody>
                  <a:tcPr marT="91425" marB="91425" marR="91425" marL="91425"/>
                </a:tc>
              </a:tr>
              <a:tr h="100000">
                <a:tc>
                  <a:txBody>
                    <a:bodyPr/>
                    <a:lstStyle/>
                    <a:p>
                      <a:pPr indent="0" lvl="0" marL="0" rtl="0" algn="l">
                        <a:spcBef>
                          <a:spcPts val="0"/>
                        </a:spcBef>
                        <a:spcAft>
                          <a:spcPts val="0"/>
                        </a:spcAft>
                        <a:buClr>
                          <a:schemeClr val="dk1"/>
                        </a:buClr>
                        <a:buSzPts val="1100"/>
                        <a:buFont typeface="Arial"/>
                        <a:buNone/>
                      </a:pPr>
                      <a:r>
                        <a:rPr lang="zh-TW" sz="1200">
                          <a:solidFill>
                            <a:schemeClr val="dk1"/>
                          </a:solidFill>
                        </a:rPr>
                        <a:t>MAGIC_ANNUITY_TO_CREDIT_RATIO</a:t>
                      </a:r>
                      <a:endParaRPr sz="1200"/>
                    </a:p>
                  </a:txBody>
                  <a:tcPr marT="91425" marB="91425" marR="91425" marL="91425"/>
                </a:tc>
                <a:tc>
                  <a:txBody>
                    <a:bodyPr/>
                    <a:lstStyle/>
                    <a:p>
                      <a:pPr indent="0" lvl="0" marL="0" rtl="0" algn="l">
                        <a:spcBef>
                          <a:spcPts val="0"/>
                        </a:spcBef>
                        <a:spcAft>
                          <a:spcPts val="0"/>
                        </a:spcAft>
                        <a:buNone/>
                      </a:pPr>
                      <a:r>
                        <a:rPr lang="zh-TW" sz="1200"/>
                        <a:t>1 / Repayment period</a:t>
                      </a:r>
                      <a:endParaRPr sz="1200"/>
                    </a:p>
                  </a:txBody>
                  <a:tcPr marT="91425" marB="91425" marR="91425" marL="91425"/>
                </a:tc>
                <a:tc>
                  <a:txBody>
                    <a:bodyPr/>
                    <a:lstStyle/>
                    <a:p>
                      <a:pPr indent="0" lvl="0" marL="0" rtl="0" algn="r">
                        <a:spcBef>
                          <a:spcPts val="0"/>
                        </a:spcBef>
                        <a:spcAft>
                          <a:spcPts val="0"/>
                        </a:spcAft>
                        <a:buClr>
                          <a:schemeClr val="dk1"/>
                        </a:buClr>
                        <a:buSzPts val="1100"/>
                        <a:buFont typeface="Arial"/>
                        <a:buNone/>
                      </a:pPr>
                      <a:r>
                        <a:rPr lang="zh-TW" sz="1200">
                          <a:solidFill>
                            <a:schemeClr val="dk1"/>
                          </a:solidFill>
                        </a:rPr>
                        <a:t>6087.959786</a:t>
                      </a:r>
                      <a:endParaRPr sz="1200"/>
                    </a:p>
                  </a:txBody>
                  <a:tcPr marT="91425" marB="91425" marR="91425" marL="91425"/>
                </a:tc>
              </a:tr>
              <a:tr h="391025">
                <a:tc>
                  <a:txBody>
                    <a:bodyPr/>
                    <a:lstStyle/>
                    <a:p>
                      <a:pPr indent="0" lvl="0" marL="0" rtl="0" algn="l">
                        <a:spcBef>
                          <a:spcPts val="0"/>
                        </a:spcBef>
                        <a:spcAft>
                          <a:spcPts val="0"/>
                        </a:spcAft>
                        <a:buClr>
                          <a:schemeClr val="dk1"/>
                        </a:buClr>
                        <a:buSzPts val="1100"/>
                        <a:buFont typeface="Arial"/>
                        <a:buNone/>
                      </a:pPr>
                      <a:r>
                        <a:rPr lang="zh-TW" sz="1200">
                          <a:solidFill>
                            <a:schemeClr val="dk1"/>
                          </a:solidFill>
                        </a:rPr>
                        <a:t>EXT_SOURCE_3</a:t>
                      </a:r>
                      <a:endParaRPr sz="1200"/>
                    </a:p>
                  </a:txBody>
                  <a:tcPr marT="91425" marB="91425" marR="91425" marL="91425"/>
                </a:tc>
                <a:tc>
                  <a:txBody>
                    <a:bodyPr/>
                    <a:lstStyle/>
                    <a:p>
                      <a:pPr indent="0" lvl="0" marL="0" rtl="0" algn="l">
                        <a:spcBef>
                          <a:spcPts val="0"/>
                        </a:spcBef>
                        <a:spcAft>
                          <a:spcPts val="0"/>
                        </a:spcAft>
                        <a:buNone/>
                      </a:pPr>
                      <a:r>
                        <a:rPr lang="zh-TW" sz="1200"/>
                        <a:t>Normalized score from external data source</a:t>
                      </a:r>
                      <a:endParaRPr sz="1200"/>
                    </a:p>
                  </a:txBody>
                  <a:tcPr marT="91425" marB="91425" marR="91425" marL="91425"/>
                </a:tc>
                <a:tc>
                  <a:txBody>
                    <a:bodyPr/>
                    <a:lstStyle/>
                    <a:p>
                      <a:pPr indent="0" lvl="0" marL="0" rtl="0" algn="r">
                        <a:spcBef>
                          <a:spcPts val="0"/>
                        </a:spcBef>
                        <a:spcAft>
                          <a:spcPts val="0"/>
                        </a:spcAft>
                        <a:buClr>
                          <a:schemeClr val="dk1"/>
                        </a:buClr>
                        <a:buSzPts val="1100"/>
                        <a:buFont typeface="Arial"/>
                        <a:buNone/>
                      </a:pPr>
                      <a:r>
                        <a:rPr lang="zh-TW" sz="1200">
                          <a:solidFill>
                            <a:schemeClr val="dk1"/>
                          </a:solidFill>
                        </a:rPr>
                        <a:t>4385.693044</a:t>
                      </a:r>
                      <a:endParaRPr sz="1200"/>
                    </a:p>
                  </a:txBody>
                  <a:tcPr marT="91425" marB="91425" marR="91425" marL="91425"/>
                </a:tc>
              </a:tr>
              <a:tr h="100000">
                <a:tc>
                  <a:txBody>
                    <a:bodyPr/>
                    <a:lstStyle/>
                    <a:p>
                      <a:pPr indent="0" lvl="0" marL="0" rtl="0" algn="l">
                        <a:spcBef>
                          <a:spcPts val="0"/>
                        </a:spcBef>
                        <a:spcAft>
                          <a:spcPts val="0"/>
                        </a:spcAft>
                        <a:buNone/>
                      </a:pPr>
                      <a:r>
                        <a:rPr lang="zh-TW" sz="1200">
                          <a:solidFill>
                            <a:schemeClr val="dk1"/>
                          </a:solidFill>
                        </a:rPr>
                        <a:t>CC_6M_CC_LIMIT_USE_RATIO_MAX</a:t>
                      </a:r>
                      <a:endParaRPr sz="1200"/>
                    </a:p>
                  </a:txBody>
                  <a:tcPr marT="91425" marB="91425" marR="91425" marL="91425"/>
                </a:tc>
                <a:tc>
                  <a:txBody>
                    <a:bodyPr/>
                    <a:lstStyle/>
                    <a:p>
                      <a:pPr indent="0" lvl="0" marL="0" rtl="0" algn="l">
                        <a:spcBef>
                          <a:spcPts val="0"/>
                        </a:spcBef>
                        <a:spcAft>
                          <a:spcPts val="0"/>
                        </a:spcAft>
                        <a:buNone/>
                      </a:pPr>
                      <a:r>
                        <a:rPr lang="zh-TW" sz="1200"/>
                        <a:t>Max credit usage rate in past 6 months</a:t>
                      </a:r>
                      <a:endParaRPr sz="1200"/>
                    </a:p>
                  </a:txBody>
                  <a:tcPr marT="91425" marB="91425" marR="91425" marL="91425"/>
                </a:tc>
                <a:tc>
                  <a:txBody>
                    <a:bodyPr/>
                    <a:lstStyle/>
                    <a:p>
                      <a:pPr indent="0" lvl="0" marL="0" rtl="0" algn="r">
                        <a:spcBef>
                          <a:spcPts val="0"/>
                        </a:spcBef>
                        <a:spcAft>
                          <a:spcPts val="0"/>
                        </a:spcAft>
                        <a:buNone/>
                      </a:pPr>
                      <a:r>
                        <a:rPr lang="zh-TW" sz="1200">
                          <a:solidFill>
                            <a:schemeClr val="dk1"/>
                          </a:solidFill>
                        </a:rPr>
                        <a:t>4226.744103</a:t>
                      </a:r>
                      <a:endParaRPr sz="1200"/>
                    </a:p>
                  </a:txBody>
                  <a:tcPr marT="91425" marB="91425" marR="91425" marL="91425"/>
                </a:tc>
              </a:tr>
              <a:tr h="391025">
                <a:tc>
                  <a:txBody>
                    <a:bodyPr/>
                    <a:lstStyle/>
                    <a:p>
                      <a:pPr indent="0" lvl="0" marL="0" rtl="0" algn="l">
                        <a:spcBef>
                          <a:spcPts val="0"/>
                        </a:spcBef>
                        <a:spcAft>
                          <a:spcPts val="0"/>
                        </a:spcAft>
                        <a:buNone/>
                      </a:pPr>
                      <a:r>
                        <a:rPr lang="zh-TW" sz="1200">
                          <a:solidFill>
                            <a:schemeClr val="dk1"/>
                          </a:solidFill>
                        </a:rPr>
                        <a:t>DAYS_BIRTH</a:t>
                      </a:r>
                      <a:endParaRPr sz="1200"/>
                    </a:p>
                  </a:txBody>
                  <a:tcPr marT="91425" marB="91425" marR="91425" marL="91425">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zh-TW" sz="1200"/>
                        <a:t>Client's age in days at the time of application</a:t>
                      </a:r>
                      <a:endParaRPr sz="1200"/>
                    </a:p>
                  </a:txBody>
                  <a:tcPr marT="91425" marB="91425" marR="91425" marL="91425">
                    <a:lnB cap="flat" cmpd="sng" w="9525">
                      <a:solidFill>
                        <a:srgbClr val="9E9E9E"/>
                      </a:solidFill>
                      <a:prstDash val="solid"/>
                      <a:round/>
                      <a:headEnd len="sm" w="sm" type="none"/>
                      <a:tailEnd len="sm" w="sm" type="none"/>
                    </a:lnB>
                  </a:tcPr>
                </a:tc>
                <a:tc>
                  <a:txBody>
                    <a:bodyPr/>
                    <a:lstStyle/>
                    <a:p>
                      <a:pPr indent="0" lvl="0" marL="0" rtl="0" algn="r">
                        <a:spcBef>
                          <a:spcPts val="0"/>
                        </a:spcBef>
                        <a:spcAft>
                          <a:spcPts val="0"/>
                        </a:spcAft>
                        <a:buNone/>
                      </a:pPr>
                      <a:r>
                        <a:rPr lang="zh-TW" sz="1200">
                          <a:solidFill>
                            <a:schemeClr val="dk1"/>
                          </a:solidFill>
                        </a:rPr>
                        <a:t>4204.079051</a:t>
                      </a:r>
                      <a:endParaRPr sz="1200"/>
                    </a:p>
                  </a:txBody>
                  <a:tcPr marT="91425" marB="91425" marR="91425" marL="91425">
                    <a:lnB cap="flat" cmpd="sng" w="9525">
                      <a:solidFill>
                        <a:srgbClr val="9E9E9E"/>
                      </a:solidFill>
                      <a:prstDash val="solid"/>
                      <a:round/>
                      <a:headEnd len="sm" w="sm" type="none"/>
                      <a:tailEnd len="sm" w="sm" type="none"/>
                    </a:lnB>
                  </a:tcPr>
                </a:tc>
              </a:tr>
              <a:tr h="100000">
                <a:tc>
                  <a:txBody>
                    <a:bodyPr/>
                    <a:lstStyle/>
                    <a:p>
                      <a:pPr indent="0" lvl="0" marL="0" rtl="0" algn="l">
                        <a:spcBef>
                          <a:spcPts val="0"/>
                        </a:spcBef>
                        <a:spcAft>
                          <a:spcPts val="0"/>
                        </a:spcAft>
                        <a:buNone/>
                      </a:pPr>
                      <a:r>
                        <a:rPr lang="zh-TW" sz="1200">
                          <a:solidFill>
                            <a:schemeClr val="dk1"/>
                          </a:solidFill>
                        </a:rPr>
                        <a:t>MAGIC_CREDIT_TO_GOODS_RATI</a:t>
                      </a:r>
                      <a:r>
                        <a:rPr lang="zh-TW" sz="1200">
                          <a:solidFill>
                            <a:schemeClr val="dk1"/>
                          </a:solidFill>
                        </a:rPr>
                        <a:t>O</a:t>
                      </a:r>
                      <a:endParaRPr sz="12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zh-TW" sz="1200"/>
                        <a:t>Down Payment Ratio</a:t>
                      </a:r>
                      <a:endParaRPr sz="12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r">
                        <a:spcBef>
                          <a:spcPts val="0"/>
                        </a:spcBef>
                        <a:spcAft>
                          <a:spcPts val="0"/>
                        </a:spcAft>
                        <a:buNone/>
                      </a:pPr>
                      <a:r>
                        <a:rPr lang="zh-TW" sz="1200">
                          <a:solidFill>
                            <a:schemeClr val="dk1"/>
                          </a:solidFill>
                        </a:rPr>
                        <a:t>4030.46781</a:t>
                      </a:r>
                      <a:r>
                        <a:rPr lang="zh-TW" sz="1200">
                          <a:solidFill>
                            <a:schemeClr val="dk1"/>
                          </a:solidFill>
                        </a:rPr>
                        <a:t>7</a:t>
                      </a:r>
                      <a:endParaRPr sz="12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100000">
                <a:tc>
                  <a:txBody>
                    <a:bodyPr/>
                    <a:lstStyle/>
                    <a:p>
                      <a:pPr indent="0" lvl="0" marL="0" rtl="0" algn="l">
                        <a:spcBef>
                          <a:spcPts val="0"/>
                        </a:spcBef>
                        <a:spcAft>
                          <a:spcPts val="0"/>
                        </a:spcAft>
                        <a:buNone/>
                      </a:pPr>
                      <a:r>
                        <a:rPr lang="zh-TW" sz="1200">
                          <a:solidFill>
                            <a:schemeClr val="dk1"/>
                          </a:solidFill>
                        </a:rPr>
                        <a:t>POS_6M_CNT_INSTALMENT_FUTURE_MEAN</a:t>
                      </a:r>
                      <a:endParaRPr sz="12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zh-TW" sz="1200">
                          <a:solidFill>
                            <a:schemeClr val="dk1"/>
                          </a:solidFill>
                        </a:rPr>
                        <a:t>MEAN </a:t>
                      </a:r>
                      <a:r>
                        <a:rPr lang="zh-TW" sz="1200"/>
                        <a:t>i</a:t>
                      </a:r>
                      <a:r>
                        <a:rPr lang="zh-TW" sz="1200"/>
                        <a:t>nstallments left </a:t>
                      </a:r>
                      <a:r>
                        <a:rPr lang="zh-TW" sz="1200">
                          <a:solidFill>
                            <a:schemeClr val="dk1"/>
                          </a:solidFill>
                        </a:rPr>
                        <a:t>in past 6 months</a:t>
                      </a:r>
                      <a:endParaRPr sz="12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r">
                        <a:spcBef>
                          <a:spcPts val="0"/>
                        </a:spcBef>
                        <a:spcAft>
                          <a:spcPts val="0"/>
                        </a:spcAft>
                        <a:buNone/>
                      </a:pPr>
                      <a:r>
                        <a:rPr lang="zh-TW" sz="1200">
                          <a:solidFill>
                            <a:schemeClr val="dk1"/>
                          </a:solidFill>
                        </a:rPr>
                        <a:t>3492.832447</a:t>
                      </a:r>
                      <a:endParaRPr sz="12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100000">
                <a:tc>
                  <a:txBody>
                    <a:bodyPr/>
                    <a:lstStyle/>
                    <a:p>
                      <a:pPr indent="0" lvl="0" marL="0" rtl="0" algn="l">
                        <a:spcBef>
                          <a:spcPts val="0"/>
                        </a:spcBef>
                        <a:spcAft>
                          <a:spcPts val="0"/>
                        </a:spcAft>
                        <a:buNone/>
                      </a:pPr>
                      <a:r>
                        <a:rPr lang="zh-TW" sz="1200">
                          <a:solidFill>
                            <a:schemeClr val="dk1"/>
                          </a:solidFill>
                        </a:rPr>
                        <a:t>BUREAU_DAYS_CREDIT_MAX_</a:t>
                      </a:r>
                      <a:r>
                        <a:rPr lang="zh-TW" sz="1200">
                          <a:solidFill>
                            <a:schemeClr val="dk1"/>
                          </a:solidFill>
                        </a:rPr>
                        <a:t>y</a:t>
                      </a:r>
                      <a:endParaRPr sz="12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zh-TW" sz="1200"/>
                        <a:t>Latest (max) days before current application did client apply for Credit Bureau credit</a:t>
                      </a:r>
                      <a:endParaRPr sz="12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r">
                        <a:spcBef>
                          <a:spcPts val="0"/>
                        </a:spcBef>
                        <a:spcAft>
                          <a:spcPts val="0"/>
                        </a:spcAft>
                        <a:buNone/>
                      </a:pPr>
                      <a:r>
                        <a:rPr lang="zh-TW" sz="1200">
                          <a:solidFill>
                            <a:schemeClr val="dk1"/>
                          </a:solidFill>
                        </a:rPr>
                        <a:t>2504.324166</a:t>
                      </a:r>
                      <a:endParaRPr sz="12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bl>
          </a:graphicData>
        </a:graphic>
      </p:graphicFrame>
      <p:sp>
        <p:nvSpPr>
          <p:cNvPr id="137" name="Google Shape;137;p26"/>
          <p:cNvSpPr txBox="1"/>
          <p:nvPr>
            <p:ph type="title"/>
          </p:nvPr>
        </p:nvSpPr>
        <p:spPr>
          <a:xfrm>
            <a:off x="197175" y="53775"/>
            <a:ext cx="8520600" cy="5727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zh-TW" sz="2700"/>
              <a:t>Top 10 Features</a:t>
            </a:r>
            <a:endParaRPr sz="27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7"/>
          <p:cNvSpPr txBox="1"/>
          <p:nvPr>
            <p:ph type="title"/>
          </p:nvPr>
        </p:nvSpPr>
        <p:spPr>
          <a:xfrm>
            <a:off x="197175" y="0"/>
            <a:ext cx="8520600" cy="5727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zh-TW" sz="2700"/>
              <a:t>Top 10 Features</a:t>
            </a:r>
            <a:endParaRPr sz="2700"/>
          </a:p>
        </p:txBody>
      </p:sp>
      <p:pic>
        <p:nvPicPr>
          <p:cNvPr id="143" name="Google Shape;143;p27" title="Importance.png"/>
          <p:cNvPicPr preferRelativeResize="0"/>
          <p:nvPr/>
        </p:nvPicPr>
        <p:blipFill>
          <a:blip r:embed="rId3">
            <a:alphaModFix/>
          </a:blip>
          <a:stretch>
            <a:fillRect/>
          </a:stretch>
        </p:blipFill>
        <p:spPr>
          <a:xfrm>
            <a:off x="0" y="572688"/>
            <a:ext cx="9144000" cy="4571988"/>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8"/>
          <p:cNvSpPr txBox="1"/>
          <p:nvPr>
            <p:ph type="title"/>
          </p:nvPr>
        </p:nvSpPr>
        <p:spPr>
          <a:xfrm>
            <a:off x="0" y="0"/>
            <a:ext cx="25785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None/>
            </a:pPr>
            <a:r>
              <a:rPr lang="zh-TW" sz="1800"/>
              <a:t>M</a:t>
            </a:r>
            <a:r>
              <a:rPr lang="zh-TW" sz="1800"/>
              <a:t>agic feature in </a:t>
            </a:r>
            <a:r>
              <a:rPr lang="zh-TW" sz="1800"/>
              <a:t>top 10</a:t>
            </a:r>
            <a:endParaRPr/>
          </a:p>
        </p:txBody>
      </p:sp>
      <p:graphicFrame>
        <p:nvGraphicFramePr>
          <p:cNvPr id="149" name="Google Shape;149;p28"/>
          <p:cNvGraphicFramePr/>
          <p:nvPr/>
        </p:nvGraphicFramePr>
        <p:xfrm>
          <a:off x="732300" y="572700"/>
          <a:ext cx="3000000" cy="3000000"/>
        </p:xfrm>
        <a:graphic>
          <a:graphicData uri="http://schemas.openxmlformats.org/drawingml/2006/table">
            <a:tbl>
              <a:tblPr>
                <a:noFill/>
                <a:tableStyleId>{741291EA-2813-4315-AF45-5C8EC8A76987}</a:tableStyleId>
              </a:tblPr>
              <a:tblGrid>
                <a:gridCol w="2413000"/>
                <a:gridCol w="4197475"/>
                <a:gridCol w="1469725"/>
              </a:tblGrid>
              <a:tr h="381000">
                <a:tc>
                  <a:txBody>
                    <a:bodyPr/>
                    <a:lstStyle/>
                    <a:p>
                      <a:pPr indent="0" lvl="0" marL="0" rtl="0" algn="l">
                        <a:spcBef>
                          <a:spcPts val="0"/>
                        </a:spcBef>
                        <a:spcAft>
                          <a:spcPts val="0"/>
                        </a:spcAft>
                        <a:buClr>
                          <a:schemeClr val="dk1"/>
                        </a:buClr>
                        <a:buSzPts val="1100"/>
                        <a:buFont typeface="Arial"/>
                        <a:buNone/>
                      </a:pPr>
                      <a:r>
                        <a:rPr lang="zh-TW" sz="1300">
                          <a:solidFill>
                            <a:schemeClr val="dk1"/>
                          </a:solidFill>
                        </a:rPr>
                        <a:t>F</a:t>
                      </a:r>
                      <a:r>
                        <a:rPr lang="zh-TW" sz="1300">
                          <a:solidFill>
                            <a:schemeClr val="dk1"/>
                          </a:solidFill>
                        </a:rPr>
                        <a:t>eature</a:t>
                      </a:r>
                      <a:endParaRPr sz="1300">
                        <a:solidFill>
                          <a:schemeClr val="dk1"/>
                        </a:solidFill>
                      </a:endParaRPr>
                    </a:p>
                  </a:txBody>
                  <a:tcPr marT="91425" marB="91425" marR="91425" marL="91425">
                    <a:solidFill>
                      <a:schemeClr val="lt2"/>
                    </a:solidFill>
                  </a:tcPr>
                </a:tc>
                <a:tc>
                  <a:txBody>
                    <a:bodyPr/>
                    <a:lstStyle/>
                    <a:p>
                      <a:pPr indent="0" lvl="0" marL="0" rtl="0" algn="l">
                        <a:spcBef>
                          <a:spcPts val="0"/>
                        </a:spcBef>
                        <a:spcAft>
                          <a:spcPts val="0"/>
                        </a:spcAft>
                        <a:buNone/>
                      </a:pPr>
                      <a:r>
                        <a:rPr lang="zh-TW" sz="1300"/>
                        <a:t>Description</a:t>
                      </a:r>
                      <a:endParaRPr sz="1300"/>
                    </a:p>
                  </a:txBody>
                  <a:tcPr marT="91425" marB="91425" marR="91425" marL="91425">
                    <a:solidFill>
                      <a:schemeClr val="lt2"/>
                    </a:solidFill>
                  </a:tcPr>
                </a:tc>
                <a:tc>
                  <a:txBody>
                    <a:bodyPr/>
                    <a:lstStyle/>
                    <a:p>
                      <a:pPr indent="0" lvl="0" marL="0" rtl="0" algn="l">
                        <a:spcBef>
                          <a:spcPts val="0"/>
                        </a:spcBef>
                        <a:spcAft>
                          <a:spcPts val="0"/>
                        </a:spcAft>
                        <a:buNone/>
                      </a:pPr>
                      <a:r>
                        <a:rPr lang="zh-TW" sz="1300"/>
                        <a:t>Source</a:t>
                      </a:r>
                      <a:endParaRPr sz="1300"/>
                    </a:p>
                  </a:txBody>
                  <a:tcPr marT="91425" marB="91425" marR="91425" marL="91425">
                    <a:solidFill>
                      <a:schemeClr val="lt2"/>
                    </a:solidFill>
                  </a:tcPr>
                </a:tc>
              </a:tr>
              <a:tr h="381000">
                <a:tc>
                  <a:txBody>
                    <a:bodyPr/>
                    <a:lstStyle/>
                    <a:p>
                      <a:pPr indent="0" lvl="0" marL="0" rtl="0" algn="l">
                        <a:lnSpc>
                          <a:spcPct val="115000"/>
                        </a:lnSpc>
                        <a:spcBef>
                          <a:spcPts val="0"/>
                        </a:spcBef>
                        <a:spcAft>
                          <a:spcPts val="1200"/>
                        </a:spcAft>
                        <a:buClr>
                          <a:schemeClr val="dk1"/>
                        </a:buClr>
                        <a:buSzPts val="1100"/>
                        <a:buFont typeface="Arial"/>
                        <a:buNone/>
                      </a:pPr>
                      <a:r>
                        <a:rPr lang="zh-TW" sz="1300">
                          <a:solidFill>
                            <a:schemeClr val="dk1"/>
                          </a:solidFill>
                        </a:rPr>
                        <a:t>EXT_SOURCE_1</a:t>
                      </a:r>
                      <a:endParaRPr sz="1300"/>
                    </a:p>
                  </a:txBody>
                  <a:tcPr marT="91425" marB="91425" marR="91425" marL="91425"/>
                </a:tc>
                <a:tc>
                  <a:txBody>
                    <a:bodyPr/>
                    <a:lstStyle/>
                    <a:p>
                      <a:pPr indent="0" lvl="0" marL="0" rtl="0" algn="l">
                        <a:spcBef>
                          <a:spcPts val="0"/>
                        </a:spcBef>
                        <a:spcAft>
                          <a:spcPts val="0"/>
                        </a:spcAft>
                        <a:buNone/>
                      </a:pPr>
                      <a:r>
                        <a:rPr lang="zh-TW" sz="1300"/>
                        <a:t>Normalized score from external data source</a:t>
                      </a:r>
                      <a:endParaRPr sz="1300"/>
                    </a:p>
                  </a:txBody>
                  <a:tcPr marT="91425" marB="91425" marR="91425" marL="91425"/>
                </a:tc>
                <a:tc>
                  <a:txBody>
                    <a:bodyPr/>
                    <a:lstStyle/>
                    <a:p>
                      <a:pPr indent="0" lvl="0" marL="0" rtl="0" algn="l">
                        <a:spcBef>
                          <a:spcPts val="0"/>
                        </a:spcBef>
                        <a:spcAft>
                          <a:spcPts val="0"/>
                        </a:spcAft>
                        <a:buNone/>
                      </a:pPr>
                      <a:r>
                        <a:rPr lang="zh-TW" sz="1300"/>
                        <a:t>main chart</a:t>
                      </a:r>
                      <a:endParaRPr sz="1300"/>
                    </a:p>
                  </a:txBody>
                  <a:tcPr marT="91425" marB="91425" marR="91425" marL="91425"/>
                </a:tc>
              </a:tr>
              <a:tr h="381000">
                <a:tc>
                  <a:txBody>
                    <a:bodyPr/>
                    <a:lstStyle/>
                    <a:p>
                      <a:pPr indent="0" lvl="0" marL="0" rtl="0" algn="l">
                        <a:lnSpc>
                          <a:spcPct val="115000"/>
                        </a:lnSpc>
                        <a:spcBef>
                          <a:spcPts val="0"/>
                        </a:spcBef>
                        <a:spcAft>
                          <a:spcPts val="1200"/>
                        </a:spcAft>
                        <a:buClr>
                          <a:schemeClr val="dk1"/>
                        </a:buClr>
                        <a:buSzPts val="1100"/>
                        <a:buFont typeface="Arial"/>
                        <a:buNone/>
                      </a:pPr>
                      <a:r>
                        <a:rPr lang="zh-TW" sz="1300">
                          <a:solidFill>
                            <a:schemeClr val="dk1"/>
                          </a:solidFill>
                        </a:rPr>
                        <a:t>EXT_SOURCE_2</a:t>
                      </a:r>
                      <a:endParaRPr sz="1300"/>
                    </a:p>
                  </a:txBody>
                  <a:tcPr marT="91425" marB="91425" marR="91425" marL="91425"/>
                </a:tc>
                <a:tc>
                  <a:txBody>
                    <a:bodyPr/>
                    <a:lstStyle/>
                    <a:p>
                      <a:pPr indent="0" lvl="0" marL="0" rtl="0" algn="l">
                        <a:spcBef>
                          <a:spcPts val="0"/>
                        </a:spcBef>
                        <a:spcAft>
                          <a:spcPts val="0"/>
                        </a:spcAft>
                        <a:buNone/>
                      </a:pPr>
                      <a:r>
                        <a:rPr lang="zh-TW" sz="1300">
                          <a:solidFill>
                            <a:schemeClr val="dk1"/>
                          </a:solidFill>
                        </a:rPr>
                        <a:t>Normalized score from external data source</a:t>
                      </a:r>
                      <a:endParaRPr sz="1300"/>
                    </a:p>
                  </a:txBody>
                  <a:tcPr marT="91425" marB="91425" marR="91425" marL="91425"/>
                </a:tc>
                <a:tc>
                  <a:txBody>
                    <a:bodyPr/>
                    <a:lstStyle/>
                    <a:p>
                      <a:pPr indent="0" lvl="0" marL="0" rtl="0" algn="l">
                        <a:spcBef>
                          <a:spcPts val="0"/>
                        </a:spcBef>
                        <a:spcAft>
                          <a:spcPts val="0"/>
                        </a:spcAft>
                        <a:buNone/>
                      </a:pPr>
                      <a:r>
                        <a:rPr lang="zh-TW" sz="1300">
                          <a:solidFill>
                            <a:schemeClr val="dk1"/>
                          </a:solidFill>
                        </a:rPr>
                        <a:t>main chart</a:t>
                      </a:r>
                      <a:endParaRPr sz="1300"/>
                    </a:p>
                  </a:txBody>
                  <a:tcPr marT="91425" marB="91425" marR="91425" marL="91425"/>
                </a:tc>
              </a:tr>
              <a:tr h="381000">
                <a:tc>
                  <a:txBody>
                    <a:bodyPr/>
                    <a:lstStyle/>
                    <a:p>
                      <a:pPr indent="0" lvl="0" marL="0" rtl="0" algn="l">
                        <a:lnSpc>
                          <a:spcPct val="115000"/>
                        </a:lnSpc>
                        <a:spcBef>
                          <a:spcPts val="0"/>
                        </a:spcBef>
                        <a:spcAft>
                          <a:spcPts val="1200"/>
                        </a:spcAft>
                        <a:buClr>
                          <a:schemeClr val="dk1"/>
                        </a:buClr>
                        <a:buSzPts val="1100"/>
                        <a:buFont typeface="Arial"/>
                        <a:buNone/>
                      </a:pPr>
                      <a:r>
                        <a:rPr lang="zh-TW" sz="1300">
                          <a:solidFill>
                            <a:schemeClr val="dk1"/>
                          </a:solidFill>
                        </a:rPr>
                        <a:t>EXT_SOURCE_3</a:t>
                      </a:r>
                      <a:endParaRPr sz="1300"/>
                    </a:p>
                  </a:txBody>
                  <a:tcPr marT="91425" marB="91425" marR="91425" marL="91425"/>
                </a:tc>
                <a:tc>
                  <a:txBody>
                    <a:bodyPr/>
                    <a:lstStyle/>
                    <a:p>
                      <a:pPr indent="0" lvl="0" marL="0" rtl="0" algn="l">
                        <a:spcBef>
                          <a:spcPts val="0"/>
                        </a:spcBef>
                        <a:spcAft>
                          <a:spcPts val="0"/>
                        </a:spcAft>
                        <a:buNone/>
                      </a:pPr>
                      <a:r>
                        <a:rPr lang="zh-TW" sz="1300">
                          <a:solidFill>
                            <a:schemeClr val="dk1"/>
                          </a:solidFill>
                        </a:rPr>
                        <a:t>Normalized score from external data source</a:t>
                      </a:r>
                      <a:endParaRPr sz="1300"/>
                    </a:p>
                  </a:txBody>
                  <a:tcPr marT="91425" marB="91425" marR="91425" marL="91425"/>
                </a:tc>
                <a:tc>
                  <a:txBody>
                    <a:bodyPr/>
                    <a:lstStyle/>
                    <a:p>
                      <a:pPr indent="0" lvl="0" marL="0" rtl="0" algn="l">
                        <a:spcBef>
                          <a:spcPts val="0"/>
                        </a:spcBef>
                        <a:spcAft>
                          <a:spcPts val="0"/>
                        </a:spcAft>
                        <a:buNone/>
                      </a:pPr>
                      <a:r>
                        <a:rPr lang="zh-TW" sz="1300">
                          <a:solidFill>
                            <a:schemeClr val="dk1"/>
                          </a:solidFill>
                        </a:rPr>
                        <a:t>main chart</a:t>
                      </a:r>
                      <a:endParaRPr sz="1300"/>
                    </a:p>
                  </a:txBody>
                  <a:tcPr marT="91425" marB="91425" marR="91425" marL="91425"/>
                </a:tc>
              </a:tr>
            </a:tbl>
          </a:graphicData>
        </a:graphic>
      </p:graphicFrame>
      <p:sp>
        <p:nvSpPr>
          <p:cNvPr id="150" name="Google Shape;150;p28"/>
          <p:cNvSpPr txBox="1"/>
          <p:nvPr/>
        </p:nvSpPr>
        <p:spPr>
          <a:xfrm>
            <a:off x="3272400" y="172500"/>
            <a:ext cx="3000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zh-TW"/>
              <a:t>Related features</a:t>
            </a:r>
            <a:endParaRPr/>
          </a:p>
        </p:txBody>
      </p:sp>
      <p:graphicFrame>
        <p:nvGraphicFramePr>
          <p:cNvPr id="151" name="Google Shape;151;p28"/>
          <p:cNvGraphicFramePr/>
          <p:nvPr/>
        </p:nvGraphicFramePr>
        <p:xfrm>
          <a:off x="0" y="2205225"/>
          <a:ext cx="3000000" cy="3000000"/>
        </p:xfrm>
        <a:graphic>
          <a:graphicData uri="http://schemas.openxmlformats.org/drawingml/2006/table">
            <a:tbl>
              <a:tblPr>
                <a:noFill/>
                <a:tableStyleId>{741291EA-2813-4315-AF45-5C8EC8A76987}</a:tableStyleId>
              </a:tblPr>
              <a:tblGrid>
                <a:gridCol w="1337375"/>
                <a:gridCol w="4256400"/>
                <a:gridCol w="3550200"/>
              </a:tblGrid>
              <a:tr h="381000">
                <a:tc>
                  <a:txBody>
                    <a:bodyPr/>
                    <a:lstStyle/>
                    <a:p>
                      <a:pPr indent="0" lvl="0" marL="0" rtl="0" algn="l">
                        <a:lnSpc>
                          <a:spcPct val="115000"/>
                        </a:lnSpc>
                        <a:spcBef>
                          <a:spcPts val="0"/>
                        </a:spcBef>
                        <a:spcAft>
                          <a:spcPts val="1200"/>
                        </a:spcAft>
                        <a:buNone/>
                      </a:pPr>
                      <a:r>
                        <a:rPr lang="zh-TW" sz="1300">
                          <a:solidFill>
                            <a:schemeClr val="dk1"/>
                          </a:solidFill>
                        </a:rPr>
                        <a:t>F</a:t>
                      </a:r>
                      <a:r>
                        <a:rPr lang="zh-TW" sz="1300">
                          <a:solidFill>
                            <a:schemeClr val="dk1"/>
                          </a:solidFill>
                        </a:rPr>
                        <a:t>eature</a:t>
                      </a:r>
                      <a:endParaRPr sz="1300"/>
                    </a:p>
                  </a:txBody>
                  <a:tcPr marT="91425" marB="91425" marR="91425" marL="91425">
                    <a:solidFill>
                      <a:schemeClr val="lt2"/>
                    </a:solidFill>
                  </a:tcPr>
                </a:tc>
                <a:tc>
                  <a:txBody>
                    <a:bodyPr/>
                    <a:lstStyle/>
                    <a:p>
                      <a:pPr indent="0" lvl="0" marL="0" rtl="0" algn="l">
                        <a:spcBef>
                          <a:spcPts val="0"/>
                        </a:spcBef>
                        <a:spcAft>
                          <a:spcPts val="0"/>
                        </a:spcAft>
                        <a:buNone/>
                      </a:pPr>
                      <a:r>
                        <a:rPr lang="zh-TW" sz="1300"/>
                        <a:t>Formula</a:t>
                      </a:r>
                      <a:endParaRPr sz="1300"/>
                    </a:p>
                  </a:txBody>
                  <a:tcPr marT="91425" marB="91425" marR="91425" marL="91425">
                    <a:solidFill>
                      <a:schemeClr val="lt2"/>
                    </a:solidFill>
                  </a:tcPr>
                </a:tc>
                <a:tc>
                  <a:txBody>
                    <a:bodyPr/>
                    <a:lstStyle/>
                    <a:p>
                      <a:pPr indent="0" lvl="0" marL="0" rtl="0" algn="l">
                        <a:spcBef>
                          <a:spcPts val="0"/>
                        </a:spcBef>
                        <a:spcAft>
                          <a:spcPts val="0"/>
                        </a:spcAft>
                        <a:buNone/>
                      </a:pPr>
                      <a:r>
                        <a:rPr lang="zh-TW" sz="1300"/>
                        <a:t>Description</a:t>
                      </a:r>
                      <a:endParaRPr sz="1300"/>
                    </a:p>
                  </a:txBody>
                  <a:tcPr marT="91425" marB="91425" marR="91425" marL="91425">
                    <a:solidFill>
                      <a:schemeClr val="lt2"/>
                    </a:solidFill>
                  </a:tcPr>
                </a:tc>
              </a:tr>
              <a:tr h="381000">
                <a:tc>
                  <a:txBody>
                    <a:bodyPr/>
                    <a:lstStyle/>
                    <a:p>
                      <a:pPr indent="0" lvl="0" marL="0" rtl="0" algn="l">
                        <a:lnSpc>
                          <a:spcPct val="115000"/>
                        </a:lnSpc>
                        <a:spcBef>
                          <a:spcPts val="0"/>
                        </a:spcBef>
                        <a:spcAft>
                          <a:spcPts val="1200"/>
                        </a:spcAft>
                        <a:buNone/>
                      </a:pPr>
                      <a:r>
                        <a:rPr lang="zh-TW" sz="1300">
                          <a:solidFill>
                            <a:schemeClr val="dk1"/>
                          </a:solidFill>
                        </a:rPr>
                        <a:t>MAGIC_EXT_SOURCES_MEAN</a:t>
                      </a:r>
                      <a:endParaRPr sz="1300"/>
                    </a:p>
                  </a:txBody>
                  <a:tcPr marT="91425" marB="91425" marR="91425" marL="91425">
                    <a:solidFill>
                      <a:schemeClr val="accent6"/>
                    </a:solidFill>
                  </a:tcPr>
                </a:tc>
                <a:tc>
                  <a:txBody>
                    <a:bodyPr/>
                    <a:lstStyle/>
                    <a:p>
                      <a:pPr indent="0" lvl="0" marL="0" rtl="0" algn="l">
                        <a:lnSpc>
                          <a:spcPct val="115000"/>
                        </a:lnSpc>
                        <a:spcBef>
                          <a:spcPts val="0"/>
                        </a:spcBef>
                        <a:spcAft>
                          <a:spcPts val="1200"/>
                        </a:spcAft>
                        <a:buNone/>
                      </a:pPr>
                      <a:r>
                        <a:rPr lang="zh-TW" sz="1300">
                          <a:solidFill>
                            <a:schemeClr val="dk1"/>
                          </a:solidFill>
                        </a:rPr>
                        <a:t>mean (EXT_SOURCE_1, EXT_SOURCE_2, EXT_SOURCE_3)</a:t>
                      </a:r>
                      <a:endParaRPr sz="1300"/>
                    </a:p>
                  </a:txBody>
                  <a:tcPr marT="91425" marB="91425" marR="91425" marL="91425"/>
                </a:tc>
                <a:tc>
                  <a:txBody>
                    <a:bodyPr/>
                    <a:lstStyle/>
                    <a:p>
                      <a:pPr indent="0" lvl="0" marL="0" rtl="0" algn="l">
                        <a:lnSpc>
                          <a:spcPct val="115000"/>
                        </a:lnSpc>
                        <a:spcBef>
                          <a:spcPts val="0"/>
                        </a:spcBef>
                        <a:spcAft>
                          <a:spcPts val="1200"/>
                        </a:spcAft>
                        <a:buNone/>
                      </a:pPr>
                      <a:r>
                        <a:rPr lang="zh-TW" sz="1300">
                          <a:solidFill>
                            <a:schemeClr val="dk1"/>
                          </a:solidFill>
                        </a:rPr>
                        <a:t>-</a:t>
                      </a:r>
                      <a:endParaRPr sz="1300">
                        <a:solidFill>
                          <a:schemeClr val="dk1"/>
                        </a:solidFill>
                      </a:endParaRPr>
                    </a:p>
                  </a:txBody>
                  <a:tcPr marT="91425" marB="91425" marR="91425" marL="91425"/>
                </a:tc>
              </a:tr>
              <a:tr h="381000">
                <a:tc>
                  <a:txBody>
                    <a:bodyPr/>
                    <a:lstStyle/>
                    <a:p>
                      <a:pPr indent="0" lvl="0" marL="0" rtl="0" algn="l">
                        <a:lnSpc>
                          <a:spcPct val="115000"/>
                        </a:lnSpc>
                        <a:spcBef>
                          <a:spcPts val="0"/>
                        </a:spcBef>
                        <a:spcAft>
                          <a:spcPts val="1200"/>
                        </a:spcAft>
                        <a:buNone/>
                      </a:pPr>
                      <a:r>
                        <a:rPr lang="zh-TW" sz="1300">
                          <a:solidFill>
                            <a:schemeClr val="dk1"/>
                          </a:solidFill>
                        </a:rPr>
                        <a:t>MAGIC_EXT_SOURCES_MAX</a:t>
                      </a:r>
                      <a:endParaRPr sz="1300"/>
                    </a:p>
                  </a:txBody>
                  <a:tcPr marT="91425" marB="91425" marR="91425" marL="91425">
                    <a:solidFill>
                      <a:schemeClr val="accent6"/>
                    </a:solidFill>
                  </a:tcPr>
                </a:tc>
                <a:tc>
                  <a:txBody>
                    <a:bodyPr/>
                    <a:lstStyle/>
                    <a:p>
                      <a:pPr indent="0" lvl="0" marL="0" rtl="0" algn="l">
                        <a:lnSpc>
                          <a:spcPct val="115000"/>
                        </a:lnSpc>
                        <a:spcBef>
                          <a:spcPts val="0"/>
                        </a:spcBef>
                        <a:spcAft>
                          <a:spcPts val="1200"/>
                        </a:spcAft>
                        <a:buNone/>
                      </a:pPr>
                      <a:r>
                        <a:rPr lang="zh-TW" sz="1300">
                          <a:solidFill>
                            <a:schemeClr val="dk1"/>
                          </a:solidFill>
                        </a:rPr>
                        <a:t>max (EXT_SOURCE_1, EXT_SOURCE_2, EXT_SOURCE_3)</a:t>
                      </a:r>
                      <a:endParaRPr sz="1300">
                        <a:solidFill>
                          <a:schemeClr val="dk1"/>
                        </a:solidFill>
                      </a:endParaRPr>
                    </a:p>
                  </a:txBody>
                  <a:tcPr marT="91425" marB="91425" marR="91425" marL="91425"/>
                </a:tc>
                <a:tc>
                  <a:txBody>
                    <a:bodyPr/>
                    <a:lstStyle/>
                    <a:p>
                      <a:pPr indent="0" lvl="0" marL="0" rtl="0" algn="l">
                        <a:lnSpc>
                          <a:spcPct val="115000"/>
                        </a:lnSpc>
                        <a:spcBef>
                          <a:spcPts val="0"/>
                        </a:spcBef>
                        <a:spcAft>
                          <a:spcPts val="1200"/>
                        </a:spcAft>
                        <a:buNone/>
                      </a:pPr>
                      <a:r>
                        <a:rPr lang="zh-TW" sz="1300">
                          <a:solidFill>
                            <a:schemeClr val="dk1"/>
                          </a:solidFill>
                        </a:rPr>
                        <a:t>-</a:t>
                      </a:r>
                      <a:endParaRPr sz="1300">
                        <a:solidFill>
                          <a:schemeClr val="dk1"/>
                        </a:solidFill>
                      </a:endParaRPr>
                    </a:p>
                  </a:txBody>
                  <a:tcPr marT="91425" marB="91425" marR="91425" marL="91425"/>
                </a:tc>
              </a:tr>
              <a:tr h="381000">
                <a:tc>
                  <a:txBody>
                    <a:bodyPr/>
                    <a:lstStyle/>
                    <a:p>
                      <a:pPr indent="0" lvl="0" marL="0" rtl="0" algn="l">
                        <a:lnSpc>
                          <a:spcPct val="115000"/>
                        </a:lnSpc>
                        <a:spcBef>
                          <a:spcPts val="0"/>
                        </a:spcBef>
                        <a:spcAft>
                          <a:spcPts val="1200"/>
                        </a:spcAft>
                        <a:buNone/>
                      </a:pPr>
                      <a:r>
                        <a:rPr lang="zh-TW" sz="1300">
                          <a:solidFill>
                            <a:schemeClr val="dk1"/>
                          </a:solidFill>
                        </a:rPr>
                        <a:t>MAGIC_EXT_SOURCES_MIN</a:t>
                      </a:r>
                      <a:endParaRPr sz="1300"/>
                    </a:p>
                  </a:txBody>
                  <a:tcPr marT="91425" marB="91425" marR="91425" marL="91425">
                    <a:solidFill>
                      <a:schemeClr val="accent6"/>
                    </a:solidFill>
                  </a:tcPr>
                </a:tc>
                <a:tc>
                  <a:txBody>
                    <a:bodyPr/>
                    <a:lstStyle/>
                    <a:p>
                      <a:pPr indent="0" lvl="0" marL="0" rtl="0" algn="l">
                        <a:lnSpc>
                          <a:spcPct val="115000"/>
                        </a:lnSpc>
                        <a:spcBef>
                          <a:spcPts val="0"/>
                        </a:spcBef>
                        <a:spcAft>
                          <a:spcPts val="1200"/>
                        </a:spcAft>
                        <a:buNone/>
                      </a:pPr>
                      <a:r>
                        <a:rPr lang="zh-TW" sz="1300">
                          <a:solidFill>
                            <a:schemeClr val="dk1"/>
                          </a:solidFill>
                        </a:rPr>
                        <a:t>min (EXT_SOURCE_1, EXT_SOURCE_2, EXT_SOURCE_3)</a:t>
                      </a:r>
                      <a:endParaRPr sz="1300">
                        <a:solidFill>
                          <a:schemeClr val="dk1"/>
                        </a:solidFill>
                      </a:endParaRPr>
                    </a:p>
                  </a:txBody>
                  <a:tcPr marT="91425" marB="91425" marR="91425" marL="91425"/>
                </a:tc>
                <a:tc>
                  <a:txBody>
                    <a:bodyPr/>
                    <a:lstStyle/>
                    <a:p>
                      <a:pPr indent="0" lvl="0" marL="0" rtl="0" algn="l">
                        <a:lnSpc>
                          <a:spcPct val="115000"/>
                        </a:lnSpc>
                        <a:spcBef>
                          <a:spcPts val="0"/>
                        </a:spcBef>
                        <a:spcAft>
                          <a:spcPts val="1200"/>
                        </a:spcAft>
                        <a:buNone/>
                      </a:pPr>
                      <a:r>
                        <a:rPr lang="zh-TW" sz="1300">
                          <a:solidFill>
                            <a:schemeClr val="dk1"/>
                          </a:solidFill>
                        </a:rPr>
                        <a:t>-</a:t>
                      </a:r>
                      <a:endParaRPr sz="1300">
                        <a:solidFill>
                          <a:schemeClr val="dk1"/>
                        </a:solidFill>
                      </a:endParaRPr>
                    </a:p>
                  </a:txBody>
                  <a:tcPr marT="91425" marB="91425" marR="91425" marL="91425"/>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156" name="Google Shape;156;p29"/>
          <p:cNvSpPr txBox="1"/>
          <p:nvPr>
            <p:ph type="title"/>
          </p:nvPr>
        </p:nvSpPr>
        <p:spPr>
          <a:xfrm>
            <a:off x="0" y="0"/>
            <a:ext cx="25785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None/>
            </a:pPr>
            <a:r>
              <a:rPr lang="zh-TW" sz="1800"/>
              <a:t>Magic feature in top 10</a:t>
            </a:r>
            <a:endParaRPr/>
          </a:p>
        </p:txBody>
      </p:sp>
      <p:graphicFrame>
        <p:nvGraphicFramePr>
          <p:cNvPr id="157" name="Google Shape;157;p29"/>
          <p:cNvGraphicFramePr/>
          <p:nvPr/>
        </p:nvGraphicFramePr>
        <p:xfrm>
          <a:off x="732300" y="572700"/>
          <a:ext cx="3000000" cy="3000000"/>
        </p:xfrm>
        <a:graphic>
          <a:graphicData uri="http://schemas.openxmlformats.org/drawingml/2006/table">
            <a:tbl>
              <a:tblPr>
                <a:noFill/>
                <a:tableStyleId>{741291EA-2813-4315-AF45-5C8EC8A76987}</a:tableStyleId>
              </a:tblPr>
              <a:tblGrid>
                <a:gridCol w="1506450"/>
                <a:gridCol w="4579175"/>
                <a:gridCol w="1994575"/>
              </a:tblGrid>
              <a:tr h="381000">
                <a:tc>
                  <a:txBody>
                    <a:bodyPr/>
                    <a:lstStyle/>
                    <a:p>
                      <a:pPr indent="0" lvl="0" marL="0" rtl="0" algn="l">
                        <a:spcBef>
                          <a:spcPts val="0"/>
                        </a:spcBef>
                        <a:spcAft>
                          <a:spcPts val="0"/>
                        </a:spcAft>
                        <a:buNone/>
                      </a:pPr>
                      <a:r>
                        <a:rPr lang="zh-TW" sz="1300">
                          <a:solidFill>
                            <a:schemeClr val="dk1"/>
                          </a:solidFill>
                        </a:rPr>
                        <a:t>Feature</a:t>
                      </a:r>
                      <a:endParaRPr sz="1300">
                        <a:solidFill>
                          <a:schemeClr val="dk1"/>
                        </a:solidFill>
                      </a:endParaRPr>
                    </a:p>
                  </a:txBody>
                  <a:tcPr marT="91425" marB="91425" marR="91425" marL="91425">
                    <a:solidFill>
                      <a:schemeClr val="lt2"/>
                    </a:solidFill>
                  </a:tcPr>
                </a:tc>
                <a:tc>
                  <a:txBody>
                    <a:bodyPr/>
                    <a:lstStyle/>
                    <a:p>
                      <a:pPr indent="0" lvl="0" marL="0" rtl="0" algn="l">
                        <a:spcBef>
                          <a:spcPts val="0"/>
                        </a:spcBef>
                        <a:spcAft>
                          <a:spcPts val="0"/>
                        </a:spcAft>
                        <a:buNone/>
                      </a:pPr>
                      <a:r>
                        <a:rPr lang="zh-TW" sz="1300"/>
                        <a:t>Description</a:t>
                      </a:r>
                      <a:endParaRPr sz="1300"/>
                    </a:p>
                  </a:txBody>
                  <a:tcPr marT="91425" marB="91425" marR="91425" marL="91425">
                    <a:solidFill>
                      <a:schemeClr val="lt2"/>
                    </a:solidFill>
                  </a:tcPr>
                </a:tc>
                <a:tc>
                  <a:txBody>
                    <a:bodyPr/>
                    <a:lstStyle/>
                    <a:p>
                      <a:pPr indent="0" lvl="0" marL="0" rtl="0" algn="l">
                        <a:spcBef>
                          <a:spcPts val="0"/>
                        </a:spcBef>
                        <a:spcAft>
                          <a:spcPts val="0"/>
                        </a:spcAft>
                        <a:buNone/>
                      </a:pPr>
                      <a:r>
                        <a:rPr lang="zh-TW" sz="1300"/>
                        <a:t>Source</a:t>
                      </a:r>
                      <a:endParaRPr sz="1300"/>
                    </a:p>
                  </a:txBody>
                  <a:tcPr marT="91425" marB="91425" marR="91425" marL="91425">
                    <a:solidFill>
                      <a:schemeClr val="lt2"/>
                    </a:solidFill>
                  </a:tcPr>
                </a:tc>
              </a:tr>
              <a:tr h="381000">
                <a:tc>
                  <a:txBody>
                    <a:bodyPr/>
                    <a:lstStyle/>
                    <a:p>
                      <a:pPr indent="0" lvl="0" marL="0" rtl="0" algn="l">
                        <a:lnSpc>
                          <a:spcPct val="115000"/>
                        </a:lnSpc>
                        <a:spcBef>
                          <a:spcPts val="0"/>
                        </a:spcBef>
                        <a:spcAft>
                          <a:spcPts val="1200"/>
                        </a:spcAft>
                        <a:buNone/>
                      </a:pPr>
                      <a:r>
                        <a:rPr lang="zh-TW" sz="1300">
                          <a:solidFill>
                            <a:schemeClr val="dk1"/>
                          </a:solidFill>
                        </a:rPr>
                        <a:t>AMT_ANNUITY</a:t>
                      </a:r>
                      <a:endParaRPr sz="1300"/>
                    </a:p>
                  </a:txBody>
                  <a:tcPr marT="91425" marB="91425" marR="91425" marL="91425"/>
                </a:tc>
                <a:tc>
                  <a:txBody>
                    <a:bodyPr/>
                    <a:lstStyle/>
                    <a:p>
                      <a:pPr indent="0" lvl="0" marL="0" rtl="0" algn="l">
                        <a:spcBef>
                          <a:spcPts val="0"/>
                        </a:spcBef>
                        <a:spcAft>
                          <a:spcPts val="0"/>
                        </a:spcAft>
                        <a:buNone/>
                      </a:pPr>
                      <a:r>
                        <a:rPr lang="zh-TW" sz="1300"/>
                        <a:t>Annuity of previous application</a:t>
                      </a:r>
                      <a:endParaRPr sz="1300"/>
                    </a:p>
                  </a:txBody>
                  <a:tcPr marT="91425" marB="91425" marR="91425" marL="91425"/>
                </a:tc>
                <a:tc>
                  <a:txBody>
                    <a:bodyPr/>
                    <a:lstStyle/>
                    <a:p>
                      <a:pPr indent="0" lvl="0" marL="0" rtl="0" algn="l">
                        <a:spcBef>
                          <a:spcPts val="0"/>
                        </a:spcBef>
                        <a:spcAft>
                          <a:spcPts val="0"/>
                        </a:spcAft>
                        <a:buNone/>
                      </a:pPr>
                      <a:r>
                        <a:rPr lang="zh-TW" sz="1300"/>
                        <a:t>previous_application</a:t>
                      </a:r>
                      <a:endParaRPr sz="1300"/>
                    </a:p>
                  </a:txBody>
                  <a:tcPr marT="91425" marB="91425" marR="91425" marL="91425"/>
                </a:tc>
              </a:tr>
              <a:tr h="381000">
                <a:tc>
                  <a:txBody>
                    <a:bodyPr/>
                    <a:lstStyle/>
                    <a:p>
                      <a:pPr indent="0" lvl="0" marL="0" rtl="0" algn="l">
                        <a:lnSpc>
                          <a:spcPct val="115000"/>
                        </a:lnSpc>
                        <a:spcBef>
                          <a:spcPts val="0"/>
                        </a:spcBef>
                        <a:spcAft>
                          <a:spcPts val="1200"/>
                        </a:spcAft>
                        <a:buNone/>
                      </a:pPr>
                      <a:r>
                        <a:rPr lang="zh-TW" sz="1300">
                          <a:solidFill>
                            <a:schemeClr val="dk1"/>
                          </a:solidFill>
                        </a:rPr>
                        <a:t>AMT_CREDIT</a:t>
                      </a:r>
                      <a:endParaRPr sz="1300"/>
                    </a:p>
                  </a:txBody>
                  <a:tcPr marT="91425" marB="91425" marR="91425" marL="91425"/>
                </a:tc>
                <a:tc>
                  <a:txBody>
                    <a:bodyPr/>
                    <a:lstStyle/>
                    <a:p>
                      <a:pPr indent="0" lvl="0" marL="0" rtl="0" algn="l">
                        <a:spcBef>
                          <a:spcPts val="0"/>
                        </a:spcBef>
                        <a:spcAft>
                          <a:spcPts val="0"/>
                        </a:spcAft>
                        <a:buNone/>
                      </a:pPr>
                      <a:r>
                        <a:rPr lang="zh-TW" sz="1300">
                          <a:solidFill>
                            <a:schemeClr val="dk1"/>
                          </a:solidFill>
                        </a:rPr>
                        <a:t>Final credit amount on the previous application</a:t>
                      </a:r>
                      <a:endParaRPr sz="1300"/>
                    </a:p>
                  </a:txBody>
                  <a:tcPr marT="91425" marB="91425" marR="91425" marL="91425"/>
                </a:tc>
                <a:tc>
                  <a:txBody>
                    <a:bodyPr/>
                    <a:lstStyle/>
                    <a:p>
                      <a:pPr indent="0" lvl="0" marL="0" rtl="0" algn="l">
                        <a:spcBef>
                          <a:spcPts val="0"/>
                        </a:spcBef>
                        <a:spcAft>
                          <a:spcPts val="0"/>
                        </a:spcAft>
                        <a:buNone/>
                      </a:pPr>
                      <a:r>
                        <a:rPr lang="zh-TW" sz="1300">
                          <a:solidFill>
                            <a:schemeClr val="dk1"/>
                          </a:solidFill>
                        </a:rPr>
                        <a:t>previous_application</a:t>
                      </a:r>
                      <a:endParaRPr sz="1300">
                        <a:solidFill>
                          <a:schemeClr val="dk1"/>
                        </a:solidFill>
                      </a:endParaRPr>
                    </a:p>
                  </a:txBody>
                  <a:tcPr marT="91425" marB="91425" marR="91425" marL="91425"/>
                </a:tc>
              </a:tr>
            </a:tbl>
          </a:graphicData>
        </a:graphic>
      </p:graphicFrame>
      <p:sp>
        <p:nvSpPr>
          <p:cNvPr id="158" name="Google Shape;158;p29"/>
          <p:cNvSpPr txBox="1"/>
          <p:nvPr/>
        </p:nvSpPr>
        <p:spPr>
          <a:xfrm>
            <a:off x="3272400" y="172500"/>
            <a:ext cx="3000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zh-TW"/>
              <a:t>Related features</a:t>
            </a:r>
            <a:endParaRPr/>
          </a:p>
        </p:txBody>
      </p:sp>
      <p:graphicFrame>
        <p:nvGraphicFramePr>
          <p:cNvPr id="159" name="Google Shape;159;p29"/>
          <p:cNvGraphicFramePr/>
          <p:nvPr/>
        </p:nvGraphicFramePr>
        <p:xfrm>
          <a:off x="0" y="2205225"/>
          <a:ext cx="3000000" cy="3000000"/>
        </p:xfrm>
        <a:graphic>
          <a:graphicData uri="http://schemas.openxmlformats.org/drawingml/2006/table">
            <a:tbl>
              <a:tblPr>
                <a:noFill/>
                <a:tableStyleId>{741291EA-2813-4315-AF45-5C8EC8A76987}</a:tableStyleId>
              </a:tblPr>
              <a:tblGrid>
                <a:gridCol w="2119850"/>
                <a:gridCol w="2557825"/>
                <a:gridCol w="4466300"/>
              </a:tblGrid>
              <a:tr h="381000">
                <a:tc>
                  <a:txBody>
                    <a:bodyPr/>
                    <a:lstStyle/>
                    <a:p>
                      <a:pPr indent="0" lvl="0" marL="0" rtl="0" algn="l">
                        <a:lnSpc>
                          <a:spcPct val="115000"/>
                        </a:lnSpc>
                        <a:spcBef>
                          <a:spcPts val="0"/>
                        </a:spcBef>
                        <a:spcAft>
                          <a:spcPts val="1200"/>
                        </a:spcAft>
                        <a:buNone/>
                      </a:pPr>
                      <a:r>
                        <a:rPr lang="zh-TW" sz="1300">
                          <a:solidFill>
                            <a:schemeClr val="dk1"/>
                          </a:solidFill>
                        </a:rPr>
                        <a:t>Feature</a:t>
                      </a:r>
                      <a:endParaRPr sz="1300"/>
                    </a:p>
                  </a:txBody>
                  <a:tcPr marT="91425" marB="91425" marR="91425" marL="91425">
                    <a:solidFill>
                      <a:schemeClr val="lt2"/>
                    </a:solidFill>
                  </a:tcPr>
                </a:tc>
                <a:tc>
                  <a:txBody>
                    <a:bodyPr/>
                    <a:lstStyle/>
                    <a:p>
                      <a:pPr indent="0" lvl="0" marL="0" rtl="0" algn="l">
                        <a:spcBef>
                          <a:spcPts val="0"/>
                        </a:spcBef>
                        <a:spcAft>
                          <a:spcPts val="0"/>
                        </a:spcAft>
                        <a:buNone/>
                      </a:pPr>
                      <a:r>
                        <a:rPr lang="zh-TW" sz="1300"/>
                        <a:t>Formula</a:t>
                      </a:r>
                      <a:endParaRPr sz="1300"/>
                    </a:p>
                  </a:txBody>
                  <a:tcPr marT="91425" marB="91425" marR="91425" marL="91425">
                    <a:solidFill>
                      <a:schemeClr val="lt2"/>
                    </a:solidFill>
                  </a:tcPr>
                </a:tc>
                <a:tc>
                  <a:txBody>
                    <a:bodyPr/>
                    <a:lstStyle/>
                    <a:p>
                      <a:pPr indent="0" lvl="0" marL="0" rtl="0" algn="l">
                        <a:spcBef>
                          <a:spcPts val="0"/>
                        </a:spcBef>
                        <a:spcAft>
                          <a:spcPts val="0"/>
                        </a:spcAft>
                        <a:buNone/>
                      </a:pPr>
                      <a:r>
                        <a:rPr lang="zh-TW" sz="1300"/>
                        <a:t>Description</a:t>
                      </a:r>
                      <a:endParaRPr sz="1300"/>
                    </a:p>
                  </a:txBody>
                  <a:tcPr marT="91425" marB="91425" marR="91425" marL="91425">
                    <a:solidFill>
                      <a:schemeClr val="lt2"/>
                    </a:solidFill>
                  </a:tcPr>
                </a:tc>
              </a:tr>
              <a:tr h="381000">
                <a:tc>
                  <a:txBody>
                    <a:bodyPr/>
                    <a:lstStyle/>
                    <a:p>
                      <a:pPr indent="0" lvl="0" marL="0" rtl="0" algn="l">
                        <a:lnSpc>
                          <a:spcPct val="115000"/>
                        </a:lnSpc>
                        <a:spcBef>
                          <a:spcPts val="0"/>
                        </a:spcBef>
                        <a:spcAft>
                          <a:spcPts val="1200"/>
                        </a:spcAft>
                        <a:buNone/>
                      </a:pPr>
                      <a:r>
                        <a:rPr lang="zh-TW" sz="1300">
                          <a:solidFill>
                            <a:schemeClr val="dk1"/>
                          </a:solidFill>
                        </a:rPr>
                        <a:t>MAGIC_ANNUITY_TO_</a:t>
                      </a:r>
                      <a:br>
                        <a:rPr lang="zh-TW" sz="1300">
                          <a:solidFill>
                            <a:schemeClr val="dk1"/>
                          </a:solidFill>
                        </a:rPr>
                      </a:br>
                      <a:r>
                        <a:rPr lang="zh-TW" sz="1300">
                          <a:solidFill>
                            <a:schemeClr val="dk1"/>
                          </a:solidFill>
                        </a:rPr>
                        <a:t>CREDIT_RATIO</a:t>
                      </a:r>
                      <a:endParaRPr sz="1300"/>
                    </a:p>
                  </a:txBody>
                  <a:tcPr marT="91425" marB="91425" marR="91425" marL="91425">
                    <a:solidFill>
                      <a:schemeClr val="accent6"/>
                    </a:solidFill>
                  </a:tcPr>
                </a:tc>
                <a:tc>
                  <a:txBody>
                    <a:bodyPr/>
                    <a:lstStyle/>
                    <a:p>
                      <a:pPr indent="0" lvl="0" marL="0" rtl="0" algn="l">
                        <a:lnSpc>
                          <a:spcPct val="115000"/>
                        </a:lnSpc>
                        <a:spcBef>
                          <a:spcPts val="0"/>
                        </a:spcBef>
                        <a:spcAft>
                          <a:spcPts val="1200"/>
                        </a:spcAft>
                        <a:buNone/>
                      </a:pPr>
                      <a:r>
                        <a:rPr lang="zh-TW" sz="1300">
                          <a:solidFill>
                            <a:schemeClr val="dk1"/>
                          </a:solidFill>
                        </a:rPr>
                        <a:t>AMT_ANNUITY / AMT_CREDIT</a:t>
                      </a:r>
                      <a:endParaRPr sz="1300"/>
                    </a:p>
                  </a:txBody>
                  <a:tcPr marT="91425" marB="91425" marR="91425" marL="91425"/>
                </a:tc>
                <a:tc>
                  <a:txBody>
                    <a:bodyPr/>
                    <a:lstStyle/>
                    <a:p>
                      <a:pPr indent="0" lvl="0" marL="0" rtl="0" algn="l">
                        <a:lnSpc>
                          <a:spcPct val="115000"/>
                        </a:lnSpc>
                        <a:spcBef>
                          <a:spcPts val="0"/>
                        </a:spcBef>
                        <a:spcAft>
                          <a:spcPts val="1200"/>
                        </a:spcAft>
                        <a:buNone/>
                      </a:pPr>
                      <a:r>
                        <a:rPr lang="zh-TW" sz="1300">
                          <a:solidFill>
                            <a:schemeClr val="dk1"/>
                          </a:solidFill>
                        </a:rPr>
                        <a:t>It can be </a:t>
                      </a:r>
                      <a:r>
                        <a:rPr lang="zh-TW" sz="1300">
                          <a:solidFill>
                            <a:schemeClr val="dk1"/>
                          </a:solidFill>
                        </a:rPr>
                        <a:t>interpret</a:t>
                      </a:r>
                      <a:r>
                        <a:rPr lang="zh-TW" sz="1300">
                          <a:solidFill>
                            <a:schemeClr val="dk1"/>
                          </a:solidFill>
                        </a:rPr>
                        <a:t> as the </a:t>
                      </a:r>
                      <a:r>
                        <a:rPr b="1" lang="zh-TW" sz="1300">
                          <a:solidFill>
                            <a:schemeClr val="dk1"/>
                          </a:solidFill>
                        </a:rPr>
                        <a:t>repayment rate</a:t>
                      </a:r>
                      <a:r>
                        <a:rPr lang="zh-TW" sz="1300">
                          <a:solidFill>
                            <a:schemeClr val="dk1"/>
                          </a:solidFill>
                        </a:rPr>
                        <a:t> (equivalent to the </a:t>
                      </a:r>
                      <a:r>
                        <a:rPr b="1" lang="zh-TW" sz="1300">
                          <a:solidFill>
                            <a:schemeClr val="dk1"/>
                          </a:solidFill>
                        </a:rPr>
                        <a:t>reciprocal of the loan term</a:t>
                      </a:r>
                      <a:r>
                        <a:rPr lang="zh-TW" sz="1300">
                          <a:solidFill>
                            <a:schemeClr val="dk1"/>
                          </a:solidFill>
                        </a:rPr>
                        <a:t>). A higher value indicates a shorter repayment period, meaning that the borrower faces greater repayment pressure in each installment.</a:t>
                      </a:r>
                      <a:endParaRPr sz="1300">
                        <a:solidFill>
                          <a:schemeClr val="dk1"/>
                        </a:solidFill>
                      </a:endParaRPr>
                    </a:p>
                  </a:txBody>
                  <a:tcPr marT="91425" marB="91425" marR="91425" marL="91425"/>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30"/>
          <p:cNvSpPr txBox="1"/>
          <p:nvPr>
            <p:ph type="title"/>
          </p:nvPr>
        </p:nvSpPr>
        <p:spPr>
          <a:xfrm>
            <a:off x="0" y="0"/>
            <a:ext cx="25785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None/>
            </a:pPr>
            <a:r>
              <a:rPr lang="zh-TW" sz="1800"/>
              <a:t>Magic feature in top 10</a:t>
            </a:r>
            <a:endParaRPr/>
          </a:p>
        </p:txBody>
      </p:sp>
      <p:graphicFrame>
        <p:nvGraphicFramePr>
          <p:cNvPr id="165" name="Google Shape;165;p30"/>
          <p:cNvGraphicFramePr/>
          <p:nvPr/>
        </p:nvGraphicFramePr>
        <p:xfrm>
          <a:off x="732300" y="572700"/>
          <a:ext cx="3000000" cy="3000000"/>
        </p:xfrm>
        <a:graphic>
          <a:graphicData uri="http://schemas.openxmlformats.org/drawingml/2006/table">
            <a:tbl>
              <a:tblPr>
                <a:noFill/>
                <a:tableStyleId>{741291EA-2813-4315-AF45-5C8EC8A76987}</a:tableStyleId>
              </a:tblPr>
              <a:tblGrid>
                <a:gridCol w="1506450"/>
                <a:gridCol w="4579175"/>
                <a:gridCol w="1994575"/>
              </a:tblGrid>
              <a:tr h="381000">
                <a:tc>
                  <a:txBody>
                    <a:bodyPr/>
                    <a:lstStyle/>
                    <a:p>
                      <a:pPr indent="0" lvl="0" marL="0" rtl="0" algn="l">
                        <a:spcBef>
                          <a:spcPts val="0"/>
                        </a:spcBef>
                        <a:spcAft>
                          <a:spcPts val="0"/>
                        </a:spcAft>
                        <a:buNone/>
                      </a:pPr>
                      <a:r>
                        <a:rPr lang="zh-TW" sz="1300">
                          <a:solidFill>
                            <a:schemeClr val="dk1"/>
                          </a:solidFill>
                        </a:rPr>
                        <a:t>Feature</a:t>
                      </a:r>
                      <a:endParaRPr sz="1300">
                        <a:solidFill>
                          <a:schemeClr val="dk1"/>
                        </a:solidFill>
                      </a:endParaRPr>
                    </a:p>
                  </a:txBody>
                  <a:tcPr marT="91425" marB="91425" marR="91425" marL="91425"/>
                </a:tc>
                <a:tc>
                  <a:txBody>
                    <a:bodyPr/>
                    <a:lstStyle/>
                    <a:p>
                      <a:pPr indent="0" lvl="0" marL="0" rtl="0" algn="l">
                        <a:spcBef>
                          <a:spcPts val="0"/>
                        </a:spcBef>
                        <a:spcAft>
                          <a:spcPts val="0"/>
                        </a:spcAft>
                        <a:buNone/>
                      </a:pPr>
                      <a:r>
                        <a:rPr lang="zh-TW" sz="1300"/>
                        <a:t>Description</a:t>
                      </a:r>
                      <a:endParaRPr sz="1300"/>
                    </a:p>
                  </a:txBody>
                  <a:tcPr marT="91425" marB="91425" marR="91425" marL="91425"/>
                </a:tc>
                <a:tc>
                  <a:txBody>
                    <a:bodyPr/>
                    <a:lstStyle/>
                    <a:p>
                      <a:pPr indent="0" lvl="0" marL="0" rtl="0" algn="l">
                        <a:spcBef>
                          <a:spcPts val="0"/>
                        </a:spcBef>
                        <a:spcAft>
                          <a:spcPts val="0"/>
                        </a:spcAft>
                        <a:buNone/>
                      </a:pPr>
                      <a:r>
                        <a:rPr lang="zh-TW" sz="1300"/>
                        <a:t>Source</a:t>
                      </a:r>
                      <a:endParaRPr sz="1300"/>
                    </a:p>
                  </a:txBody>
                  <a:tcPr marT="91425" marB="91425" marR="91425" marL="91425"/>
                </a:tc>
              </a:tr>
              <a:tr h="381000">
                <a:tc>
                  <a:txBody>
                    <a:bodyPr/>
                    <a:lstStyle/>
                    <a:p>
                      <a:pPr indent="0" lvl="0" marL="0" rtl="0" algn="l">
                        <a:lnSpc>
                          <a:spcPct val="115000"/>
                        </a:lnSpc>
                        <a:spcBef>
                          <a:spcPts val="0"/>
                        </a:spcBef>
                        <a:spcAft>
                          <a:spcPts val="1200"/>
                        </a:spcAft>
                        <a:buNone/>
                      </a:pPr>
                      <a:r>
                        <a:rPr lang="zh-TW" sz="1300">
                          <a:solidFill>
                            <a:schemeClr val="dk1"/>
                          </a:solidFill>
                        </a:rPr>
                        <a:t>AMT_CREDIT</a:t>
                      </a:r>
                      <a:endParaRPr sz="1300"/>
                    </a:p>
                  </a:txBody>
                  <a:tcPr marT="91425" marB="91425" marR="91425" marL="91425"/>
                </a:tc>
                <a:tc>
                  <a:txBody>
                    <a:bodyPr/>
                    <a:lstStyle/>
                    <a:p>
                      <a:pPr indent="0" lvl="0" marL="0" rtl="0" algn="l">
                        <a:spcBef>
                          <a:spcPts val="0"/>
                        </a:spcBef>
                        <a:spcAft>
                          <a:spcPts val="0"/>
                        </a:spcAft>
                        <a:buNone/>
                      </a:pPr>
                      <a:r>
                        <a:rPr lang="zh-TW" sz="1300"/>
                        <a:t>Final credit amount on the previous application</a:t>
                      </a:r>
                      <a:endParaRPr sz="1300"/>
                    </a:p>
                  </a:txBody>
                  <a:tcPr marT="91425" marB="91425" marR="91425" marL="91425"/>
                </a:tc>
                <a:tc>
                  <a:txBody>
                    <a:bodyPr/>
                    <a:lstStyle/>
                    <a:p>
                      <a:pPr indent="0" lvl="0" marL="0" rtl="0" algn="l">
                        <a:spcBef>
                          <a:spcPts val="0"/>
                        </a:spcBef>
                        <a:spcAft>
                          <a:spcPts val="0"/>
                        </a:spcAft>
                        <a:buNone/>
                      </a:pPr>
                      <a:r>
                        <a:rPr lang="zh-TW" sz="1300"/>
                        <a:t>previous_application</a:t>
                      </a:r>
                      <a:endParaRPr sz="1300"/>
                    </a:p>
                  </a:txBody>
                  <a:tcPr marT="91425" marB="91425" marR="91425" marL="91425"/>
                </a:tc>
              </a:tr>
              <a:tr h="381000">
                <a:tc>
                  <a:txBody>
                    <a:bodyPr/>
                    <a:lstStyle/>
                    <a:p>
                      <a:pPr indent="0" lvl="0" marL="0" rtl="0" algn="l">
                        <a:lnSpc>
                          <a:spcPct val="115000"/>
                        </a:lnSpc>
                        <a:spcBef>
                          <a:spcPts val="0"/>
                        </a:spcBef>
                        <a:spcAft>
                          <a:spcPts val="1200"/>
                        </a:spcAft>
                        <a:buNone/>
                      </a:pPr>
                      <a:r>
                        <a:rPr lang="zh-TW" sz="1300">
                          <a:solidFill>
                            <a:schemeClr val="dk1"/>
                          </a:solidFill>
                        </a:rPr>
                        <a:t>AMT_GOODS_PRICE</a:t>
                      </a:r>
                      <a:endParaRPr sz="1300"/>
                    </a:p>
                  </a:txBody>
                  <a:tcPr marT="91425" marB="91425" marR="91425" marL="91425"/>
                </a:tc>
                <a:tc>
                  <a:txBody>
                    <a:bodyPr/>
                    <a:lstStyle/>
                    <a:p>
                      <a:pPr indent="0" lvl="0" marL="0" rtl="0" algn="l">
                        <a:spcBef>
                          <a:spcPts val="0"/>
                        </a:spcBef>
                        <a:spcAft>
                          <a:spcPts val="0"/>
                        </a:spcAft>
                        <a:buNone/>
                      </a:pPr>
                      <a:r>
                        <a:rPr lang="zh-TW" sz="1300">
                          <a:solidFill>
                            <a:schemeClr val="dk1"/>
                          </a:solidFill>
                        </a:rPr>
                        <a:t>Goods price of good that client asked for (if applicable) on the previous application</a:t>
                      </a:r>
                      <a:endParaRPr sz="1300"/>
                    </a:p>
                  </a:txBody>
                  <a:tcPr marT="91425" marB="91425" marR="91425" marL="91425"/>
                </a:tc>
                <a:tc>
                  <a:txBody>
                    <a:bodyPr/>
                    <a:lstStyle/>
                    <a:p>
                      <a:pPr indent="0" lvl="0" marL="0" rtl="0" algn="l">
                        <a:spcBef>
                          <a:spcPts val="0"/>
                        </a:spcBef>
                        <a:spcAft>
                          <a:spcPts val="0"/>
                        </a:spcAft>
                        <a:buNone/>
                      </a:pPr>
                      <a:r>
                        <a:rPr lang="zh-TW" sz="1300">
                          <a:solidFill>
                            <a:schemeClr val="dk1"/>
                          </a:solidFill>
                        </a:rPr>
                        <a:t>previous_application</a:t>
                      </a:r>
                      <a:endParaRPr sz="1300">
                        <a:solidFill>
                          <a:schemeClr val="dk1"/>
                        </a:solidFill>
                      </a:endParaRPr>
                    </a:p>
                  </a:txBody>
                  <a:tcPr marT="91425" marB="91425" marR="91425" marL="91425"/>
                </a:tc>
              </a:tr>
            </a:tbl>
          </a:graphicData>
        </a:graphic>
      </p:graphicFrame>
      <p:sp>
        <p:nvSpPr>
          <p:cNvPr id="166" name="Google Shape;166;p30"/>
          <p:cNvSpPr txBox="1"/>
          <p:nvPr/>
        </p:nvSpPr>
        <p:spPr>
          <a:xfrm>
            <a:off x="3272400" y="172500"/>
            <a:ext cx="3000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zh-TW"/>
              <a:t>Related features</a:t>
            </a:r>
            <a:endParaRPr/>
          </a:p>
        </p:txBody>
      </p:sp>
      <p:graphicFrame>
        <p:nvGraphicFramePr>
          <p:cNvPr id="167" name="Google Shape;167;p30"/>
          <p:cNvGraphicFramePr/>
          <p:nvPr/>
        </p:nvGraphicFramePr>
        <p:xfrm>
          <a:off x="0" y="2205225"/>
          <a:ext cx="3000000" cy="3000000"/>
        </p:xfrm>
        <a:graphic>
          <a:graphicData uri="http://schemas.openxmlformats.org/drawingml/2006/table">
            <a:tbl>
              <a:tblPr>
                <a:noFill/>
                <a:tableStyleId>{741291EA-2813-4315-AF45-5C8EC8A76987}</a:tableStyleId>
              </a:tblPr>
              <a:tblGrid>
                <a:gridCol w="2024450"/>
                <a:gridCol w="1908900"/>
                <a:gridCol w="5210625"/>
              </a:tblGrid>
              <a:tr h="381000">
                <a:tc>
                  <a:txBody>
                    <a:bodyPr/>
                    <a:lstStyle/>
                    <a:p>
                      <a:pPr indent="0" lvl="0" marL="0" rtl="0" algn="l">
                        <a:lnSpc>
                          <a:spcPct val="115000"/>
                        </a:lnSpc>
                        <a:spcBef>
                          <a:spcPts val="0"/>
                        </a:spcBef>
                        <a:spcAft>
                          <a:spcPts val="1200"/>
                        </a:spcAft>
                        <a:buNone/>
                      </a:pPr>
                      <a:r>
                        <a:rPr lang="zh-TW" sz="1300">
                          <a:solidFill>
                            <a:schemeClr val="dk1"/>
                          </a:solidFill>
                        </a:rPr>
                        <a:t>Feature</a:t>
                      </a:r>
                      <a:endParaRPr sz="1300"/>
                    </a:p>
                  </a:txBody>
                  <a:tcPr marT="91425" marB="91425" marR="91425" marL="91425"/>
                </a:tc>
                <a:tc>
                  <a:txBody>
                    <a:bodyPr/>
                    <a:lstStyle/>
                    <a:p>
                      <a:pPr indent="0" lvl="0" marL="0" rtl="0" algn="l">
                        <a:spcBef>
                          <a:spcPts val="0"/>
                        </a:spcBef>
                        <a:spcAft>
                          <a:spcPts val="0"/>
                        </a:spcAft>
                        <a:buNone/>
                      </a:pPr>
                      <a:r>
                        <a:rPr lang="zh-TW" sz="1300"/>
                        <a:t>Formula</a:t>
                      </a:r>
                      <a:endParaRPr sz="1300"/>
                    </a:p>
                  </a:txBody>
                  <a:tcPr marT="91425" marB="91425" marR="91425" marL="91425"/>
                </a:tc>
                <a:tc>
                  <a:txBody>
                    <a:bodyPr/>
                    <a:lstStyle/>
                    <a:p>
                      <a:pPr indent="0" lvl="0" marL="0" rtl="0" algn="l">
                        <a:spcBef>
                          <a:spcPts val="0"/>
                        </a:spcBef>
                        <a:spcAft>
                          <a:spcPts val="0"/>
                        </a:spcAft>
                        <a:buNone/>
                      </a:pPr>
                      <a:r>
                        <a:rPr lang="zh-TW" sz="1300"/>
                        <a:t>Description</a:t>
                      </a:r>
                      <a:endParaRPr sz="1300"/>
                    </a:p>
                  </a:txBody>
                  <a:tcPr marT="91425" marB="91425" marR="91425" marL="91425"/>
                </a:tc>
              </a:tr>
              <a:tr h="381000">
                <a:tc>
                  <a:txBody>
                    <a:bodyPr/>
                    <a:lstStyle/>
                    <a:p>
                      <a:pPr indent="0" lvl="0" marL="0" rtl="0" algn="l">
                        <a:lnSpc>
                          <a:spcPct val="115000"/>
                        </a:lnSpc>
                        <a:spcBef>
                          <a:spcPts val="0"/>
                        </a:spcBef>
                        <a:spcAft>
                          <a:spcPts val="1200"/>
                        </a:spcAft>
                        <a:buNone/>
                      </a:pPr>
                      <a:r>
                        <a:rPr lang="zh-TW" sz="1300">
                          <a:solidFill>
                            <a:schemeClr val="dk1"/>
                          </a:solidFill>
                        </a:rPr>
                        <a:t>MAGIC_CREDIT_TO_</a:t>
                      </a:r>
                      <a:br>
                        <a:rPr lang="zh-TW" sz="1300">
                          <a:solidFill>
                            <a:schemeClr val="dk1"/>
                          </a:solidFill>
                        </a:rPr>
                      </a:br>
                      <a:r>
                        <a:rPr lang="zh-TW" sz="1300">
                          <a:solidFill>
                            <a:schemeClr val="dk1"/>
                          </a:solidFill>
                        </a:rPr>
                        <a:t>GOODS_RATIO</a:t>
                      </a:r>
                      <a:endParaRPr sz="1300"/>
                    </a:p>
                  </a:txBody>
                  <a:tcPr marT="91425" marB="91425" marR="91425" marL="91425">
                    <a:solidFill>
                      <a:schemeClr val="accent6"/>
                    </a:solidFill>
                  </a:tcPr>
                </a:tc>
                <a:tc>
                  <a:txBody>
                    <a:bodyPr/>
                    <a:lstStyle/>
                    <a:p>
                      <a:pPr indent="0" lvl="0" marL="0" rtl="0" algn="l">
                        <a:lnSpc>
                          <a:spcPct val="115000"/>
                        </a:lnSpc>
                        <a:spcBef>
                          <a:spcPts val="0"/>
                        </a:spcBef>
                        <a:spcAft>
                          <a:spcPts val="1200"/>
                        </a:spcAft>
                        <a:buNone/>
                      </a:pPr>
                      <a:r>
                        <a:rPr lang="zh-TW" sz="1300">
                          <a:solidFill>
                            <a:schemeClr val="dk1"/>
                          </a:solidFill>
                        </a:rPr>
                        <a:t>AMT_CREDIT /</a:t>
                      </a:r>
                      <a:br>
                        <a:rPr lang="zh-TW" sz="1300">
                          <a:solidFill>
                            <a:schemeClr val="dk1"/>
                          </a:solidFill>
                        </a:rPr>
                      </a:br>
                      <a:r>
                        <a:rPr lang="zh-TW" sz="1300">
                          <a:solidFill>
                            <a:schemeClr val="dk1"/>
                          </a:solidFill>
                        </a:rPr>
                        <a:t>AMT_GOODS_PRICE</a:t>
                      </a:r>
                      <a:endParaRPr sz="1300"/>
                    </a:p>
                  </a:txBody>
                  <a:tcPr marT="91425" marB="91425" marR="91425" marL="91425"/>
                </a:tc>
                <a:tc>
                  <a:txBody>
                    <a:bodyPr/>
                    <a:lstStyle/>
                    <a:p>
                      <a:pPr indent="0" lvl="0" marL="0" rtl="0" algn="l">
                        <a:lnSpc>
                          <a:spcPct val="115000"/>
                        </a:lnSpc>
                        <a:spcBef>
                          <a:spcPts val="0"/>
                        </a:spcBef>
                        <a:spcAft>
                          <a:spcPts val="1200"/>
                        </a:spcAft>
                        <a:buNone/>
                      </a:pPr>
                      <a:r>
                        <a:rPr lang="zh-TW" sz="1300">
                          <a:solidFill>
                            <a:schemeClr val="dk1"/>
                          </a:solidFill>
                        </a:rPr>
                        <a:t>Measures the </a:t>
                      </a:r>
                      <a:r>
                        <a:rPr b="1" lang="zh-TW" sz="1300">
                          <a:solidFill>
                            <a:schemeClr val="dk1"/>
                          </a:solidFill>
                        </a:rPr>
                        <a:t>down payment ratio</a:t>
                      </a:r>
                      <a:r>
                        <a:rPr lang="zh-TW" sz="1300">
                          <a:solidFill>
                            <a:schemeClr val="dk1"/>
                          </a:solidFill>
                        </a:rPr>
                        <a:t>. If the approved loan amount is lower than the purchase price, the borrower has contributed part of the purchase cost as a down payment. Borrowers who are willing to make a down payment generally exhibit a significantly lower propensity to default.</a:t>
                      </a:r>
                      <a:endParaRPr sz="1300">
                        <a:solidFill>
                          <a:schemeClr val="dk1"/>
                        </a:solidFill>
                      </a:endParaRPr>
                    </a:p>
                  </a:txBody>
                  <a:tcPr marT="91425" marB="91425" marR="91425" marL="91425"/>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sp>
        <p:nvSpPr>
          <p:cNvPr id="172" name="Google Shape;172;p31"/>
          <p:cNvSpPr txBox="1"/>
          <p:nvPr>
            <p:ph type="title"/>
          </p:nvPr>
        </p:nvSpPr>
        <p:spPr>
          <a:xfrm>
            <a:off x="0" y="0"/>
            <a:ext cx="25785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None/>
            </a:pPr>
            <a:r>
              <a:rPr lang="zh-TW" sz="1800"/>
              <a:t>Time window</a:t>
            </a:r>
            <a:r>
              <a:rPr lang="zh-TW" sz="1800"/>
              <a:t> in top 10</a:t>
            </a:r>
            <a:endParaRPr/>
          </a:p>
        </p:txBody>
      </p:sp>
      <p:graphicFrame>
        <p:nvGraphicFramePr>
          <p:cNvPr id="173" name="Google Shape;173;p31"/>
          <p:cNvGraphicFramePr/>
          <p:nvPr/>
        </p:nvGraphicFramePr>
        <p:xfrm>
          <a:off x="375688" y="572700"/>
          <a:ext cx="3000000" cy="3000000"/>
        </p:xfrm>
        <a:graphic>
          <a:graphicData uri="http://schemas.openxmlformats.org/drawingml/2006/table">
            <a:tbl>
              <a:tblPr>
                <a:noFill/>
                <a:tableStyleId>{741291EA-2813-4315-AF45-5C8EC8A76987}</a:tableStyleId>
              </a:tblPr>
              <a:tblGrid>
                <a:gridCol w="1910500"/>
                <a:gridCol w="4640825"/>
                <a:gridCol w="1841300"/>
              </a:tblGrid>
              <a:tr h="100000">
                <a:tc>
                  <a:txBody>
                    <a:bodyPr/>
                    <a:lstStyle/>
                    <a:p>
                      <a:pPr indent="0" lvl="0" marL="0" rtl="0" algn="l">
                        <a:spcBef>
                          <a:spcPts val="0"/>
                        </a:spcBef>
                        <a:spcAft>
                          <a:spcPts val="0"/>
                        </a:spcAft>
                        <a:buNone/>
                      </a:pPr>
                      <a:r>
                        <a:rPr lang="zh-TW" sz="1300">
                          <a:solidFill>
                            <a:schemeClr val="dk1"/>
                          </a:solidFill>
                        </a:rPr>
                        <a:t>Feature</a:t>
                      </a:r>
                      <a:endParaRPr sz="1300">
                        <a:solidFill>
                          <a:schemeClr val="dk1"/>
                        </a:solidFill>
                      </a:endParaRPr>
                    </a:p>
                  </a:txBody>
                  <a:tcPr marT="91425" marB="91425" marR="91425" marL="91425"/>
                </a:tc>
                <a:tc>
                  <a:txBody>
                    <a:bodyPr/>
                    <a:lstStyle/>
                    <a:p>
                      <a:pPr indent="0" lvl="0" marL="0" rtl="0" algn="l">
                        <a:spcBef>
                          <a:spcPts val="0"/>
                        </a:spcBef>
                        <a:spcAft>
                          <a:spcPts val="0"/>
                        </a:spcAft>
                        <a:buNone/>
                      </a:pPr>
                      <a:r>
                        <a:rPr lang="zh-TW" sz="1300"/>
                        <a:t>Description</a:t>
                      </a:r>
                      <a:endParaRPr sz="1300"/>
                    </a:p>
                  </a:txBody>
                  <a:tcPr marT="91425" marB="91425" marR="91425" marL="91425"/>
                </a:tc>
                <a:tc>
                  <a:txBody>
                    <a:bodyPr/>
                    <a:lstStyle/>
                    <a:p>
                      <a:pPr indent="0" lvl="0" marL="0" rtl="0" algn="l">
                        <a:spcBef>
                          <a:spcPts val="0"/>
                        </a:spcBef>
                        <a:spcAft>
                          <a:spcPts val="0"/>
                        </a:spcAft>
                        <a:buNone/>
                      </a:pPr>
                      <a:r>
                        <a:rPr lang="zh-TW" sz="1300"/>
                        <a:t>Source</a:t>
                      </a:r>
                      <a:endParaRPr sz="1300"/>
                    </a:p>
                  </a:txBody>
                  <a:tcPr marT="91425" marB="91425" marR="91425" marL="91425"/>
                </a:tc>
              </a:tr>
              <a:tr h="100000">
                <a:tc>
                  <a:txBody>
                    <a:bodyPr/>
                    <a:lstStyle/>
                    <a:p>
                      <a:pPr indent="0" lvl="0" marL="0" rtl="0" algn="l">
                        <a:lnSpc>
                          <a:spcPct val="115000"/>
                        </a:lnSpc>
                        <a:spcBef>
                          <a:spcPts val="0"/>
                        </a:spcBef>
                        <a:spcAft>
                          <a:spcPts val="1200"/>
                        </a:spcAft>
                        <a:buNone/>
                      </a:pPr>
                      <a:r>
                        <a:rPr lang="zh-TW" sz="1300">
                          <a:solidFill>
                            <a:schemeClr val="dk1"/>
                          </a:solidFill>
                        </a:rPr>
                        <a:t>MONTHS_BALANCE</a:t>
                      </a:r>
                      <a:endParaRPr sz="1300"/>
                    </a:p>
                  </a:txBody>
                  <a:tcPr marT="91425" marB="91425" marR="91425" marL="91425"/>
                </a:tc>
                <a:tc>
                  <a:txBody>
                    <a:bodyPr/>
                    <a:lstStyle/>
                    <a:p>
                      <a:pPr indent="0" lvl="0" marL="0" rtl="0" algn="l">
                        <a:spcBef>
                          <a:spcPts val="0"/>
                        </a:spcBef>
                        <a:spcAft>
                          <a:spcPts val="0"/>
                        </a:spcAft>
                        <a:buNone/>
                      </a:pPr>
                      <a:r>
                        <a:rPr lang="zh-TW" sz="1300"/>
                        <a:t>Month of balance relative to application date</a:t>
                      </a:r>
                      <a:endParaRPr sz="1300"/>
                    </a:p>
                  </a:txBody>
                  <a:tcPr marT="91425" marB="91425" marR="91425" marL="91425"/>
                </a:tc>
                <a:tc>
                  <a:txBody>
                    <a:bodyPr/>
                    <a:lstStyle/>
                    <a:p>
                      <a:pPr indent="0" lvl="0" marL="0" rtl="0" algn="l">
                        <a:spcBef>
                          <a:spcPts val="0"/>
                        </a:spcBef>
                        <a:spcAft>
                          <a:spcPts val="0"/>
                        </a:spcAft>
                        <a:buNone/>
                      </a:pPr>
                      <a:r>
                        <a:rPr lang="zh-TW" sz="1300"/>
                        <a:t>credit_card_balance</a:t>
                      </a:r>
                      <a:endParaRPr sz="1300"/>
                    </a:p>
                  </a:txBody>
                  <a:tcPr marT="91425" marB="91425" marR="91425" marL="91425"/>
                </a:tc>
              </a:tr>
              <a:tr h="100000">
                <a:tc>
                  <a:txBody>
                    <a:bodyPr/>
                    <a:lstStyle/>
                    <a:p>
                      <a:pPr indent="0" lvl="0" marL="0" rtl="0" algn="l">
                        <a:lnSpc>
                          <a:spcPct val="115000"/>
                        </a:lnSpc>
                        <a:spcBef>
                          <a:spcPts val="0"/>
                        </a:spcBef>
                        <a:spcAft>
                          <a:spcPts val="1200"/>
                        </a:spcAft>
                        <a:buNone/>
                      </a:pPr>
                      <a:r>
                        <a:rPr lang="zh-TW" sz="1300">
                          <a:solidFill>
                            <a:schemeClr val="dk1"/>
                          </a:solidFill>
                        </a:rPr>
                        <a:t>AMT_BALANCE</a:t>
                      </a:r>
                      <a:endParaRPr sz="1300"/>
                    </a:p>
                  </a:txBody>
                  <a:tcPr marT="91425" marB="91425" marR="91425" marL="91425"/>
                </a:tc>
                <a:tc>
                  <a:txBody>
                    <a:bodyPr/>
                    <a:lstStyle/>
                    <a:p>
                      <a:pPr indent="0" lvl="0" marL="0" rtl="0" algn="l">
                        <a:spcBef>
                          <a:spcPts val="0"/>
                        </a:spcBef>
                        <a:spcAft>
                          <a:spcPts val="0"/>
                        </a:spcAft>
                        <a:buNone/>
                      </a:pPr>
                      <a:r>
                        <a:rPr lang="zh-TW" sz="1300">
                          <a:solidFill>
                            <a:schemeClr val="dk1"/>
                          </a:solidFill>
                        </a:rPr>
                        <a:t>Balance during the month of previous credit</a:t>
                      </a:r>
                      <a:endParaRPr sz="1300"/>
                    </a:p>
                  </a:txBody>
                  <a:tcPr marT="91425" marB="91425" marR="91425" marL="91425"/>
                </a:tc>
                <a:tc>
                  <a:txBody>
                    <a:bodyPr/>
                    <a:lstStyle/>
                    <a:p>
                      <a:pPr indent="0" lvl="0" marL="0" rtl="0" algn="l">
                        <a:spcBef>
                          <a:spcPts val="0"/>
                        </a:spcBef>
                        <a:spcAft>
                          <a:spcPts val="0"/>
                        </a:spcAft>
                        <a:buNone/>
                      </a:pPr>
                      <a:r>
                        <a:rPr lang="zh-TW" sz="1300">
                          <a:solidFill>
                            <a:schemeClr val="dk1"/>
                          </a:solidFill>
                        </a:rPr>
                        <a:t>credit_card_balance</a:t>
                      </a:r>
                      <a:endParaRPr sz="1300">
                        <a:solidFill>
                          <a:schemeClr val="dk1"/>
                        </a:solidFill>
                      </a:endParaRPr>
                    </a:p>
                  </a:txBody>
                  <a:tcPr marT="91425" marB="91425" marR="91425" marL="91425"/>
                </a:tc>
              </a:tr>
              <a:tr h="100000">
                <a:tc>
                  <a:txBody>
                    <a:bodyPr/>
                    <a:lstStyle/>
                    <a:p>
                      <a:pPr indent="0" lvl="0" marL="0" rtl="0" algn="l">
                        <a:lnSpc>
                          <a:spcPct val="115000"/>
                        </a:lnSpc>
                        <a:spcBef>
                          <a:spcPts val="0"/>
                        </a:spcBef>
                        <a:spcAft>
                          <a:spcPts val="1200"/>
                        </a:spcAft>
                        <a:buNone/>
                      </a:pPr>
                      <a:r>
                        <a:rPr lang="zh-TW" sz="1300">
                          <a:solidFill>
                            <a:schemeClr val="dk1"/>
                          </a:solidFill>
                        </a:rPr>
                        <a:t>AMT_CREDIT_LIMIT_ACTUAL</a:t>
                      </a:r>
                      <a:endParaRPr sz="1300">
                        <a:solidFill>
                          <a:schemeClr val="dk1"/>
                        </a:solidFill>
                      </a:endParaRPr>
                    </a:p>
                  </a:txBody>
                  <a:tcPr marT="91425" marB="91425" marR="91425" marL="91425"/>
                </a:tc>
                <a:tc>
                  <a:txBody>
                    <a:bodyPr/>
                    <a:lstStyle/>
                    <a:p>
                      <a:pPr indent="0" lvl="0" marL="0" rtl="0" algn="l">
                        <a:spcBef>
                          <a:spcPts val="0"/>
                        </a:spcBef>
                        <a:spcAft>
                          <a:spcPts val="0"/>
                        </a:spcAft>
                        <a:buNone/>
                      </a:pPr>
                      <a:r>
                        <a:rPr lang="zh-TW" sz="1300">
                          <a:solidFill>
                            <a:schemeClr val="dk1"/>
                          </a:solidFill>
                        </a:rPr>
                        <a:t>Credit card limit during the month of the previous credit</a:t>
                      </a:r>
                      <a:endParaRPr sz="1300">
                        <a:solidFill>
                          <a:schemeClr val="dk1"/>
                        </a:solidFill>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zh-TW" sz="1300">
                          <a:solidFill>
                            <a:schemeClr val="dk1"/>
                          </a:solidFill>
                        </a:rPr>
                        <a:t>credit_card_balance</a:t>
                      </a:r>
                      <a:endParaRPr sz="1300">
                        <a:solidFill>
                          <a:schemeClr val="dk1"/>
                        </a:solidFill>
                      </a:endParaRPr>
                    </a:p>
                  </a:txBody>
                  <a:tcPr marT="91425" marB="91425" marR="91425" marL="91425"/>
                </a:tc>
              </a:tr>
            </a:tbl>
          </a:graphicData>
        </a:graphic>
      </p:graphicFrame>
      <p:sp>
        <p:nvSpPr>
          <p:cNvPr id="174" name="Google Shape;174;p31"/>
          <p:cNvSpPr txBox="1"/>
          <p:nvPr/>
        </p:nvSpPr>
        <p:spPr>
          <a:xfrm>
            <a:off x="3272400" y="172500"/>
            <a:ext cx="3000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zh-TW"/>
              <a:t>Related features</a:t>
            </a:r>
            <a:endParaRPr/>
          </a:p>
        </p:txBody>
      </p:sp>
      <p:graphicFrame>
        <p:nvGraphicFramePr>
          <p:cNvPr id="175" name="Google Shape;175;p31"/>
          <p:cNvGraphicFramePr/>
          <p:nvPr/>
        </p:nvGraphicFramePr>
        <p:xfrm>
          <a:off x="13" y="2480400"/>
          <a:ext cx="3000000" cy="3000000"/>
        </p:xfrm>
        <a:graphic>
          <a:graphicData uri="http://schemas.openxmlformats.org/drawingml/2006/table">
            <a:tbl>
              <a:tblPr>
                <a:noFill/>
                <a:tableStyleId>{741291EA-2813-4315-AF45-5C8EC8A76987}</a:tableStyleId>
              </a:tblPr>
              <a:tblGrid>
                <a:gridCol w="1337375"/>
                <a:gridCol w="2586425"/>
                <a:gridCol w="5220175"/>
              </a:tblGrid>
              <a:tr h="381000">
                <a:tc>
                  <a:txBody>
                    <a:bodyPr/>
                    <a:lstStyle/>
                    <a:p>
                      <a:pPr indent="0" lvl="0" marL="0" rtl="0" algn="l">
                        <a:lnSpc>
                          <a:spcPct val="115000"/>
                        </a:lnSpc>
                        <a:spcBef>
                          <a:spcPts val="0"/>
                        </a:spcBef>
                        <a:spcAft>
                          <a:spcPts val="1200"/>
                        </a:spcAft>
                        <a:buNone/>
                      </a:pPr>
                      <a:r>
                        <a:rPr lang="zh-TW" sz="1300">
                          <a:solidFill>
                            <a:schemeClr val="dk1"/>
                          </a:solidFill>
                        </a:rPr>
                        <a:t>Feature</a:t>
                      </a:r>
                      <a:endParaRPr sz="1300"/>
                    </a:p>
                  </a:txBody>
                  <a:tcPr marT="91425" marB="91425" marR="91425" marL="91425"/>
                </a:tc>
                <a:tc>
                  <a:txBody>
                    <a:bodyPr/>
                    <a:lstStyle/>
                    <a:p>
                      <a:pPr indent="0" lvl="0" marL="0" rtl="0" algn="l">
                        <a:spcBef>
                          <a:spcPts val="0"/>
                        </a:spcBef>
                        <a:spcAft>
                          <a:spcPts val="0"/>
                        </a:spcAft>
                        <a:buNone/>
                      </a:pPr>
                      <a:r>
                        <a:rPr lang="zh-TW" sz="1300"/>
                        <a:t>Formula</a:t>
                      </a:r>
                      <a:endParaRPr sz="1300"/>
                    </a:p>
                  </a:txBody>
                  <a:tcPr marT="91425" marB="91425" marR="91425" marL="91425"/>
                </a:tc>
                <a:tc>
                  <a:txBody>
                    <a:bodyPr/>
                    <a:lstStyle/>
                    <a:p>
                      <a:pPr indent="0" lvl="0" marL="0" rtl="0" algn="l">
                        <a:spcBef>
                          <a:spcPts val="0"/>
                        </a:spcBef>
                        <a:spcAft>
                          <a:spcPts val="0"/>
                        </a:spcAft>
                        <a:buNone/>
                      </a:pPr>
                      <a:r>
                        <a:rPr lang="zh-TW" sz="1300"/>
                        <a:t>Description</a:t>
                      </a:r>
                      <a:endParaRPr sz="1300"/>
                    </a:p>
                  </a:txBody>
                  <a:tcPr marT="91425" marB="91425" marR="91425" marL="91425"/>
                </a:tc>
              </a:tr>
              <a:tr h="381000">
                <a:tc>
                  <a:txBody>
                    <a:bodyPr/>
                    <a:lstStyle/>
                    <a:p>
                      <a:pPr indent="0" lvl="0" marL="0" rtl="0" algn="l">
                        <a:lnSpc>
                          <a:spcPct val="115000"/>
                        </a:lnSpc>
                        <a:spcBef>
                          <a:spcPts val="0"/>
                        </a:spcBef>
                        <a:spcAft>
                          <a:spcPts val="1200"/>
                        </a:spcAft>
                        <a:buNone/>
                      </a:pPr>
                      <a:r>
                        <a:rPr lang="zh-TW" sz="1300">
                          <a:solidFill>
                            <a:schemeClr val="dk1"/>
                          </a:solidFill>
                        </a:rPr>
                        <a:t>CC_6M</a:t>
                      </a:r>
                      <a:endParaRPr sz="1300"/>
                    </a:p>
                  </a:txBody>
                  <a:tcPr marT="91425" marB="91425" marR="91425" marL="91425"/>
                </a:tc>
                <a:tc>
                  <a:txBody>
                    <a:bodyPr/>
                    <a:lstStyle/>
                    <a:p>
                      <a:pPr indent="0" lvl="0" marL="0" rtl="0" algn="l">
                        <a:lnSpc>
                          <a:spcPct val="115000"/>
                        </a:lnSpc>
                        <a:spcBef>
                          <a:spcPts val="0"/>
                        </a:spcBef>
                        <a:spcAft>
                          <a:spcPts val="1200"/>
                        </a:spcAft>
                        <a:buNone/>
                      </a:pPr>
                      <a:r>
                        <a:rPr lang="zh-TW" sz="1300">
                          <a:solidFill>
                            <a:schemeClr val="dk1"/>
                          </a:solidFill>
                        </a:rPr>
                        <a:t>MONTHS_BALANCE &gt;= -6</a:t>
                      </a:r>
                      <a:endParaRPr sz="1300"/>
                    </a:p>
                  </a:txBody>
                  <a:tcPr marT="91425" marB="91425" marR="91425" marL="91425"/>
                </a:tc>
                <a:tc>
                  <a:txBody>
                    <a:bodyPr/>
                    <a:lstStyle/>
                    <a:p>
                      <a:pPr indent="0" lvl="0" marL="0" rtl="0" algn="l">
                        <a:lnSpc>
                          <a:spcPct val="115000"/>
                        </a:lnSpc>
                        <a:spcBef>
                          <a:spcPts val="0"/>
                        </a:spcBef>
                        <a:spcAft>
                          <a:spcPts val="1200"/>
                        </a:spcAft>
                        <a:buClr>
                          <a:schemeClr val="dk1"/>
                        </a:buClr>
                        <a:buSzPts val="1100"/>
                        <a:buFont typeface="Arial"/>
                        <a:buNone/>
                      </a:pPr>
                      <a:r>
                        <a:rPr lang="zh-TW" sz="1300">
                          <a:solidFill>
                            <a:schemeClr val="dk1"/>
                          </a:solidFill>
                        </a:rPr>
                        <a:t>Past 6 months</a:t>
                      </a:r>
                      <a:endParaRPr sz="1300">
                        <a:solidFill>
                          <a:schemeClr val="dk1"/>
                        </a:solidFill>
                      </a:endParaRPr>
                    </a:p>
                  </a:txBody>
                  <a:tcPr marT="91425" marB="91425" marR="91425" marL="91425"/>
                </a:tc>
              </a:tr>
              <a:tr h="381000">
                <a:tc>
                  <a:txBody>
                    <a:bodyPr/>
                    <a:lstStyle/>
                    <a:p>
                      <a:pPr indent="0" lvl="0" marL="0" rtl="0" algn="l">
                        <a:lnSpc>
                          <a:spcPct val="115000"/>
                        </a:lnSpc>
                        <a:spcBef>
                          <a:spcPts val="0"/>
                        </a:spcBef>
                        <a:spcAft>
                          <a:spcPts val="1200"/>
                        </a:spcAft>
                        <a:buClr>
                          <a:schemeClr val="dk1"/>
                        </a:buClr>
                        <a:buSzPts val="1100"/>
                        <a:buFont typeface="Arial"/>
                        <a:buNone/>
                      </a:pPr>
                      <a:r>
                        <a:rPr lang="zh-TW" sz="1300">
                          <a:solidFill>
                            <a:schemeClr val="dk1"/>
                          </a:solidFill>
                        </a:rPr>
                        <a:t>CC_LIMIT_</a:t>
                      </a:r>
                      <a:br>
                        <a:rPr lang="zh-TW" sz="1300">
                          <a:solidFill>
                            <a:schemeClr val="dk1"/>
                          </a:solidFill>
                        </a:rPr>
                      </a:br>
                      <a:r>
                        <a:rPr lang="zh-TW" sz="1300">
                          <a:solidFill>
                            <a:schemeClr val="dk1"/>
                          </a:solidFill>
                        </a:rPr>
                        <a:t>USE_RATIO</a:t>
                      </a:r>
                      <a:endParaRPr sz="1300"/>
                    </a:p>
                  </a:txBody>
                  <a:tcPr marT="91425" marB="91425" marR="91425" marL="91425"/>
                </a:tc>
                <a:tc>
                  <a:txBody>
                    <a:bodyPr/>
                    <a:lstStyle/>
                    <a:p>
                      <a:pPr indent="0" lvl="0" marL="0" rtl="0" algn="l">
                        <a:lnSpc>
                          <a:spcPct val="115000"/>
                        </a:lnSpc>
                        <a:spcBef>
                          <a:spcPts val="0"/>
                        </a:spcBef>
                        <a:spcAft>
                          <a:spcPts val="1200"/>
                        </a:spcAft>
                        <a:buNone/>
                      </a:pPr>
                      <a:r>
                        <a:rPr lang="zh-TW" sz="1300">
                          <a:solidFill>
                            <a:schemeClr val="dk1"/>
                          </a:solidFill>
                        </a:rPr>
                        <a:t>AMT_BALANCE /</a:t>
                      </a:r>
                      <a:br>
                        <a:rPr lang="zh-TW" sz="1300">
                          <a:solidFill>
                            <a:schemeClr val="dk1"/>
                          </a:solidFill>
                        </a:rPr>
                      </a:br>
                      <a:r>
                        <a:rPr lang="zh-TW" sz="1300">
                          <a:solidFill>
                            <a:schemeClr val="dk1"/>
                          </a:solidFill>
                        </a:rPr>
                        <a:t>AMT_CREDIT_LIMIT_ACTUAL </a:t>
                      </a:r>
                      <a:endParaRPr sz="1300">
                        <a:solidFill>
                          <a:schemeClr val="dk1"/>
                        </a:solidFill>
                      </a:endParaRPr>
                    </a:p>
                  </a:txBody>
                  <a:tcPr marT="91425" marB="91425" marR="91425" marL="91425"/>
                </a:tc>
                <a:tc>
                  <a:txBody>
                    <a:bodyPr/>
                    <a:lstStyle/>
                    <a:p>
                      <a:pPr indent="0" lvl="0" marL="0" rtl="0" algn="l">
                        <a:lnSpc>
                          <a:spcPct val="115000"/>
                        </a:lnSpc>
                        <a:spcBef>
                          <a:spcPts val="0"/>
                        </a:spcBef>
                        <a:spcAft>
                          <a:spcPts val="1200"/>
                        </a:spcAft>
                        <a:buClr>
                          <a:schemeClr val="dk1"/>
                        </a:buClr>
                        <a:buSzPts val="1100"/>
                        <a:buFont typeface="Arial"/>
                        <a:buNone/>
                      </a:pPr>
                      <a:r>
                        <a:rPr lang="zh-TW" sz="1300">
                          <a:solidFill>
                            <a:schemeClr val="dk1"/>
                          </a:solidFill>
                        </a:rPr>
                        <a:t>C</a:t>
                      </a:r>
                      <a:r>
                        <a:rPr lang="zh-TW" sz="1300">
                          <a:solidFill>
                            <a:schemeClr val="dk1"/>
                          </a:solidFill>
                        </a:rPr>
                        <a:t>redit usage rate</a:t>
                      </a:r>
                      <a:endParaRPr sz="1300">
                        <a:solidFill>
                          <a:schemeClr val="dk1"/>
                        </a:solidFill>
                      </a:endParaRPr>
                    </a:p>
                  </a:txBody>
                  <a:tcPr marT="91425" marB="91425" marR="91425" marL="91425"/>
                </a:tc>
              </a:tr>
              <a:tr h="381000">
                <a:tc>
                  <a:txBody>
                    <a:bodyPr/>
                    <a:lstStyle/>
                    <a:p>
                      <a:pPr indent="0" lvl="0" marL="0" rtl="0" algn="l">
                        <a:lnSpc>
                          <a:spcPct val="115000"/>
                        </a:lnSpc>
                        <a:spcBef>
                          <a:spcPts val="0"/>
                        </a:spcBef>
                        <a:spcAft>
                          <a:spcPts val="1200"/>
                        </a:spcAft>
                        <a:buClr>
                          <a:schemeClr val="dk1"/>
                        </a:buClr>
                        <a:buSzPts val="1100"/>
                        <a:buFont typeface="Arial"/>
                        <a:buNone/>
                      </a:pPr>
                      <a:r>
                        <a:rPr lang="zh-TW" sz="1300">
                          <a:solidFill>
                            <a:schemeClr val="dk1"/>
                          </a:solidFill>
                        </a:rPr>
                        <a:t>CC_6M_CC_</a:t>
                      </a:r>
                      <a:br>
                        <a:rPr lang="zh-TW" sz="1300">
                          <a:solidFill>
                            <a:schemeClr val="dk1"/>
                          </a:solidFill>
                        </a:rPr>
                      </a:br>
                      <a:r>
                        <a:rPr lang="zh-TW" sz="1300">
                          <a:solidFill>
                            <a:schemeClr val="dk1"/>
                          </a:solidFill>
                        </a:rPr>
                        <a:t>LIMIT_USE_</a:t>
                      </a:r>
                      <a:br>
                        <a:rPr lang="zh-TW" sz="1300">
                          <a:solidFill>
                            <a:schemeClr val="dk1"/>
                          </a:solidFill>
                        </a:rPr>
                      </a:br>
                      <a:r>
                        <a:rPr lang="zh-TW" sz="1300">
                          <a:solidFill>
                            <a:schemeClr val="dk1"/>
                          </a:solidFill>
                        </a:rPr>
                        <a:t>RATIO_MAX</a:t>
                      </a:r>
                      <a:endParaRPr sz="1300"/>
                    </a:p>
                  </a:txBody>
                  <a:tcPr marT="91425" marB="91425" marR="91425" marL="91425">
                    <a:solidFill>
                      <a:schemeClr val="accent6"/>
                    </a:solidFill>
                  </a:tcPr>
                </a:tc>
                <a:tc>
                  <a:txBody>
                    <a:bodyPr/>
                    <a:lstStyle/>
                    <a:p>
                      <a:pPr indent="0" lvl="0" marL="0" rtl="0" algn="l">
                        <a:lnSpc>
                          <a:spcPct val="115000"/>
                        </a:lnSpc>
                        <a:spcBef>
                          <a:spcPts val="0"/>
                        </a:spcBef>
                        <a:spcAft>
                          <a:spcPts val="1200"/>
                        </a:spcAft>
                        <a:buNone/>
                      </a:pPr>
                      <a:r>
                        <a:rPr lang="zh-TW" sz="1300">
                          <a:solidFill>
                            <a:schemeClr val="dk1"/>
                          </a:solidFill>
                        </a:rPr>
                        <a:t>max CC_LIMIT_USE_RATIO</a:t>
                      </a:r>
                      <a:br>
                        <a:rPr lang="zh-TW" sz="1300">
                          <a:solidFill>
                            <a:schemeClr val="dk1"/>
                          </a:solidFill>
                        </a:rPr>
                      </a:br>
                      <a:r>
                        <a:rPr lang="zh-TW" sz="1300">
                          <a:solidFill>
                            <a:schemeClr val="dk1"/>
                          </a:solidFill>
                        </a:rPr>
                        <a:t>in CC_6M</a:t>
                      </a:r>
                      <a:endParaRPr sz="1300">
                        <a:solidFill>
                          <a:schemeClr val="dk1"/>
                        </a:solidFill>
                      </a:endParaRPr>
                    </a:p>
                  </a:txBody>
                  <a:tcPr marT="91425" marB="91425" marR="91425" marL="91425"/>
                </a:tc>
                <a:tc>
                  <a:txBody>
                    <a:bodyPr/>
                    <a:lstStyle/>
                    <a:p>
                      <a:pPr indent="0" lvl="0" marL="0" rtl="0" algn="l">
                        <a:lnSpc>
                          <a:spcPct val="115000"/>
                        </a:lnSpc>
                        <a:spcBef>
                          <a:spcPts val="0"/>
                        </a:spcBef>
                        <a:spcAft>
                          <a:spcPts val="1200"/>
                        </a:spcAft>
                        <a:buNone/>
                      </a:pPr>
                      <a:r>
                        <a:rPr lang="zh-TW" sz="1300">
                          <a:solidFill>
                            <a:schemeClr val="dk1"/>
                          </a:solidFill>
                        </a:rPr>
                        <a:t>A customer with a previously healthy credit profile who suddenly begins to </a:t>
                      </a:r>
                      <a:r>
                        <a:rPr b="1" lang="zh-TW" sz="1300">
                          <a:solidFill>
                            <a:schemeClr val="dk1"/>
                          </a:solidFill>
                        </a:rPr>
                        <a:t>consistently max out their credit card limits</a:t>
                      </a:r>
                      <a:r>
                        <a:rPr lang="zh-TW" sz="1300">
                          <a:solidFill>
                            <a:schemeClr val="dk1"/>
                          </a:solidFill>
                        </a:rPr>
                        <a:t> over the past six months may be exhibiting early signs of financial distress. The point at which a borrower starts fully utilizing their available credit is often associated with a sharp increase in default risk.</a:t>
                      </a:r>
                      <a:endParaRPr sz="1300">
                        <a:solidFill>
                          <a:schemeClr val="dk1"/>
                        </a:solidFill>
                      </a:endParaRPr>
                    </a:p>
                  </a:txBody>
                  <a:tcPr marT="91425" marB="91425" marR="91425" marL="91425"/>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32"/>
          <p:cNvSpPr txBox="1"/>
          <p:nvPr>
            <p:ph type="title"/>
          </p:nvPr>
        </p:nvSpPr>
        <p:spPr>
          <a:xfrm>
            <a:off x="0" y="0"/>
            <a:ext cx="25785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None/>
            </a:pPr>
            <a:r>
              <a:rPr lang="zh-TW" sz="1800"/>
              <a:t>Time window in top 10</a:t>
            </a:r>
            <a:endParaRPr/>
          </a:p>
        </p:txBody>
      </p:sp>
      <p:graphicFrame>
        <p:nvGraphicFramePr>
          <p:cNvPr id="181" name="Google Shape;181;p32"/>
          <p:cNvGraphicFramePr/>
          <p:nvPr/>
        </p:nvGraphicFramePr>
        <p:xfrm>
          <a:off x="375688" y="572700"/>
          <a:ext cx="3000000" cy="3000000"/>
        </p:xfrm>
        <a:graphic>
          <a:graphicData uri="http://schemas.openxmlformats.org/drawingml/2006/table">
            <a:tbl>
              <a:tblPr>
                <a:noFill/>
                <a:tableStyleId>{741291EA-2813-4315-AF45-5C8EC8A76987}</a:tableStyleId>
              </a:tblPr>
              <a:tblGrid>
                <a:gridCol w="1910500"/>
                <a:gridCol w="4640825"/>
                <a:gridCol w="2013075"/>
              </a:tblGrid>
              <a:tr h="100000">
                <a:tc>
                  <a:txBody>
                    <a:bodyPr/>
                    <a:lstStyle/>
                    <a:p>
                      <a:pPr indent="0" lvl="0" marL="0" rtl="0" algn="l">
                        <a:spcBef>
                          <a:spcPts val="0"/>
                        </a:spcBef>
                        <a:spcAft>
                          <a:spcPts val="0"/>
                        </a:spcAft>
                        <a:buNone/>
                      </a:pPr>
                      <a:r>
                        <a:rPr lang="zh-TW" sz="1300">
                          <a:solidFill>
                            <a:schemeClr val="dk1"/>
                          </a:solidFill>
                        </a:rPr>
                        <a:t>Feature</a:t>
                      </a:r>
                      <a:endParaRPr sz="1300">
                        <a:solidFill>
                          <a:schemeClr val="dk1"/>
                        </a:solidFill>
                      </a:endParaRPr>
                    </a:p>
                  </a:txBody>
                  <a:tcPr marT="91425" marB="91425" marR="91425" marL="91425"/>
                </a:tc>
                <a:tc>
                  <a:txBody>
                    <a:bodyPr/>
                    <a:lstStyle/>
                    <a:p>
                      <a:pPr indent="0" lvl="0" marL="0" rtl="0" algn="l">
                        <a:spcBef>
                          <a:spcPts val="0"/>
                        </a:spcBef>
                        <a:spcAft>
                          <a:spcPts val="0"/>
                        </a:spcAft>
                        <a:buNone/>
                      </a:pPr>
                      <a:r>
                        <a:rPr lang="zh-TW" sz="1300"/>
                        <a:t>Description</a:t>
                      </a:r>
                      <a:endParaRPr sz="1300"/>
                    </a:p>
                  </a:txBody>
                  <a:tcPr marT="91425" marB="91425" marR="91425" marL="91425"/>
                </a:tc>
                <a:tc>
                  <a:txBody>
                    <a:bodyPr/>
                    <a:lstStyle/>
                    <a:p>
                      <a:pPr indent="0" lvl="0" marL="0" rtl="0" algn="l">
                        <a:spcBef>
                          <a:spcPts val="0"/>
                        </a:spcBef>
                        <a:spcAft>
                          <a:spcPts val="0"/>
                        </a:spcAft>
                        <a:buNone/>
                      </a:pPr>
                      <a:r>
                        <a:rPr lang="zh-TW" sz="1300"/>
                        <a:t>Source</a:t>
                      </a:r>
                      <a:endParaRPr sz="1300"/>
                    </a:p>
                  </a:txBody>
                  <a:tcPr marT="91425" marB="91425" marR="91425" marL="91425"/>
                </a:tc>
              </a:tr>
              <a:tr h="381000">
                <a:tc>
                  <a:txBody>
                    <a:bodyPr/>
                    <a:lstStyle/>
                    <a:p>
                      <a:pPr indent="0" lvl="0" marL="0" rtl="0" algn="l">
                        <a:lnSpc>
                          <a:spcPct val="115000"/>
                        </a:lnSpc>
                        <a:spcBef>
                          <a:spcPts val="0"/>
                        </a:spcBef>
                        <a:spcAft>
                          <a:spcPts val="1200"/>
                        </a:spcAft>
                        <a:buNone/>
                      </a:pPr>
                      <a:r>
                        <a:rPr lang="zh-TW" sz="1300">
                          <a:solidFill>
                            <a:schemeClr val="dk1"/>
                          </a:solidFill>
                        </a:rPr>
                        <a:t>MONTHS_BALANCE</a:t>
                      </a:r>
                      <a:endParaRPr sz="1300"/>
                    </a:p>
                  </a:txBody>
                  <a:tcPr marT="91425" marB="91425" marR="91425" marL="91425"/>
                </a:tc>
                <a:tc>
                  <a:txBody>
                    <a:bodyPr/>
                    <a:lstStyle/>
                    <a:p>
                      <a:pPr indent="0" lvl="0" marL="0" rtl="0" algn="l">
                        <a:spcBef>
                          <a:spcPts val="0"/>
                        </a:spcBef>
                        <a:spcAft>
                          <a:spcPts val="0"/>
                        </a:spcAft>
                        <a:buNone/>
                      </a:pPr>
                      <a:r>
                        <a:rPr lang="zh-TW" sz="1300"/>
                        <a:t>Month of balance relative to application date</a:t>
                      </a:r>
                      <a:endParaRPr sz="1300"/>
                    </a:p>
                  </a:txBody>
                  <a:tcPr marT="91425" marB="91425" marR="91425" marL="91425"/>
                </a:tc>
                <a:tc>
                  <a:txBody>
                    <a:bodyPr/>
                    <a:lstStyle/>
                    <a:p>
                      <a:pPr indent="0" lvl="0" marL="0" rtl="0" algn="l">
                        <a:spcBef>
                          <a:spcPts val="0"/>
                        </a:spcBef>
                        <a:spcAft>
                          <a:spcPts val="0"/>
                        </a:spcAft>
                        <a:buNone/>
                      </a:pPr>
                      <a:r>
                        <a:rPr lang="zh-TW" sz="1300"/>
                        <a:t>POS_CASH_balance</a:t>
                      </a:r>
                      <a:endParaRPr sz="1300"/>
                    </a:p>
                  </a:txBody>
                  <a:tcPr marT="91425" marB="91425" marR="91425" marL="91425"/>
                </a:tc>
              </a:tr>
              <a:tr h="381000">
                <a:tc>
                  <a:txBody>
                    <a:bodyPr/>
                    <a:lstStyle/>
                    <a:p>
                      <a:pPr indent="0" lvl="0" marL="0" rtl="0" algn="l">
                        <a:lnSpc>
                          <a:spcPct val="115000"/>
                        </a:lnSpc>
                        <a:spcBef>
                          <a:spcPts val="0"/>
                        </a:spcBef>
                        <a:spcAft>
                          <a:spcPts val="1200"/>
                        </a:spcAft>
                        <a:buNone/>
                      </a:pPr>
                      <a:r>
                        <a:rPr lang="zh-TW" sz="1300">
                          <a:solidFill>
                            <a:schemeClr val="dk1"/>
                          </a:solidFill>
                        </a:rPr>
                        <a:t>CNT_INSTALMENT_FUTURE</a:t>
                      </a:r>
                      <a:endParaRPr sz="1300"/>
                    </a:p>
                  </a:txBody>
                  <a:tcPr marT="91425" marB="91425" marR="91425" marL="91425"/>
                </a:tc>
                <a:tc>
                  <a:txBody>
                    <a:bodyPr/>
                    <a:lstStyle/>
                    <a:p>
                      <a:pPr indent="0" lvl="0" marL="0" rtl="0" algn="l">
                        <a:spcBef>
                          <a:spcPts val="0"/>
                        </a:spcBef>
                        <a:spcAft>
                          <a:spcPts val="0"/>
                        </a:spcAft>
                        <a:buNone/>
                      </a:pPr>
                      <a:r>
                        <a:rPr lang="zh-TW" sz="1300">
                          <a:solidFill>
                            <a:schemeClr val="dk1"/>
                          </a:solidFill>
                        </a:rPr>
                        <a:t>Installments left to pay on the previous credit)</a:t>
                      </a:r>
                      <a:endParaRPr sz="1300"/>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zh-TW" sz="1300">
                          <a:solidFill>
                            <a:schemeClr val="dk1"/>
                          </a:solidFill>
                        </a:rPr>
                        <a:t>POS_CASH_balance</a:t>
                      </a:r>
                      <a:endParaRPr sz="1300">
                        <a:solidFill>
                          <a:schemeClr val="dk1"/>
                        </a:solidFill>
                      </a:endParaRPr>
                    </a:p>
                    <a:p>
                      <a:pPr indent="0" lvl="0" marL="0" rtl="0" algn="l">
                        <a:spcBef>
                          <a:spcPts val="0"/>
                        </a:spcBef>
                        <a:spcAft>
                          <a:spcPts val="0"/>
                        </a:spcAft>
                        <a:buNone/>
                      </a:pPr>
                      <a:r>
                        <a:t/>
                      </a:r>
                      <a:endParaRPr sz="1300">
                        <a:solidFill>
                          <a:schemeClr val="dk1"/>
                        </a:solidFill>
                      </a:endParaRPr>
                    </a:p>
                  </a:txBody>
                  <a:tcPr marT="91425" marB="91425" marR="91425" marL="91425"/>
                </a:tc>
              </a:tr>
            </a:tbl>
          </a:graphicData>
        </a:graphic>
      </p:graphicFrame>
      <p:sp>
        <p:nvSpPr>
          <p:cNvPr id="182" name="Google Shape;182;p32"/>
          <p:cNvSpPr txBox="1"/>
          <p:nvPr/>
        </p:nvSpPr>
        <p:spPr>
          <a:xfrm>
            <a:off x="3272400" y="172500"/>
            <a:ext cx="3000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zh-TW"/>
              <a:t>Related features</a:t>
            </a:r>
            <a:endParaRPr/>
          </a:p>
        </p:txBody>
      </p:sp>
      <p:graphicFrame>
        <p:nvGraphicFramePr>
          <p:cNvPr id="183" name="Google Shape;183;p32"/>
          <p:cNvGraphicFramePr/>
          <p:nvPr/>
        </p:nvGraphicFramePr>
        <p:xfrm>
          <a:off x="85913" y="2183350"/>
          <a:ext cx="3000000" cy="3000000"/>
        </p:xfrm>
        <a:graphic>
          <a:graphicData uri="http://schemas.openxmlformats.org/drawingml/2006/table">
            <a:tbl>
              <a:tblPr>
                <a:noFill/>
                <a:tableStyleId>{741291EA-2813-4315-AF45-5C8EC8A76987}</a:tableStyleId>
              </a:tblPr>
              <a:tblGrid>
                <a:gridCol w="1337375"/>
                <a:gridCol w="2586425"/>
                <a:gridCol w="5220175"/>
              </a:tblGrid>
              <a:tr h="381000">
                <a:tc>
                  <a:txBody>
                    <a:bodyPr/>
                    <a:lstStyle/>
                    <a:p>
                      <a:pPr indent="0" lvl="0" marL="0" rtl="0" algn="l">
                        <a:lnSpc>
                          <a:spcPct val="115000"/>
                        </a:lnSpc>
                        <a:spcBef>
                          <a:spcPts val="0"/>
                        </a:spcBef>
                        <a:spcAft>
                          <a:spcPts val="1200"/>
                        </a:spcAft>
                        <a:buNone/>
                      </a:pPr>
                      <a:r>
                        <a:rPr lang="zh-TW" sz="1300">
                          <a:solidFill>
                            <a:schemeClr val="dk1"/>
                          </a:solidFill>
                        </a:rPr>
                        <a:t>Feature</a:t>
                      </a:r>
                      <a:endParaRPr sz="1300"/>
                    </a:p>
                  </a:txBody>
                  <a:tcPr marT="91425" marB="91425" marR="91425" marL="91425"/>
                </a:tc>
                <a:tc>
                  <a:txBody>
                    <a:bodyPr/>
                    <a:lstStyle/>
                    <a:p>
                      <a:pPr indent="0" lvl="0" marL="0" rtl="0" algn="l">
                        <a:spcBef>
                          <a:spcPts val="0"/>
                        </a:spcBef>
                        <a:spcAft>
                          <a:spcPts val="0"/>
                        </a:spcAft>
                        <a:buNone/>
                      </a:pPr>
                      <a:r>
                        <a:rPr lang="zh-TW" sz="1300"/>
                        <a:t>Formula</a:t>
                      </a:r>
                      <a:endParaRPr sz="1300"/>
                    </a:p>
                  </a:txBody>
                  <a:tcPr marT="91425" marB="91425" marR="91425" marL="91425"/>
                </a:tc>
                <a:tc>
                  <a:txBody>
                    <a:bodyPr/>
                    <a:lstStyle/>
                    <a:p>
                      <a:pPr indent="0" lvl="0" marL="0" rtl="0" algn="l">
                        <a:spcBef>
                          <a:spcPts val="0"/>
                        </a:spcBef>
                        <a:spcAft>
                          <a:spcPts val="0"/>
                        </a:spcAft>
                        <a:buNone/>
                      </a:pPr>
                      <a:r>
                        <a:rPr lang="zh-TW" sz="1300"/>
                        <a:t>Description</a:t>
                      </a:r>
                      <a:endParaRPr sz="1300"/>
                    </a:p>
                  </a:txBody>
                  <a:tcPr marT="91425" marB="91425" marR="91425" marL="91425"/>
                </a:tc>
              </a:tr>
              <a:tr h="381000">
                <a:tc>
                  <a:txBody>
                    <a:bodyPr/>
                    <a:lstStyle/>
                    <a:p>
                      <a:pPr indent="0" lvl="0" marL="0" rtl="0" algn="l">
                        <a:lnSpc>
                          <a:spcPct val="115000"/>
                        </a:lnSpc>
                        <a:spcBef>
                          <a:spcPts val="0"/>
                        </a:spcBef>
                        <a:spcAft>
                          <a:spcPts val="1200"/>
                        </a:spcAft>
                        <a:buNone/>
                      </a:pPr>
                      <a:r>
                        <a:rPr lang="zh-TW" sz="1300">
                          <a:solidFill>
                            <a:schemeClr val="dk1"/>
                          </a:solidFill>
                        </a:rPr>
                        <a:t>POS_6M</a:t>
                      </a:r>
                      <a:endParaRPr sz="1300"/>
                    </a:p>
                  </a:txBody>
                  <a:tcPr marT="91425" marB="91425" marR="91425" marL="91425"/>
                </a:tc>
                <a:tc>
                  <a:txBody>
                    <a:bodyPr/>
                    <a:lstStyle/>
                    <a:p>
                      <a:pPr indent="0" lvl="0" marL="0" rtl="0" algn="l">
                        <a:lnSpc>
                          <a:spcPct val="115000"/>
                        </a:lnSpc>
                        <a:spcBef>
                          <a:spcPts val="0"/>
                        </a:spcBef>
                        <a:spcAft>
                          <a:spcPts val="1200"/>
                        </a:spcAft>
                        <a:buNone/>
                      </a:pPr>
                      <a:r>
                        <a:rPr lang="zh-TW" sz="1300">
                          <a:solidFill>
                            <a:schemeClr val="dk1"/>
                          </a:solidFill>
                        </a:rPr>
                        <a:t>MONTHS_BALANCE &gt;= -6</a:t>
                      </a:r>
                      <a:endParaRPr sz="1300"/>
                    </a:p>
                  </a:txBody>
                  <a:tcPr marT="91425" marB="91425" marR="91425" marL="91425"/>
                </a:tc>
                <a:tc>
                  <a:txBody>
                    <a:bodyPr/>
                    <a:lstStyle/>
                    <a:p>
                      <a:pPr indent="0" lvl="0" marL="0" rtl="0" algn="l">
                        <a:lnSpc>
                          <a:spcPct val="115000"/>
                        </a:lnSpc>
                        <a:spcBef>
                          <a:spcPts val="0"/>
                        </a:spcBef>
                        <a:spcAft>
                          <a:spcPts val="1200"/>
                        </a:spcAft>
                        <a:buNone/>
                      </a:pPr>
                      <a:r>
                        <a:rPr lang="zh-TW" sz="1300">
                          <a:solidFill>
                            <a:schemeClr val="dk1"/>
                          </a:solidFill>
                        </a:rPr>
                        <a:t>Past 6 months</a:t>
                      </a:r>
                      <a:endParaRPr sz="1300">
                        <a:solidFill>
                          <a:schemeClr val="dk1"/>
                        </a:solidFill>
                      </a:endParaRPr>
                    </a:p>
                  </a:txBody>
                  <a:tcPr marT="91425" marB="91425" marR="91425" marL="91425"/>
                </a:tc>
              </a:tr>
              <a:tr h="381000">
                <a:tc>
                  <a:txBody>
                    <a:bodyPr/>
                    <a:lstStyle/>
                    <a:p>
                      <a:pPr indent="0" lvl="0" marL="0" rtl="0" algn="l">
                        <a:lnSpc>
                          <a:spcPct val="115000"/>
                        </a:lnSpc>
                        <a:spcBef>
                          <a:spcPts val="0"/>
                        </a:spcBef>
                        <a:spcAft>
                          <a:spcPts val="1200"/>
                        </a:spcAft>
                        <a:buNone/>
                      </a:pPr>
                      <a:r>
                        <a:rPr lang="zh-TW" sz="1300">
                          <a:solidFill>
                            <a:schemeClr val="dk1"/>
                          </a:solidFill>
                        </a:rPr>
                        <a:t>POS_6M_CNT_INSTALMENT_FUTURE_MEAN</a:t>
                      </a:r>
                      <a:endParaRPr sz="1300"/>
                    </a:p>
                  </a:txBody>
                  <a:tcPr marT="91425" marB="91425" marR="91425" marL="91425">
                    <a:solidFill>
                      <a:schemeClr val="accent6"/>
                    </a:solidFill>
                  </a:tcPr>
                </a:tc>
                <a:tc>
                  <a:txBody>
                    <a:bodyPr/>
                    <a:lstStyle/>
                    <a:p>
                      <a:pPr indent="0" lvl="0" marL="0" rtl="0" algn="l">
                        <a:lnSpc>
                          <a:spcPct val="115000"/>
                        </a:lnSpc>
                        <a:spcBef>
                          <a:spcPts val="0"/>
                        </a:spcBef>
                        <a:spcAft>
                          <a:spcPts val="1200"/>
                        </a:spcAft>
                        <a:buNone/>
                      </a:pPr>
                      <a:r>
                        <a:rPr lang="zh-TW" sz="1300">
                          <a:solidFill>
                            <a:schemeClr val="dk1"/>
                          </a:solidFill>
                        </a:rPr>
                        <a:t>mean</a:t>
                      </a:r>
                      <a:br>
                        <a:rPr lang="zh-TW" sz="1300">
                          <a:solidFill>
                            <a:schemeClr val="dk1"/>
                          </a:solidFill>
                        </a:rPr>
                      </a:br>
                      <a:r>
                        <a:rPr lang="zh-TW" sz="1300">
                          <a:solidFill>
                            <a:schemeClr val="dk1"/>
                          </a:solidFill>
                        </a:rPr>
                        <a:t>CNT_INSTALMENT_FUTURE</a:t>
                      </a:r>
                      <a:br>
                        <a:rPr lang="zh-TW" sz="1300">
                          <a:solidFill>
                            <a:schemeClr val="dk1"/>
                          </a:solidFill>
                        </a:rPr>
                      </a:br>
                      <a:r>
                        <a:rPr lang="zh-TW" sz="1300">
                          <a:solidFill>
                            <a:schemeClr val="dk1"/>
                          </a:solidFill>
                        </a:rPr>
                        <a:t>in POS_6M</a:t>
                      </a:r>
                      <a:endParaRPr sz="1300">
                        <a:solidFill>
                          <a:schemeClr val="dk1"/>
                        </a:solidFill>
                      </a:endParaRPr>
                    </a:p>
                  </a:txBody>
                  <a:tcPr marT="91425" marB="91425" marR="91425" marL="91425"/>
                </a:tc>
                <a:tc>
                  <a:txBody>
                    <a:bodyPr/>
                    <a:lstStyle/>
                    <a:p>
                      <a:pPr indent="0" lvl="0" marL="0" rtl="0" algn="l">
                        <a:lnSpc>
                          <a:spcPct val="115000"/>
                        </a:lnSpc>
                        <a:spcBef>
                          <a:spcPts val="0"/>
                        </a:spcBef>
                        <a:spcAft>
                          <a:spcPts val="1200"/>
                        </a:spcAft>
                        <a:buNone/>
                      </a:pPr>
                      <a:r>
                        <a:rPr lang="zh-TW" sz="1300">
                          <a:solidFill>
                            <a:schemeClr val="dk1"/>
                          </a:solidFill>
                        </a:rPr>
                        <a:t>If this average value is high, it indicates that the borrower has accumulated </a:t>
                      </a:r>
                      <a:r>
                        <a:rPr b="1" lang="zh-TW" sz="1300">
                          <a:solidFill>
                            <a:schemeClr val="dk1"/>
                          </a:solidFill>
                        </a:rPr>
                        <a:t>multiple long-term debts</a:t>
                      </a:r>
                      <a:r>
                        <a:rPr lang="zh-TW" sz="1300">
                          <a:solidFill>
                            <a:schemeClr val="dk1"/>
                          </a:solidFill>
                        </a:rPr>
                        <a:t> over the past six months. Such a borrower has </a:t>
                      </a:r>
                      <a:r>
                        <a:rPr lang="zh-TW" sz="1300">
                          <a:solidFill>
                            <a:schemeClr val="dk1"/>
                          </a:solidFill>
                        </a:rPr>
                        <a:t>limited</a:t>
                      </a:r>
                      <a:r>
                        <a:rPr lang="zh-TW" sz="1300">
                          <a:solidFill>
                            <a:schemeClr val="dk1"/>
                          </a:solidFill>
                        </a:rPr>
                        <a:t> financial flexibility, and may substantially increase the likelihood of default.</a:t>
                      </a:r>
                      <a:endParaRPr sz="1300">
                        <a:solidFill>
                          <a:schemeClr val="dk1"/>
                        </a:solidFill>
                      </a:endParaRPr>
                    </a:p>
                  </a:txBody>
                  <a:tcPr marT="91425" marB="91425" marR="91425" marL="91425"/>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3"/>
          <p:cNvSpPr txBox="1"/>
          <p:nvPr>
            <p:ph type="title"/>
          </p:nvPr>
        </p:nvSpPr>
        <p:spPr>
          <a:xfrm>
            <a:off x="0" y="1355050"/>
            <a:ext cx="30000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None/>
            </a:pPr>
            <a:r>
              <a:rPr lang="zh-TW" sz="1800"/>
              <a:t>Other features</a:t>
            </a:r>
            <a:r>
              <a:rPr lang="zh-TW" sz="1800"/>
              <a:t> in top 10</a:t>
            </a:r>
            <a:endParaRPr/>
          </a:p>
        </p:txBody>
      </p:sp>
      <p:graphicFrame>
        <p:nvGraphicFramePr>
          <p:cNvPr id="189" name="Google Shape;189;p33"/>
          <p:cNvGraphicFramePr/>
          <p:nvPr/>
        </p:nvGraphicFramePr>
        <p:xfrm>
          <a:off x="289788" y="1927750"/>
          <a:ext cx="3000000" cy="3000000"/>
        </p:xfrm>
        <a:graphic>
          <a:graphicData uri="http://schemas.openxmlformats.org/drawingml/2006/table">
            <a:tbl>
              <a:tblPr>
                <a:noFill/>
                <a:tableStyleId>{741291EA-2813-4315-AF45-5C8EC8A76987}</a:tableStyleId>
              </a:tblPr>
              <a:tblGrid>
                <a:gridCol w="1910500"/>
                <a:gridCol w="4640825"/>
                <a:gridCol w="2013075"/>
              </a:tblGrid>
              <a:tr h="100000">
                <a:tc>
                  <a:txBody>
                    <a:bodyPr/>
                    <a:lstStyle/>
                    <a:p>
                      <a:pPr indent="0" lvl="0" marL="0" rtl="0" algn="l">
                        <a:spcBef>
                          <a:spcPts val="0"/>
                        </a:spcBef>
                        <a:spcAft>
                          <a:spcPts val="0"/>
                        </a:spcAft>
                        <a:buNone/>
                      </a:pPr>
                      <a:r>
                        <a:rPr lang="zh-TW" sz="1300">
                          <a:solidFill>
                            <a:schemeClr val="dk1"/>
                          </a:solidFill>
                        </a:rPr>
                        <a:t>Feature</a:t>
                      </a:r>
                      <a:endParaRPr sz="1300">
                        <a:solidFill>
                          <a:schemeClr val="dk1"/>
                        </a:solidFill>
                      </a:endParaRPr>
                    </a:p>
                  </a:txBody>
                  <a:tcPr marT="91425" marB="91425" marR="91425" marL="91425">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zh-TW" sz="1300"/>
                        <a:t>Description</a:t>
                      </a:r>
                      <a:endParaRPr sz="1300"/>
                    </a:p>
                  </a:txBody>
                  <a:tcPr marT="91425" marB="91425" marR="91425" marL="91425">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zh-TW" sz="1300"/>
                        <a:t>Source</a:t>
                      </a:r>
                      <a:endParaRPr sz="1300"/>
                    </a:p>
                  </a:txBody>
                  <a:tcPr marT="91425" marB="91425" marR="91425" marL="91425"/>
                </a:tc>
              </a:tr>
              <a:tr h="381000">
                <a:tc>
                  <a:txBody>
                    <a:bodyPr/>
                    <a:lstStyle/>
                    <a:p>
                      <a:pPr indent="0" lvl="0" marL="0" rtl="0" algn="l">
                        <a:lnSpc>
                          <a:spcPct val="115000"/>
                        </a:lnSpc>
                        <a:spcBef>
                          <a:spcPts val="0"/>
                        </a:spcBef>
                        <a:spcAft>
                          <a:spcPts val="1200"/>
                        </a:spcAft>
                        <a:buNone/>
                      </a:pPr>
                      <a:r>
                        <a:rPr lang="zh-TW" sz="1300">
                          <a:solidFill>
                            <a:schemeClr val="dk1"/>
                          </a:solidFill>
                        </a:rPr>
                        <a:t>EXT_SOURCE_3</a:t>
                      </a:r>
                      <a:endParaRPr sz="13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chemeClr val="accent6"/>
                    </a:solidFill>
                  </a:tcPr>
                </a:tc>
                <a:tc>
                  <a:txBody>
                    <a:bodyPr/>
                    <a:lstStyle/>
                    <a:p>
                      <a:pPr indent="0" lvl="0" marL="0" rtl="0" algn="l">
                        <a:spcBef>
                          <a:spcPts val="0"/>
                        </a:spcBef>
                        <a:spcAft>
                          <a:spcPts val="0"/>
                        </a:spcAft>
                        <a:buNone/>
                      </a:pPr>
                      <a:r>
                        <a:rPr lang="zh-TW" sz="1300">
                          <a:solidFill>
                            <a:schemeClr val="dk1"/>
                          </a:solidFill>
                        </a:rPr>
                        <a:t>Normalized score from external data source</a:t>
                      </a:r>
                      <a:endParaRPr sz="13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zh-TW" sz="1300">
                          <a:solidFill>
                            <a:schemeClr val="dk1"/>
                          </a:solidFill>
                        </a:rPr>
                        <a:t>main chart</a:t>
                      </a:r>
                      <a:endParaRPr sz="1300"/>
                    </a:p>
                  </a:txBody>
                  <a:tcPr marT="91425" marB="91425" marR="91425" marL="91425">
                    <a:lnL cap="flat" cmpd="sng" w="9525">
                      <a:solidFill>
                        <a:srgbClr val="9E9E9E"/>
                      </a:solidFill>
                      <a:prstDash val="solid"/>
                      <a:round/>
                      <a:headEnd len="sm" w="sm" type="none"/>
                      <a:tailEnd len="sm" w="sm" type="none"/>
                    </a:lnL>
                  </a:tcPr>
                </a:tc>
              </a:tr>
              <a:tr h="100000">
                <a:tc>
                  <a:txBody>
                    <a:bodyPr/>
                    <a:lstStyle/>
                    <a:p>
                      <a:pPr indent="0" lvl="0" marL="0" rtl="0" algn="l">
                        <a:spcBef>
                          <a:spcPts val="0"/>
                        </a:spcBef>
                        <a:spcAft>
                          <a:spcPts val="0"/>
                        </a:spcAft>
                        <a:buNone/>
                      </a:pPr>
                      <a:r>
                        <a:rPr lang="zh-TW" sz="1300">
                          <a:solidFill>
                            <a:schemeClr val="dk1"/>
                          </a:solidFill>
                        </a:rPr>
                        <a:t>DAYS_BIRTH</a:t>
                      </a:r>
                      <a:endParaRPr sz="13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chemeClr val="accent6"/>
                    </a:solidFill>
                  </a:tcPr>
                </a:tc>
                <a:tc>
                  <a:txBody>
                    <a:bodyPr/>
                    <a:lstStyle/>
                    <a:p>
                      <a:pPr indent="0" lvl="0" marL="0" rtl="0" algn="l">
                        <a:spcBef>
                          <a:spcPts val="0"/>
                        </a:spcBef>
                        <a:spcAft>
                          <a:spcPts val="0"/>
                        </a:spcAft>
                        <a:buNone/>
                      </a:pPr>
                      <a:r>
                        <a:rPr lang="zh-TW" sz="1300"/>
                        <a:t>Client's age in days at the time of application</a:t>
                      </a:r>
                      <a:endParaRPr sz="13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zh-TW" sz="1300">
                          <a:solidFill>
                            <a:schemeClr val="dk1"/>
                          </a:solidFill>
                        </a:rPr>
                        <a:t>main chart</a:t>
                      </a:r>
                      <a:endParaRPr sz="1300">
                        <a:solidFill>
                          <a:schemeClr val="dk1"/>
                        </a:solidFill>
                      </a:endParaRPr>
                    </a:p>
                  </a:txBody>
                  <a:tcPr marT="91425" marB="91425" marR="91425" marL="91425">
                    <a:lnL cap="flat" cmpd="sng" w="9525">
                      <a:solidFill>
                        <a:srgbClr val="9E9E9E"/>
                      </a:solidFill>
                      <a:prstDash val="solid"/>
                      <a:round/>
                      <a:headEnd len="sm" w="sm" type="none"/>
                      <a:tailEnd len="sm" w="sm" type="none"/>
                    </a:lnL>
                  </a:tcPr>
                </a:tc>
              </a:tr>
              <a:tr h="100000">
                <a:tc>
                  <a:txBody>
                    <a:bodyPr/>
                    <a:lstStyle/>
                    <a:p>
                      <a:pPr indent="0" lvl="0" marL="0" rtl="0" algn="l">
                        <a:spcBef>
                          <a:spcPts val="0"/>
                        </a:spcBef>
                        <a:spcAft>
                          <a:spcPts val="0"/>
                        </a:spcAft>
                        <a:buNone/>
                      </a:pPr>
                      <a:r>
                        <a:rPr lang="zh-TW" sz="1300">
                          <a:solidFill>
                            <a:schemeClr val="dk1"/>
                          </a:solidFill>
                        </a:rPr>
                        <a:t>BUREAU_DAYS_</a:t>
                      </a:r>
                      <a:br>
                        <a:rPr lang="zh-TW" sz="1300">
                          <a:solidFill>
                            <a:schemeClr val="dk1"/>
                          </a:solidFill>
                        </a:rPr>
                      </a:br>
                      <a:r>
                        <a:rPr lang="zh-TW" sz="1300">
                          <a:solidFill>
                            <a:schemeClr val="dk1"/>
                          </a:solidFill>
                        </a:rPr>
                        <a:t>CREDIT_MAX_y</a:t>
                      </a:r>
                      <a:endParaRPr sz="1300">
                        <a:solidFill>
                          <a:schemeClr val="dk1"/>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chemeClr val="accent6"/>
                    </a:solidFill>
                  </a:tcPr>
                </a:tc>
                <a:tc>
                  <a:txBody>
                    <a:bodyPr/>
                    <a:lstStyle/>
                    <a:p>
                      <a:pPr indent="0" lvl="0" marL="0" rtl="0" algn="l">
                        <a:spcBef>
                          <a:spcPts val="0"/>
                        </a:spcBef>
                        <a:spcAft>
                          <a:spcPts val="0"/>
                        </a:spcAft>
                        <a:buNone/>
                      </a:pPr>
                      <a:r>
                        <a:rPr lang="zh-TW" sz="1300"/>
                        <a:t>Latest (max) days before current application did client apply for Credit Bureau credit</a:t>
                      </a:r>
                      <a:endParaRPr sz="13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zh-TW" sz="1300">
                          <a:solidFill>
                            <a:schemeClr val="dk1"/>
                          </a:solidFill>
                        </a:rPr>
                        <a:t>DAYS_CREDIT</a:t>
                      </a:r>
                      <a:br>
                        <a:rPr lang="zh-TW" sz="1300">
                          <a:solidFill>
                            <a:schemeClr val="dk1"/>
                          </a:solidFill>
                        </a:rPr>
                      </a:br>
                      <a:r>
                        <a:rPr lang="zh-TW" sz="1300">
                          <a:solidFill>
                            <a:schemeClr val="dk1"/>
                          </a:solidFill>
                        </a:rPr>
                        <a:t>in </a:t>
                      </a:r>
                      <a:r>
                        <a:rPr lang="zh-TW" sz="1300">
                          <a:solidFill>
                            <a:schemeClr val="dk1"/>
                          </a:solidFill>
                        </a:rPr>
                        <a:t>bureau</a:t>
                      </a:r>
                      <a:endParaRPr sz="1300">
                        <a:solidFill>
                          <a:schemeClr val="dk1"/>
                        </a:solidFill>
                      </a:endParaRPr>
                    </a:p>
                  </a:txBody>
                  <a:tcPr marT="91425" marB="91425" marR="91425" marL="91425">
                    <a:lnL cap="flat" cmpd="sng" w="9525">
                      <a:solidFill>
                        <a:srgbClr val="9E9E9E"/>
                      </a:solidFill>
                      <a:prstDash val="solid"/>
                      <a:round/>
                      <a:headEnd len="sm" w="sm" type="none"/>
                      <a:tailEnd len="sm" w="sm" type="none"/>
                    </a:ln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4"/>
          <p:cNvSpPr txBox="1"/>
          <p:nvPr>
            <p:ph type="title"/>
          </p:nvPr>
        </p:nvSpPr>
        <p:spPr>
          <a:xfrm>
            <a:off x="0" y="0"/>
            <a:ext cx="3597300" cy="5727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zh-TW" sz="3600"/>
              <a:t>Experiments</a:t>
            </a:r>
            <a:endParaRPr sz="3600"/>
          </a:p>
        </p:txBody>
      </p:sp>
      <p:pic>
        <p:nvPicPr>
          <p:cNvPr id="195" name="Google Shape;195;p34" title="Score Chart.png"/>
          <p:cNvPicPr preferRelativeResize="0"/>
          <p:nvPr/>
        </p:nvPicPr>
        <p:blipFill>
          <a:blip r:embed="rId3">
            <a:alphaModFix/>
          </a:blip>
          <a:stretch>
            <a:fillRect/>
          </a:stretch>
        </p:blipFill>
        <p:spPr>
          <a:xfrm>
            <a:off x="0" y="571500"/>
            <a:ext cx="9143998" cy="4571999"/>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35"/>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1200"/>
              </a:spcAft>
              <a:buNone/>
            </a:pPr>
            <a:r>
              <a:rPr lang="zh-TW" sz="3600"/>
              <a:t>Experiments</a:t>
            </a:r>
            <a:endParaRPr sz="3600"/>
          </a:p>
        </p:txBody>
      </p:sp>
      <p:pic>
        <p:nvPicPr>
          <p:cNvPr id="201" name="Google Shape;201;p35" title="Figure_1.png"/>
          <p:cNvPicPr preferRelativeResize="0"/>
          <p:nvPr/>
        </p:nvPicPr>
        <p:blipFill>
          <a:blip r:embed="rId3">
            <a:alphaModFix/>
          </a:blip>
          <a:stretch>
            <a:fillRect/>
          </a:stretch>
        </p:blipFill>
        <p:spPr>
          <a:xfrm>
            <a:off x="152400" y="1170125"/>
            <a:ext cx="8839200" cy="3446082"/>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3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None/>
            </a:pPr>
            <a:r>
              <a:rPr lang="zh-TW" sz="1800"/>
              <a:t>Conclusion and Analysis</a:t>
            </a:r>
            <a:endParaRPr/>
          </a:p>
        </p:txBody>
      </p:sp>
      <p:graphicFrame>
        <p:nvGraphicFramePr>
          <p:cNvPr id="207" name="Google Shape;207;p36"/>
          <p:cNvGraphicFramePr/>
          <p:nvPr/>
        </p:nvGraphicFramePr>
        <p:xfrm>
          <a:off x="952500" y="960975"/>
          <a:ext cx="3000000" cy="3000000"/>
        </p:xfrm>
        <a:graphic>
          <a:graphicData uri="http://schemas.openxmlformats.org/drawingml/2006/table">
            <a:tbl>
              <a:tblPr>
                <a:noFill/>
                <a:tableStyleId>{741291EA-2813-4315-AF45-5C8EC8A76987}</a:tableStyleId>
              </a:tblPr>
              <a:tblGrid>
                <a:gridCol w="2590800"/>
                <a:gridCol w="4648200"/>
              </a:tblGrid>
              <a:tr h="381000">
                <a:tc>
                  <a:txBody>
                    <a:bodyPr/>
                    <a:lstStyle/>
                    <a:p>
                      <a:pPr indent="0" lvl="0" marL="0" rtl="0" algn="l">
                        <a:lnSpc>
                          <a:spcPct val="115000"/>
                        </a:lnSpc>
                        <a:spcBef>
                          <a:spcPts val="0"/>
                        </a:spcBef>
                        <a:spcAft>
                          <a:spcPts val="1200"/>
                        </a:spcAft>
                        <a:buClr>
                          <a:schemeClr val="dk1"/>
                        </a:buClr>
                        <a:buSzPts val="1100"/>
                        <a:buFont typeface="Arial"/>
                        <a:buNone/>
                      </a:pPr>
                      <a:r>
                        <a:rPr lang="zh-TW" sz="1800">
                          <a:solidFill>
                            <a:schemeClr val="dk1"/>
                          </a:solidFill>
                        </a:rPr>
                        <a:t>D</a:t>
                      </a:r>
                      <a:r>
                        <a:rPr lang="zh-TW" sz="1800">
                          <a:solidFill>
                            <a:schemeClr val="dk1"/>
                          </a:solidFill>
                        </a:rPr>
                        <a:t>ifficulties</a:t>
                      </a:r>
                      <a:endParaRPr/>
                    </a:p>
                  </a:txBody>
                  <a:tcPr marT="91425" marB="91425" marR="91425" marL="91425"/>
                </a:tc>
                <a:tc>
                  <a:txBody>
                    <a:bodyPr/>
                    <a:lstStyle/>
                    <a:p>
                      <a:pPr indent="0" lvl="0" marL="0" rtl="0" algn="l">
                        <a:spcBef>
                          <a:spcPts val="0"/>
                        </a:spcBef>
                        <a:spcAft>
                          <a:spcPts val="0"/>
                        </a:spcAft>
                        <a:buNone/>
                      </a:pPr>
                      <a:r>
                        <a:rPr lang="zh-TW"/>
                        <a:t>Solution</a:t>
                      </a:r>
                      <a:endParaRPr/>
                    </a:p>
                  </a:txBody>
                  <a:tcPr marT="91425" marB="91425" marR="91425" marL="91425"/>
                </a:tc>
              </a:tr>
              <a:tr h="381000">
                <a:tc>
                  <a:txBody>
                    <a:bodyPr/>
                    <a:lstStyle/>
                    <a:p>
                      <a:pPr indent="0" lvl="0" marL="0" rtl="0" algn="l">
                        <a:lnSpc>
                          <a:spcPct val="115000"/>
                        </a:lnSpc>
                        <a:spcBef>
                          <a:spcPts val="0"/>
                        </a:spcBef>
                        <a:spcAft>
                          <a:spcPts val="1200"/>
                        </a:spcAft>
                        <a:buClr>
                          <a:schemeClr val="dk1"/>
                        </a:buClr>
                        <a:buSzPts val="1100"/>
                        <a:buFont typeface="Arial"/>
                        <a:buNone/>
                      </a:pPr>
                      <a:r>
                        <a:rPr lang="zh-TW" sz="1800">
                          <a:solidFill>
                            <a:schemeClr val="dk1"/>
                          </a:solidFill>
                        </a:rPr>
                        <a:t>T</a:t>
                      </a:r>
                      <a:r>
                        <a:rPr lang="zh-TW" sz="1800">
                          <a:solidFill>
                            <a:schemeClr val="dk1"/>
                          </a:solidFill>
                        </a:rPr>
                        <a:t>oo slow (xbg and cat)</a:t>
                      </a:r>
                      <a:endParaRPr/>
                    </a:p>
                  </a:txBody>
                  <a:tcPr marT="91425" marB="91425" marR="91425" marL="91425"/>
                </a:tc>
                <a:tc>
                  <a:txBody>
                    <a:bodyPr/>
                    <a:lstStyle/>
                    <a:p>
                      <a:pPr indent="0" lvl="0" marL="0" rtl="0" algn="l">
                        <a:lnSpc>
                          <a:spcPct val="115000"/>
                        </a:lnSpc>
                        <a:spcBef>
                          <a:spcPts val="0"/>
                        </a:spcBef>
                        <a:spcAft>
                          <a:spcPts val="1200"/>
                        </a:spcAft>
                        <a:buClr>
                          <a:schemeClr val="dk1"/>
                        </a:buClr>
                        <a:buSzPts val="1100"/>
                        <a:buFont typeface="Arial"/>
                        <a:buNone/>
                      </a:pPr>
                      <a:r>
                        <a:rPr lang="zh-TW" sz="1800">
                          <a:solidFill>
                            <a:schemeClr val="dk1"/>
                          </a:solidFill>
                        </a:rPr>
                        <a:t>U</a:t>
                      </a:r>
                      <a:r>
                        <a:rPr lang="zh-TW" sz="1800">
                          <a:solidFill>
                            <a:schemeClr val="dk1"/>
                          </a:solidFill>
                        </a:rPr>
                        <a:t>se gpu, increase learning rate and reduce max depth</a:t>
                      </a:r>
                      <a:endParaRPr/>
                    </a:p>
                  </a:txBody>
                  <a:tcPr marT="91425" marB="91425" marR="91425" marL="91425"/>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7"/>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p>
            <a:pPr indent="0" lvl="0" marL="0" rtl="0" algn="l">
              <a:lnSpc>
                <a:spcPct val="115000"/>
              </a:lnSpc>
              <a:spcBef>
                <a:spcPts val="0"/>
              </a:spcBef>
              <a:spcAft>
                <a:spcPts val="1200"/>
              </a:spcAft>
              <a:buNone/>
            </a:pPr>
            <a:r>
              <a:rPr lang="zh-TW" sz="1800"/>
              <a:t>Conclusion and Analysis</a:t>
            </a:r>
            <a:endParaRPr/>
          </a:p>
        </p:txBody>
      </p:sp>
      <p:sp>
        <p:nvSpPr>
          <p:cNvPr id="213" name="Google Shape;213;p3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zh-TW">
                <a:solidFill>
                  <a:schemeClr val="dk1"/>
                </a:solidFill>
              </a:rPr>
              <a:t>discussion</a:t>
            </a:r>
            <a:r>
              <a:rPr lang="zh-TW">
                <a:solidFill>
                  <a:schemeClr val="dk1"/>
                </a:solidFill>
              </a:rPr>
              <a:t>:</a:t>
            </a:r>
            <a:endParaRPr>
              <a:solidFill>
                <a:schemeClr val="dk1"/>
              </a:solidFill>
            </a:endParaRPr>
          </a:p>
          <a:p>
            <a:pPr indent="0" lvl="0" marL="0" rtl="0" algn="l">
              <a:spcBef>
                <a:spcPts val="1200"/>
              </a:spcBef>
              <a:spcAft>
                <a:spcPts val="0"/>
              </a:spcAft>
              <a:buNone/>
            </a:pPr>
            <a:r>
              <a:rPr lang="zh-TW">
                <a:solidFill>
                  <a:schemeClr val="dk1"/>
                </a:solidFill>
              </a:rPr>
              <a:t>score after feature reduction usually increase</a:t>
            </a:r>
            <a:endParaRPr>
              <a:solidFill>
                <a:schemeClr val="dk1"/>
              </a:solidFill>
            </a:endParaRPr>
          </a:p>
          <a:p>
            <a:pPr indent="0" lvl="0" marL="0" rtl="0" algn="l">
              <a:spcBef>
                <a:spcPts val="1200"/>
              </a:spcBef>
              <a:spcAft>
                <a:spcPts val="0"/>
              </a:spcAft>
              <a:buNone/>
            </a:pPr>
            <a:r>
              <a:rPr lang="zh-TW">
                <a:solidFill>
                  <a:schemeClr val="dk1"/>
                </a:solidFill>
              </a:rPr>
              <a:t>the weight of blending found by </a:t>
            </a:r>
            <a:r>
              <a:rPr lang="zh-TW">
                <a:solidFill>
                  <a:schemeClr val="dk1"/>
                </a:solidFill>
              </a:rPr>
              <a:t>Optuna</a:t>
            </a:r>
            <a:r>
              <a:rPr lang="zh-TW">
                <a:solidFill>
                  <a:schemeClr val="dk1"/>
                </a:solidFill>
              </a:rPr>
              <a:t> not always the same</a:t>
            </a:r>
            <a:endParaRPr>
              <a:solidFill>
                <a:schemeClr val="dk1"/>
              </a:solidFill>
            </a:endParaRPr>
          </a:p>
          <a:p>
            <a:pPr indent="0" lvl="0" marL="0" rtl="0" algn="l">
              <a:spcBef>
                <a:spcPts val="1200"/>
              </a:spcBef>
              <a:spcAft>
                <a:spcPts val="0"/>
              </a:spcAft>
              <a:buNone/>
            </a:pPr>
            <a:r>
              <a:rPr lang="zh-TW">
                <a:solidFill>
                  <a:schemeClr val="dk1"/>
                </a:solidFill>
              </a:rPr>
              <a:t>the score of </a:t>
            </a:r>
            <a:r>
              <a:rPr lang="zh-TW">
                <a:solidFill>
                  <a:schemeClr val="dk1"/>
                </a:solidFill>
              </a:rPr>
              <a:t>Stacking is lower than </a:t>
            </a:r>
            <a:r>
              <a:rPr lang="zh-TW">
                <a:solidFill>
                  <a:schemeClr val="dk1"/>
                </a:solidFill>
              </a:rPr>
              <a:t>Optuna</a:t>
            </a:r>
            <a:endParaRPr>
              <a:solidFill>
                <a:schemeClr val="dk1"/>
              </a:solidFill>
            </a:endParaRPr>
          </a:p>
          <a:p>
            <a:pPr indent="0" lvl="0" marL="0" rtl="0" algn="l">
              <a:spcBef>
                <a:spcPts val="1200"/>
              </a:spcBef>
              <a:spcAft>
                <a:spcPts val="0"/>
              </a:spcAft>
              <a:buNone/>
            </a:pPr>
            <a:r>
              <a:rPr lang="zh-TW">
                <a:solidFill>
                  <a:schemeClr val="dk1"/>
                </a:solidFill>
              </a:rPr>
              <a:t>high ROC-AUC combined with low PR-AUC</a:t>
            </a:r>
            <a:endParaRPr>
              <a:solidFill>
                <a:schemeClr val="dk1"/>
              </a:solidFill>
            </a:endParaRPr>
          </a:p>
          <a:p>
            <a:pPr indent="0" lvl="0" marL="0" rtl="0" algn="l">
              <a:spcBef>
                <a:spcPts val="1200"/>
              </a:spcBef>
              <a:spcAft>
                <a:spcPts val="1200"/>
              </a:spcAft>
              <a:buNone/>
            </a:pPr>
            <a:r>
              <a:t/>
            </a:r>
            <a:endParaRPr>
              <a:solidFill>
                <a:schemeClr val="dk1"/>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zh-TW"/>
              <a:t>source</a:t>
            </a:r>
            <a:endParaRPr/>
          </a:p>
        </p:txBody>
      </p:sp>
      <p:sp>
        <p:nvSpPr>
          <p:cNvPr id="219" name="Google Shape;219;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zh-TW" sz="1400">
                <a:solidFill>
                  <a:schemeClr val="dk1"/>
                </a:solidFill>
              </a:rPr>
              <a:t>Time Window, Stratified K-Fold:</a:t>
            </a:r>
            <a:r>
              <a:rPr lang="zh-TW" sz="1400"/>
              <a:t> </a:t>
            </a:r>
            <a:r>
              <a:rPr lang="zh-TW" sz="1400"/>
              <a:t> </a:t>
            </a:r>
            <a:r>
              <a:rPr lang="zh-TW" sz="1400" u="sng">
                <a:solidFill>
                  <a:schemeClr val="hlink"/>
                </a:solidFill>
                <a:hlinkClick r:id="rId3"/>
              </a:rPr>
              <a:t>Kernel for my (relative) beginner's 561st place solo submission | Kaggle</a:t>
            </a:r>
            <a:endParaRPr sz="1400">
              <a:solidFill>
                <a:schemeClr val="dk1"/>
              </a:solidFill>
            </a:endParaRPr>
          </a:p>
          <a:p>
            <a:pPr indent="0" lvl="0" marL="0" rtl="0" algn="l">
              <a:spcBef>
                <a:spcPts val="1200"/>
              </a:spcBef>
              <a:spcAft>
                <a:spcPts val="0"/>
              </a:spcAft>
              <a:buNone/>
            </a:pPr>
            <a:r>
              <a:rPr lang="zh-TW" sz="1400">
                <a:solidFill>
                  <a:schemeClr val="dk1"/>
                </a:solidFill>
              </a:rPr>
              <a:t>EXT_SOURCES_MEAN / MIN / MAX: </a:t>
            </a:r>
            <a:r>
              <a:rPr lang="zh-TW" sz="1400" u="sng">
                <a:solidFill>
                  <a:schemeClr val="hlink"/>
                </a:solidFill>
                <a:hlinkClick r:id="rId4"/>
              </a:rPr>
              <a:t>[DN] Home Credit Default Risk</a:t>
            </a:r>
            <a:r>
              <a:rPr lang="zh-TW" sz="1400">
                <a:solidFill>
                  <a:schemeClr val="dk1"/>
                </a:solidFill>
              </a:rPr>
              <a:t> </a:t>
            </a:r>
            <a:endParaRPr sz="1400">
              <a:solidFill>
                <a:schemeClr val="dk1"/>
              </a:solidFill>
            </a:endParaRPr>
          </a:p>
          <a:p>
            <a:pPr indent="0" lvl="0" marL="0" rtl="0" algn="l">
              <a:spcBef>
                <a:spcPts val="1200"/>
              </a:spcBef>
              <a:spcAft>
                <a:spcPts val="0"/>
              </a:spcAft>
              <a:buNone/>
            </a:pPr>
            <a:r>
              <a:rPr lang="zh-TW" sz="1400">
                <a:solidFill>
                  <a:schemeClr val="dk1"/>
                </a:solidFill>
              </a:rPr>
              <a:t>MAGIC_ANNUITY_TO_CREDIT_RATIO、MAGIC_CREDIT_TO_GOODS_RATIO:  </a:t>
            </a:r>
            <a:r>
              <a:rPr lang="zh-TW" sz="1400" u="sng">
                <a:solidFill>
                  <a:schemeClr val="hlink"/>
                </a:solidFill>
                <a:hlinkClick r:id="rId5"/>
              </a:rPr>
              <a:t>LightGBM 7th place solution</a:t>
            </a:r>
            <a:r>
              <a:rPr lang="zh-TW" sz="1400">
                <a:solidFill>
                  <a:schemeClr val="dk1"/>
                </a:solidFill>
              </a:rPr>
              <a:t> </a:t>
            </a:r>
            <a:endParaRPr sz="1400">
              <a:solidFill>
                <a:schemeClr val="dk1"/>
              </a:solidFill>
            </a:endParaRPr>
          </a:p>
          <a:p>
            <a:pPr indent="0" lvl="0" marL="0" rtl="0" algn="l">
              <a:spcBef>
                <a:spcPts val="1200"/>
              </a:spcBef>
              <a:spcAft>
                <a:spcPts val="0"/>
              </a:spcAft>
              <a:buNone/>
            </a:pPr>
            <a:r>
              <a:rPr lang="zh-TW" sz="1400">
                <a:solidFill>
                  <a:schemeClr val="dk1"/>
                </a:solidFill>
              </a:rPr>
              <a:t>BUREAU_DAYS_CREDIT_MAX_y: </a:t>
            </a:r>
            <a:r>
              <a:rPr lang="zh-TW" sz="1400" u="sng">
                <a:solidFill>
                  <a:schemeClr val="hlink"/>
                </a:solidFill>
                <a:hlinkClick r:id="rId6"/>
              </a:rPr>
              <a:t>Introduction to Manual Feature Engineering</a:t>
            </a:r>
            <a:r>
              <a:rPr lang="zh-TW" sz="1400">
                <a:solidFill>
                  <a:schemeClr val="dk1"/>
                </a:solidFill>
              </a:rPr>
              <a:t> </a:t>
            </a:r>
            <a:endParaRPr sz="1400">
              <a:solidFill>
                <a:schemeClr val="dk1"/>
              </a:solidFill>
            </a:endParaRPr>
          </a:p>
          <a:p>
            <a:pPr indent="0" lvl="0" marL="0" rtl="0" algn="l">
              <a:spcBef>
                <a:spcPts val="1200"/>
              </a:spcBef>
              <a:spcAft>
                <a:spcPts val="0"/>
              </a:spcAft>
              <a:buNone/>
            </a:pPr>
            <a:r>
              <a:rPr lang="zh-TW" sz="1400">
                <a:solidFill>
                  <a:schemeClr val="dk1"/>
                </a:solidFill>
              </a:rPr>
              <a:t>CC_6M_CC_LIMIT_USE_RATIO_MAX, POS_6M_CNT_INSTALMENT_FUTURE_MEAN </a:t>
            </a:r>
            <a:r>
              <a:rPr lang="zh-TW" sz="1400" u="sng">
                <a:solidFill>
                  <a:schemeClr val="hlink"/>
                </a:solidFill>
                <a:hlinkClick r:id="rId7"/>
              </a:rPr>
              <a:t>Home Credit: Putting All the Steps Together</a:t>
            </a:r>
            <a:r>
              <a:rPr lang="zh-TW" sz="1400">
                <a:solidFill>
                  <a:schemeClr val="dk1"/>
                </a:solidFill>
              </a:rPr>
              <a:t> </a:t>
            </a:r>
            <a:endParaRPr sz="1400">
              <a:solidFill>
                <a:schemeClr val="dk1"/>
              </a:solidFill>
            </a:endParaRPr>
          </a:p>
          <a:p>
            <a:pPr indent="0" lvl="0" marL="0" rtl="0" algn="l">
              <a:spcBef>
                <a:spcPts val="1200"/>
              </a:spcBef>
              <a:spcAft>
                <a:spcPts val="1200"/>
              </a:spcAft>
              <a:buNone/>
            </a:pPr>
            <a:r>
              <a:t/>
            </a:r>
            <a:endParaRPr sz="1400">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